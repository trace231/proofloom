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a1a4a715a04bcd" /><Relationship Type="http://schemas.openxmlformats.org/officeDocument/2006/relationships/extended-properties" Target="/docProps/app.xml" Id="Rc8b80e95c4f145d2" /><Relationship Type="http://schemas.openxmlformats.org/officeDocument/2006/relationships/officeDocument" Target="/ppt/presentation.xml" Id="R04e85fa576eb42ac" /></Relationships>
</file>

<file path=ppt/presentation.xml><?xml version="1.0" encoding="utf-8"?>
<p:presentation xmlns:p="http://schemas.openxmlformats.org/presentationml/2006/main">
  <p:sldMasterIdLst>
    <p:sldMasterId xmlns:r="http://schemas.openxmlformats.org/officeDocument/2006/relationships" id="2147483648" r:id="Raf66c4fba5c5476f"/>
  </p:sldMasterIdLst>
  <p:notesMasterIdLst>
    <p:notesMasterId xmlns:r="http://schemas.openxmlformats.org/officeDocument/2006/relationships" r:id="R4828733eaa3d4c9f"/>
  </p:notesMasterIdLst>
  <p:sldIdLst>
    <p:sldId xmlns:r="http://schemas.openxmlformats.org/officeDocument/2006/relationships" id="256" r:id="R1b1cdd390e0b4ef1"/>
  </p:sldIdLst>
  <p:sldSz cx="12192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717a0544724d81" /><Relationship Type="http://schemas.openxmlformats.org/officeDocument/2006/relationships/slideMaster" Target="/ppt/slideMasters/slideMaster1.xml" Id="Raf66c4fba5c5476f" /><Relationship Type="http://schemas.openxmlformats.org/officeDocument/2006/relationships/notesMaster" Target="/ppt/notesMasters/notesMaster1.xml" Id="R4828733eaa3d4c9f" /><Relationship Type="http://schemas.openxmlformats.org/officeDocument/2006/relationships/presProps" Target="/ppt/presProps.xml" Id="R1a24a4b30fdb44ae" /><Relationship Type="http://schemas.openxmlformats.org/officeDocument/2006/relationships/tableStyles" Target="/ppt/tableStyles.xml" Id="R9504d6f6f85649d7" /><Relationship Type="http://schemas.openxmlformats.org/officeDocument/2006/relationships/slide" Target="/ppt/slides/slide1.xml" Id="R1b1cdd390e0b4e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bdcc488d7445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103d2da4184b9a" /><Relationship Type="http://schemas.openxmlformats.org/officeDocument/2006/relationships/notesMaster" Target="/ppt/notesMasters/notesMaster1.xml" Id="R2d577d97813d42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design variant, September 28, 2026. Data are identical to Lean_Artifact_Atlas_Compact_v8_Statistics.json (33 developments), not a new September 28 census. Outer bars: algorithm-local code-bearing Lean lines, excluding blank/comment-only lines. Inner bars: per-development deduplicated code-bearing line union of explicitly referenced SOptLib declarations and their recursively named dependencies, including the Gaussian KL extension. The 1.15 multiplier affects only inner display geometry and is documented here; inner ruler ticks use the same mapping. Algorithm-local and reused code are not added. Angle and area do not encode quantity. AMSGrad and MARS use September 25 snapshots; other rows retain earlier snapshots. AMSGrad support includes 29 canonical lines plus 525 imported extraction-module lines pending consolidation. Each bar, name, bracket, ruler and the central SOptLib wordmark is an editable PowerPoint object. The enlarged center and wordmark are design treatments, not additional data. Square-root radial lengths from radius 280 px: 288 * sqrt(LOC / 80000) outward; 1.15 * 288 * sqrt(reuse LOC / 80000) inward. Thin transverse rules are common LOC ticks, not additional quantities. Gradients and dark endpoint caps do not encode additional variables.</a:t>
            </a:r>
          </a:p>
          <a:p xmlns:a="http://schemas.openxmlformats.org/drawingml/2006/main">
            <a:r>
              <a:t/>
            </a:r>
          </a:p>
          <a:p xmlns:a="http://schemas.openxmlformats.org/drawingml/2006/main">
            <a:r>
              <a:t>Source: Lean_Artifact_Atlas_Compact_v8_Statistics.json; Lean_Artifact_Algorithm_Names_v8.json.</a:t>
            </a:r>
          </a:p>
          <a:p xmlns:a="http://schemas.openxmlformats.org/drawingml/2006/main">
            <a:r>
              <a:t>SMD: Stochastic mirror descent; §4.1; Theorem 4.1; https://link.springer.com/book/10.1007/978-3-030-39568-1</a:t>
            </a:r>
          </a:p>
          <a:p xmlns:a="http://schemas.openxmlformats.org/drawingml/2006/main">
            <a:r>
              <a:t>AC-SA: Accelerated stochastic approximation (stochastic accelerated gradient descent); §4.2, p.129; Theorem 4.4; https://link.springer.com/book/10.1007/978-3-030-39568-1</a:t>
            </a:r>
          </a:p>
          <a:p xmlns:a="http://schemas.openxmlformats.org/drawingml/2006/main">
            <a:r>
              <a:t>SAMP: Stochastic accelerated mirror-prox; Algorithm 4.4; Theorem 4.10; https://link.springer.com/book/10.1007/978-3-030-39568-1</a:t>
            </a:r>
          </a:p>
          <a:p xmlns:a="http://schemas.openxmlformats.org/drawingml/2006/main">
            <a:r>
              <a:t>SAPD: Stochastic accelerated primal–dual; §4.4; Algorithm 4.3; Theorem 4.8; https://link.springer.com/book/10.1007/978-3-030-39568-1</a:t>
            </a:r>
          </a:p>
          <a:p xmlns:a="http://schemas.openxmlformats.org/drawingml/2006/main">
            <a:r>
              <a:t>SBMD: Stochastic block mirror descent; Algorithm 4.5; Theorem 4.12; https://link.springer.com/book/10.1007/978-3-030-39568-1</a:t>
            </a:r>
          </a:p>
          <a:p xmlns:a="http://schemas.openxmlformats.org/drawingml/2006/main">
            <a:r>
              <a:t>SMD-SP: Stochastic mirror descent for saddle-point problems; §4.3.1, p.150; Eq. (4.3.6); Proposition 4.10; https://link.springer.com/book/10.1007/978-3-030-39568-1</a:t>
            </a:r>
          </a:p>
          <a:p xmlns:a="http://schemas.openxmlformats.org/drawingml/2006/main">
            <a:r>
              <a:t>RPDG: Randomized primal–dual gradient; Algorithm 5.1; Theorem 5.1; https://link.springer.com/book/10.1007/978-3-030-39568-1</a:t>
            </a:r>
          </a:p>
          <a:p xmlns:a="http://schemas.openxmlformats.org/drawingml/2006/main">
            <a:r>
              <a:t>RGEM: Random gradient extrapolation method; Algorithm 5.4, p.262; Theorem 5.4; https://link.springer.com/book/10.1007/978-3-030-39568-1</a:t>
            </a:r>
          </a:p>
          <a:p xmlns:a="http://schemas.openxmlformats.org/drawingml/2006/main">
            <a:r>
              <a:t>VRAGD: Variance-reduced accelerated gradient method; Algorithm 5.7; Theorem 5.9; https://link.springer.com/book/10.1007/978-3-030-39568-1</a:t>
            </a:r>
          </a:p>
          <a:p xmlns:a="http://schemas.openxmlformats.org/drawingml/2006/main">
            <a:r>
              <a:t>VRMD: Variance-reduced mirror descent; Algorithm 5.6; Corollary 5.8; https://link.springer.com/book/10.1007/978-3-030-39568-1</a:t>
            </a:r>
          </a:p>
          <a:p xmlns:a="http://schemas.openxmlformats.org/drawingml/2006/main">
            <a:r>
              <a:t>2-RSGD: Two-phase randomized stochastic gradient descent; §6.1.1.2, p.314; Theorem 6.2; https://link.springer.com/book/10.1007/978-3-030-39568-1</a:t>
            </a:r>
          </a:p>
          <a:p xmlns:a="http://schemas.openxmlformats.org/drawingml/2006/main">
            <a:r>
              <a:t>RSGF: Randomized stochastic gradient free; §6.1.2.1, p.320; Theorem 6.3; https://link.springer.com/book/10.1007/978-3-030-39568-1</a:t>
            </a:r>
          </a:p>
          <a:p xmlns:a="http://schemas.openxmlformats.org/drawingml/2006/main">
            <a:r>
              <a:t>2-RSGF: Two-phase randomized stochastic gradient free; §6.1.2.2, p.325; Theorem 6.4; https://link.springer.com/book/10.1007/978-3-030-39568-1</a:t>
            </a:r>
          </a:p>
          <a:p xmlns:a="http://schemas.openxmlformats.org/drawingml/2006/main">
            <a:r>
              <a:t>RSAGD: Randomized stochastic accelerated gradient descent; Algorithm 6.4, p.375; Theorem 6.12; https://link.springer.com/book/10.1007/978-3-030-39568-1</a:t>
            </a:r>
          </a:p>
          <a:p xmlns:a="http://schemas.openxmlformats.org/drawingml/2006/main">
            <a:r>
              <a:t>NC-SBMD: Nonconvex stochastic block mirror descent; Algorithm 6.1; Theorem 6.9; https://link.springer.com/book/10.1007/978-3-030-39568-1</a:t>
            </a:r>
          </a:p>
          <a:p xmlns:a="http://schemas.openxmlformats.org/drawingml/2006/main">
            <a:r>
              <a:t>2-RSMD: Two-phase randomized stochastic mirror descent; §6.2.3.2, pp.342–343; Theorem 6.7; https://link.springer.com/book/10.1007/978-3-030-39568-1</a:t>
            </a:r>
          </a:p>
          <a:p xmlns:a="http://schemas.openxmlformats.org/drawingml/2006/main">
            <a:r>
              <a:t>NC-VRMD: Nonconvex variance-reduced mirror descent; Algorithm 6.6; Theorem 6.14; Corollary 6.20; https://link.springer.com/book/10.1007/978-3-030-39568-1</a:t>
            </a:r>
          </a:p>
          <a:p xmlns:a="http://schemas.openxmlformats.org/drawingml/2006/main">
            <a:r>
              <a:t>RapGrad: Randomized accelerated proximal gradient; §6.6.1; Algorithms 6.8–6.9, p.398; Theorem 6.16; https://link.springer.com/book/10.1007/978-3-030-39568-1</a:t>
            </a:r>
          </a:p>
          <a:p xmlns:a="http://schemas.openxmlformats.org/drawingml/2006/main">
            <a:r>
              <a:t>SCGS: Stochastic conditional gradient sliding; Algorithm 7.8; Theorem 7.11; https://link.springer.com/book/10.1007/978-3-030-39568-1</a:t>
            </a:r>
          </a:p>
          <a:p xmlns:a="http://schemas.openxmlformats.org/drawingml/2006/main">
            <a:r>
              <a:t>NC-SCGS: Nonconvex stochastic conditional gradient sliding; §7.5.2; Eq. (7.5.5); Theorem 7.18; Corollary 7.13; https://link.springer.com/book/10.1007/978-3-030-39568-1</a:t>
            </a:r>
          </a:p>
          <a:p xmlns:a="http://schemas.openxmlformats.org/drawingml/2006/main">
            <a:r>
              <a:t>NC-VRCG: Nonconvex variance-reduced conditional gradient; Algorithms 7.12–7.13; Theorem 7.17; Corollary 7.12; https://link.springer.com/book/10.1007/978-3-030-39568-1</a:t>
            </a:r>
          </a:p>
          <a:p xmlns:a="http://schemas.openxmlformats.org/drawingml/2006/main">
            <a:r>
              <a:t>SGS: Stochastic gradient sliding; §8.1.3; Corollary 8.3; https://link.springer.com/book/10.1007/978-3-030-39568-1</a:t>
            </a:r>
          </a:p>
          <a:p xmlns:a="http://schemas.openxmlformats.org/drawingml/2006/main">
            <a:r>
              <a:t>AMSGrad: AMSGrad; Algorithm 2; Theorem 4; https://openreview.net/forum?id=ryQu7f-RZ</a:t>
            </a:r>
          </a:p>
          <a:p xmlns:a="http://schemas.openxmlformats.org/drawingml/2006/main">
            <a:r>
              <a:t>Lion: Lion, centralized setting; Algorithm 1; Theorem 1; https://arxiv.org/abs/2508.12327</a:t>
            </a:r>
          </a:p>
          <a:p xmlns:a="http://schemas.openxmlformats.org/drawingml/2006/main">
            <a:r>
              <a:t>PAGE: ProbAbilistic Gradient Estimator; Algorithm 1; Theorem 1; https://proceedings.mlr.press/v139/li21a.html</a:t>
            </a:r>
          </a:p>
          <a:p xmlns:a="http://schemas.openxmlformats.org/drawingml/2006/main">
            <a:r>
              <a:t>PULM-DGD: Pull-with-Memory decentralized gradient descent; PULM-DGD optimization algorithm; Theorem 2; https://arxiv.org/html/2512.24483v1</a:t>
            </a:r>
          </a:p>
          <a:p xmlns:a="http://schemas.openxmlformats.org/drawingml/2006/main">
            <a:r>
              <a:t>SAM: Sharpness-Aware Minimization; Algorithm 1; Appendix Theorem 2; https://openreview.net/forum?id=6Tm1mposlrM</a:t>
            </a:r>
          </a:p>
          <a:p xmlns:a="http://schemas.openxmlformats.org/drawingml/2006/main">
            <a:r>
              <a:t>SPIDER-SFO: Stochastic Path-Integrated Differential Estimator for stochastic first-order optimization; Algorithm 1, SPIDER-SFO; online and finite-sum settings; https://arxiv.org/html/1807.01695v2</a:t>
            </a:r>
          </a:p>
          <a:p xmlns:a="http://schemas.openxmlformats.org/drawingml/2006/main">
            <a:r>
              <a:t>STORM: Stochastic Recursive Momentum; Algorithm 1; Theorem 1; https://arxiv.org/abs/1905.10018</a:t>
            </a:r>
          </a:p>
          <a:p xmlns:a="http://schemas.openxmlformats.org/drawingml/2006/main">
            <a:r>
              <a:t>Heavy-Ball: Heavy-Ball method; Research notes: The second Heavy-Ball riddle; HB-A; user research notes</a:t>
            </a:r>
          </a:p>
          <a:p xmlns:a="http://schemas.openxmlformats.org/drawingml/2006/main">
            <a:r>
              <a:t>Push–Pull: Stochastic Push–Pull over time-varying directed networks; Research notes; Theorem 7.1; user research notes</a:t>
            </a:r>
          </a:p>
          <a:p xmlns:a="http://schemas.openxmlformats.org/drawingml/2006/main">
            <a:r>
              <a:t>R/C-DGD: Deterministic Ratio-Broadcast Snapshot-Correction Decentralized Gradient Descent; Feiming Wang, 时变行随机有向网络上的单循环去中心化优化：比值广播、梯度快照账本与 O(1/T) 收敛, Theorem 4.2; Algorithm 1; user research notes</a:t>
            </a:r>
          </a:p>
          <a:p xmlns:a="http://schemas.openxmlformats.org/drawingml/2006/main">
            <a:r>
              <a:t>MARS: MARS: Make vAriance Reduction Shine; Yuan et al., MARS: Unleashing the Power of Variance Reduction for Training Large Models, ICML 2025; Theorems B.5, B.6 and Lemma 3.4; https://proceedings.mlr.press/v267/yuan25f.html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14c07afc294d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59201758b949d7" /><Relationship Type="http://schemas.openxmlformats.org/officeDocument/2006/relationships/slideLayout" Target="/ppt/slideLayouts/slideLayout1.xml" Id="R95fc488fd54a42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fc488fd54a42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44ca622cc94c65" /><Relationship Type="http://schemas.openxmlformats.org/officeDocument/2006/relationships/notesSlide" Target="/ppt/notesSlides/notesSlide1.xml" Id="Rac8300137edb49d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 name="StochasticAcceleratedGradientDescent-guide-5000">
            <a:extLst xmlns:a="http://schemas.openxmlformats.org/drawingml/2006/main">
              <a:ext uri="{FF2B5EF4-FFF2-40B4-BE49-F238E27FC236}">
                <a16:creationId xmlns:a16="http://schemas.microsoft.com/office/drawing/2014/main" id="{5358B4DD-F2DA-4EEC-85B7-11E96E119CEC}"/>
              </a:ext>
            </a:extLst>
          </p:cNvPr>
          <p:cNvSpPr>
            <a:spLocks xmlns:a="http://schemas.openxmlformats.org/drawingml/2006/main" noGrp="1"/>
          </p:cNvSpPr>
          <p:nvPr/>
        </p:nvSpPr>
        <p:spPr>
          <a:xfrm xmlns:a="http://schemas.openxmlformats.org/drawingml/2006/main">
            <a:off x="6980146" y="3000927"/>
            <a:ext cx="512812" cy="193115"/>
          </a:xfrm>
          <a:custGeom xmlns:a="http://schemas.openxmlformats.org/drawingml/2006/main">
            <a:pathLst>
              <a:path w="512812" h="193115">
                <a:moveTo>
                  <a:pt x="2263" y="0"/>
                </a:moveTo>
                <a:lnTo>
                  <a:pt x="42535" y="11295"/>
                </a:lnTo>
                <a:lnTo>
                  <a:pt x="82663" y="23090"/>
                </a:lnTo>
                <a:lnTo>
                  <a:pt x="122641" y="35385"/>
                </a:lnTo>
                <a:lnTo>
                  <a:pt x="162462" y="48177"/>
                </a:lnTo>
                <a:lnTo>
                  <a:pt x="202121" y="61464"/>
                </a:lnTo>
                <a:lnTo>
                  <a:pt x="241611" y="75244"/>
                </a:lnTo>
                <a:lnTo>
                  <a:pt x="280927" y="89514"/>
                </a:lnTo>
                <a:lnTo>
                  <a:pt x="320062" y="104274"/>
                </a:lnTo>
                <a:lnTo>
                  <a:pt x="359010" y="119520"/>
                </a:lnTo>
                <a:lnTo>
                  <a:pt x="397765" y="135250"/>
                </a:lnTo>
                <a:lnTo>
                  <a:pt x="436321" y="151462"/>
                </a:lnTo>
                <a:lnTo>
                  <a:pt x="474672" y="168153"/>
                </a:lnTo>
                <a:lnTo>
                  <a:pt x="512812" y="185320"/>
                </a:lnTo>
                <a:lnTo>
                  <a:pt x="509244" y="193115"/>
                </a:lnTo>
                <a:lnTo>
                  <a:pt x="471202" y="175991"/>
                </a:lnTo>
                <a:lnTo>
                  <a:pt x="432949" y="159343"/>
                </a:lnTo>
                <a:lnTo>
                  <a:pt x="394491" y="143173"/>
                </a:lnTo>
                <a:lnTo>
                  <a:pt x="355835" y="127483"/>
                </a:lnTo>
                <a:lnTo>
                  <a:pt x="316987" y="112276"/>
                </a:lnTo>
                <a:lnTo>
                  <a:pt x="277952" y="97554"/>
                </a:lnTo>
                <a:lnTo>
                  <a:pt x="238737" y="83320"/>
                </a:lnTo>
                <a:lnTo>
                  <a:pt x="199347" y="69575"/>
                </a:lnTo>
                <a:lnTo>
                  <a:pt x="159790" y="56322"/>
                </a:lnTo>
                <a:lnTo>
                  <a:pt x="120070" y="43563"/>
                </a:lnTo>
                <a:lnTo>
                  <a:pt x="80194" y="31300"/>
                </a:lnTo>
                <a:lnTo>
                  <a:pt x="40169" y="19534"/>
                </a:lnTo>
                <a:lnTo>
                  <a:pt x="0" y="8268"/>
                </a:lnTo>
                <a:close/>
              </a:path>
            </a:pathLst>
          </a:custGeom>
          <a:solidFill xmlns:a="http://schemas.openxmlformats.org/drawingml/2006/main">
            <a:srgbClr val="BFDEDF"/>
          </a:solidFill>
          <a:ln xmlns:a="http://schemas.openxmlformats.org/drawingml/2006/main" w="0">
            <a:noFill/>
          </a:ln>
        </p:spPr>
      </p:sp>
      <p:sp>
        <p:nvSpPr>
          <p:cNvPr id="2" name="StochasticAcceleratedMirrorProx-guide-5000">
            <a:extLst xmlns:a="http://schemas.openxmlformats.org/drawingml/2006/main">
              <a:ext uri="{FF2B5EF4-FFF2-40B4-BE49-F238E27FC236}">
                <a16:creationId xmlns:a16="http://schemas.microsoft.com/office/drawing/2014/main" id="{8C13ED04-3A92-4DDE-A2FC-4AC8EA52F4CF}"/>
              </a:ext>
            </a:extLst>
          </p:cNvPr>
          <p:cNvSpPr>
            <a:spLocks xmlns:a="http://schemas.openxmlformats.org/drawingml/2006/main" noGrp="1"/>
          </p:cNvSpPr>
          <p:nvPr/>
        </p:nvSpPr>
        <p:spPr>
          <a:xfrm xmlns:a="http://schemas.openxmlformats.org/drawingml/2006/main">
            <a:off x="7490453" y="3186735"/>
            <a:ext cx="477459" cy="272507"/>
          </a:xfrm>
          <a:custGeom xmlns:a="http://schemas.openxmlformats.org/drawingml/2006/main">
            <a:pathLst>
              <a:path w="477459" h="272507">
                <a:moveTo>
                  <a:pt x="3570" y="0"/>
                </a:moveTo>
                <a:lnTo>
                  <a:pt x="41487" y="17654"/>
                </a:lnTo>
                <a:lnTo>
                  <a:pt x="79181" y="35780"/>
                </a:lnTo>
                <a:lnTo>
                  <a:pt x="116646" y="54373"/>
                </a:lnTo>
                <a:lnTo>
                  <a:pt x="153877" y="73432"/>
                </a:lnTo>
                <a:lnTo>
                  <a:pt x="190868" y="92954"/>
                </a:lnTo>
                <a:lnTo>
                  <a:pt x="227612" y="112934"/>
                </a:lnTo>
                <a:lnTo>
                  <a:pt x="264105" y="133371"/>
                </a:lnTo>
                <a:lnTo>
                  <a:pt x="300340" y="154261"/>
                </a:lnTo>
                <a:lnTo>
                  <a:pt x="336312" y="175601"/>
                </a:lnTo>
                <a:lnTo>
                  <a:pt x="372016" y="197387"/>
                </a:lnTo>
                <a:lnTo>
                  <a:pt x="407445" y="219616"/>
                </a:lnTo>
                <a:lnTo>
                  <a:pt x="442594" y="242285"/>
                </a:lnTo>
                <a:lnTo>
                  <a:pt x="477459" y="265391"/>
                </a:lnTo>
                <a:lnTo>
                  <a:pt x="472679" y="272507"/>
                </a:lnTo>
                <a:lnTo>
                  <a:pt x="437903" y="249460"/>
                </a:lnTo>
                <a:lnTo>
                  <a:pt x="402844" y="226849"/>
                </a:lnTo>
                <a:lnTo>
                  <a:pt x="367505" y="204677"/>
                </a:lnTo>
                <a:lnTo>
                  <a:pt x="331893" y="182946"/>
                </a:lnTo>
                <a:lnTo>
                  <a:pt x="296012" y="161661"/>
                </a:lnTo>
                <a:lnTo>
                  <a:pt x="259870" y="140824"/>
                </a:lnTo>
                <a:lnTo>
                  <a:pt x="223470" y="120440"/>
                </a:lnTo>
                <a:lnTo>
                  <a:pt x="186820" y="100510"/>
                </a:lnTo>
                <a:lnTo>
                  <a:pt x="149924" y="81039"/>
                </a:lnTo>
                <a:lnTo>
                  <a:pt x="112788" y="62028"/>
                </a:lnTo>
                <a:lnTo>
                  <a:pt x="75418" y="43482"/>
                </a:lnTo>
                <a:lnTo>
                  <a:pt x="37820" y="25403"/>
                </a:lnTo>
                <a:lnTo>
                  <a:pt x="0" y="7794"/>
                </a:lnTo>
                <a:close/>
              </a:path>
            </a:pathLst>
          </a:custGeom>
          <a:solidFill xmlns:a="http://schemas.openxmlformats.org/drawingml/2006/main">
            <a:srgbClr val="BFDEDF"/>
          </a:solidFill>
          <a:ln xmlns:a="http://schemas.openxmlformats.org/drawingml/2006/main" w="0">
            <a:noFill/>
          </a:ln>
        </p:spPr>
      </p:sp>
      <p:sp>
        <p:nvSpPr>
          <p:cNvPr id="3" name="StochasticAcceleratedPrimalDual-guide-5000">
            <a:extLst xmlns:a="http://schemas.openxmlformats.org/drawingml/2006/main">
              <a:ext uri="{FF2B5EF4-FFF2-40B4-BE49-F238E27FC236}">
                <a16:creationId xmlns:a16="http://schemas.microsoft.com/office/drawing/2014/main" id="{23729584-93CD-4254-8E4B-BF1FB56B6EA1}"/>
              </a:ext>
            </a:extLst>
          </p:cNvPr>
          <p:cNvSpPr>
            <a:spLocks xmlns:a="http://schemas.openxmlformats.org/drawingml/2006/main" noGrp="1"/>
          </p:cNvSpPr>
          <p:nvPr/>
        </p:nvSpPr>
        <p:spPr>
          <a:xfrm xmlns:a="http://schemas.openxmlformats.org/drawingml/2006/main">
            <a:off x="7964102" y="3452779"/>
            <a:ext cx="429554" cy="344734"/>
          </a:xfrm>
          <a:custGeom xmlns:a="http://schemas.openxmlformats.org/drawingml/2006/main">
            <a:pathLst>
              <a:path w="429554" h="344734">
                <a:moveTo>
                  <a:pt x="4783" y="0"/>
                </a:moveTo>
                <a:lnTo>
                  <a:pt x="39348" y="23550"/>
                </a:lnTo>
                <a:lnTo>
                  <a:pt x="73618" y="47528"/>
                </a:lnTo>
                <a:lnTo>
                  <a:pt x="107586" y="71932"/>
                </a:lnTo>
                <a:lnTo>
                  <a:pt x="141247" y="96757"/>
                </a:lnTo>
                <a:lnTo>
                  <a:pt x="174597" y="122000"/>
                </a:lnTo>
                <a:lnTo>
                  <a:pt x="207629" y="147656"/>
                </a:lnTo>
                <a:lnTo>
                  <a:pt x="240340" y="173721"/>
                </a:lnTo>
                <a:lnTo>
                  <a:pt x="272723" y="200192"/>
                </a:lnTo>
                <a:lnTo>
                  <a:pt x="304773" y="227065"/>
                </a:lnTo>
                <a:lnTo>
                  <a:pt x="336487" y="254335"/>
                </a:lnTo>
                <a:lnTo>
                  <a:pt x="367858" y="281997"/>
                </a:lnTo>
                <a:lnTo>
                  <a:pt x="398882" y="310049"/>
                </a:lnTo>
                <a:lnTo>
                  <a:pt x="429554" y="338484"/>
                </a:lnTo>
                <a:lnTo>
                  <a:pt x="423687" y="344734"/>
                </a:lnTo>
                <a:lnTo>
                  <a:pt x="393093" y="316371"/>
                </a:lnTo>
                <a:lnTo>
                  <a:pt x="362148" y="288392"/>
                </a:lnTo>
                <a:lnTo>
                  <a:pt x="330857" y="260800"/>
                </a:lnTo>
                <a:lnTo>
                  <a:pt x="299225" y="233600"/>
                </a:lnTo>
                <a:lnTo>
                  <a:pt x="267256" y="206796"/>
                </a:lnTo>
                <a:lnTo>
                  <a:pt x="234956" y="180392"/>
                </a:lnTo>
                <a:lnTo>
                  <a:pt x="202329" y="154393"/>
                </a:lnTo>
                <a:lnTo>
                  <a:pt x="169381" y="128803"/>
                </a:lnTo>
                <a:lnTo>
                  <a:pt x="136116" y="103625"/>
                </a:lnTo>
                <a:lnTo>
                  <a:pt x="102541" y="78863"/>
                </a:lnTo>
                <a:lnTo>
                  <a:pt x="68659" y="54522"/>
                </a:lnTo>
                <a:lnTo>
                  <a:pt x="34477" y="30604"/>
                </a:lnTo>
                <a:lnTo>
                  <a:pt x="0" y="7114"/>
                </a:lnTo>
                <a:close/>
              </a:path>
            </a:pathLst>
          </a:custGeom>
          <a:solidFill xmlns:a="http://schemas.openxmlformats.org/drawingml/2006/main">
            <a:srgbClr val="BFDEDF"/>
          </a:solidFill>
          <a:ln xmlns:a="http://schemas.openxmlformats.org/drawingml/2006/main" w="0">
            <a:noFill/>
          </a:ln>
        </p:spPr>
      </p:sp>
      <p:sp>
        <p:nvSpPr>
          <p:cNvPr id="4" name="StochasticConvexConcaveSaddlePoint-guide-5000">
            <a:extLst xmlns:a="http://schemas.openxmlformats.org/drawingml/2006/main">
              <a:ext uri="{FF2B5EF4-FFF2-40B4-BE49-F238E27FC236}">
                <a16:creationId xmlns:a16="http://schemas.microsoft.com/office/drawing/2014/main" id="{764FC869-45DD-435F-9B1A-AB0EBA5B13FA}"/>
              </a:ext>
            </a:extLst>
          </p:cNvPr>
          <p:cNvSpPr>
            <a:spLocks xmlns:a="http://schemas.openxmlformats.org/drawingml/2006/main" noGrp="1"/>
          </p:cNvSpPr>
          <p:nvPr/>
        </p:nvSpPr>
        <p:spPr>
          <a:xfrm xmlns:a="http://schemas.openxmlformats.org/drawingml/2006/main">
            <a:off x="8752910" y="4195675"/>
            <a:ext cx="301424" cy="460342"/>
          </a:xfrm>
          <a:custGeom xmlns:a="http://schemas.openxmlformats.org/drawingml/2006/main">
            <a:pathLst>
              <a:path w="301424" h="460342">
                <a:moveTo>
                  <a:pt x="6802" y="0"/>
                </a:moveTo>
                <a:lnTo>
                  <a:pt x="32051" y="33345"/>
                </a:lnTo>
                <a:lnTo>
                  <a:pt x="56882" y="67002"/>
                </a:lnTo>
                <a:lnTo>
                  <a:pt x="81292" y="100965"/>
                </a:lnTo>
                <a:lnTo>
                  <a:pt x="105277" y="135230"/>
                </a:lnTo>
                <a:lnTo>
                  <a:pt x="128834" y="169791"/>
                </a:lnTo>
                <a:lnTo>
                  <a:pt x="151958" y="204643"/>
                </a:lnTo>
                <a:lnTo>
                  <a:pt x="174645" y="239781"/>
                </a:lnTo>
                <a:lnTo>
                  <a:pt x="196894" y="275198"/>
                </a:lnTo>
                <a:lnTo>
                  <a:pt x="218699" y="310890"/>
                </a:lnTo>
                <a:lnTo>
                  <a:pt x="240058" y="346850"/>
                </a:lnTo>
                <a:lnTo>
                  <a:pt x="260968" y="383074"/>
                </a:lnTo>
                <a:lnTo>
                  <a:pt x="281424" y="419556"/>
                </a:lnTo>
                <a:lnTo>
                  <a:pt x="301424" y="456290"/>
                </a:lnTo>
                <a:lnTo>
                  <a:pt x="293870" y="460342"/>
                </a:lnTo>
                <a:lnTo>
                  <a:pt x="273921" y="423702"/>
                </a:lnTo>
                <a:lnTo>
                  <a:pt x="253517" y="387314"/>
                </a:lnTo>
                <a:lnTo>
                  <a:pt x="232661" y="351182"/>
                </a:lnTo>
                <a:lnTo>
                  <a:pt x="211356" y="315313"/>
                </a:lnTo>
                <a:lnTo>
                  <a:pt x="189607" y="279713"/>
                </a:lnTo>
                <a:lnTo>
                  <a:pt x="167415" y="244386"/>
                </a:lnTo>
                <a:lnTo>
                  <a:pt x="144785" y="209338"/>
                </a:lnTo>
                <a:lnTo>
                  <a:pt x="121720" y="174575"/>
                </a:lnTo>
                <a:lnTo>
                  <a:pt x="98224" y="140102"/>
                </a:lnTo>
                <a:lnTo>
                  <a:pt x="74300" y="105925"/>
                </a:lnTo>
                <a:lnTo>
                  <a:pt x="49952" y="72048"/>
                </a:lnTo>
                <a:lnTo>
                  <a:pt x="25184" y="38477"/>
                </a:lnTo>
                <a:lnTo>
                  <a:pt x="0" y="5217"/>
                </a:lnTo>
                <a:close/>
              </a:path>
            </a:pathLst>
          </a:custGeom>
          <a:solidFill xmlns:a="http://schemas.openxmlformats.org/drawingml/2006/main">
            <a:srgbClr val="BFDEDF"/>
          </a:solidFill>
          <a:ln xmlns:a="http://schemas.openxmlformats.org/drawingml/2006/main" w="0">
            <a:noFill/>
          </a:ln>
        </p:spPr>
      </p:sp>
      <p:sp>
        <p:nvSpPr>
          <p:cNvPr id="5" name="RandomPrimalDualGradient-guide-5000">
            <a:extLst xmlns:a="http://schemas.openxmlformats.org/drawingml/2006/main">
              <a:ext uri="{FF2B5EF4-FFF2-40B4-BE49-F238E27FC236}">
                <a16:creationId xmlns:a16="http://schemas.microsoft.com/office/drawing/2014/main" id="{856848CE-684C-4A88-8BB4-334EE51D5713}"/>
              </a:ext>
            </a:extLst>
          </p:cNvPr>
          <p:cNvSpPr>
            <a:spLocks xmlns:a="http://schemas.openxmlformats.org/drawingml/2006/main" noGrp="1"/>
          </p:cNvSpPr>
          <p:nvPr/>
        </p:nvSpPr>
        <p:spPr>
          <a:xfrm xmlns:a="http://schemas.openxmlformats.org/drawingml/2006/main">
            <a:off x="9100740" y="4757228"/>
            <a:ext cx="207195" cy="507668"/>
          </a:xfrm>
          <a:custGeom xmlns:a="http://schemas.openxmlformats.org/drawingml/2006/main">
            <a:pathLst>
              <a:path w="207195" h="507668">
                <a:moveTo>
                  <a:pt x="7692" y="0"/>
                </a:moveTo>
                <a:lnTo>
                  <a:pt x="25918" y="37646"/>
                </a:lnTo>
                <a:lnTo>
                  <a:pt x="43673" y="75516"/>
                </a:lnTo>
                <a:lnTo>
                  <a:pt x="60955" y="113604"/>
                </a:lnTo>
                <a:lnTo>
                  <a:pt x="77761" y="151905"/>
                </a:lnTo>
                <a:lnTo>
                  <a:pt x="94088" y="190412"/>
                </a:lnTo>
                <a:lnTo>
                  <a:pt x="109935" y="229119"/>
                </a:lnTo>
                <a:lnTo>
                  <a:pt x="125298" y="268021"/>
                </a:lnTo>
                <a:lnTo>
                  <a:pt x="140175" y="307111"/>
                </a:lnTo>
                <a:lnTo>
                  <a:pt x="154564" y="346384"/>
                </a:lnTo>
                <a:lnTo>
                  <a:pt x="168463" y="385832"/>
                </a:lnTo>
                <a:lnTo>
                  <a:pt x="181869" y="425451"/>
                </a:lnTo>
                <a:lnTo>
                  <a:pt x="194781" y="465234"/>
                </a:lnTo>
                <a:lnTo>
                  <a:pt x="207195" y="505175"/>
                </a:lnTo>
                <a:lnTo>
                  <a:pt x="198994" y="507668"/>
                </a:lnTo>
                <a:lnTo>
                  <a:pt x="186610" y="467829"/>
                </a:lnTo>
                <a:lnTo>
                  <a:pt x="173732" y="428148"/>
                </a:lnTo>
                <a:lnTo>
                  <a:pt x="160360" y="388631"/>
                </a:lnTo>
                <a:lnTo>
                  <a:pt x="146497" y="349283"/>
                </a:lnTo>
                <a:lnTo>
                  <a:pt x="132145" y="310110"/>
                </a:lnTo>
                <a:lnTo>
                  <a:pt x="117305" y="271120"/>
                </a:lnTo>
                <a:lnTo>
                  <a:pt x="101982" y="232317"/>
                </a:lnTo>
                <a:lnTo>
                  <a:pt x="86175" y="193709"/>
                </a:lnTo>
                <a:lnTo>
                  <a:pt x="69890" y="155300"/>
                </a:lnTo>
                <a:lnTo>
                  <a:pt x="53126" y="117097"/>
                </a:lnTo>
                <a:lnTo>
                  <a:pt x="35889" y="79106"/>
                </a:lnTo>
                <a:lnTo>
                  <a:pt x="18179" y="41333"/>
                </a:lnTo>
                <a:lnTo>
                  <a:pt x="0" y="3783"/>
                </a:lnTo>
                <a:close/>
              </a:path>
            </a:pathLst>
          </a:custGeom>
          <a:solidFill xmlns:a="http://schemas.openxmlformats.org/drawingml/2006/main">
            <a:srgbClr val="BFD8D4"/>
          </a:solidFill>
          <a:ln xmlns:a="http://schemas.openxmlformats.org/drawingml/2006/main" w="0">
            <a:noFill/>
          </a:ln>
        </p:spPr>
      </p:sp>
      <p:sp>
        <p:nvSpPr>
          <p:cNvPr id="6" name="RandomGradientExtrapolation-guide-5000">
            <a:extLst xmlns:a="http://schemas.openxmlformats.org/drawingml/2006/main">
              <a:ext uri="{FF2B5EF4-FFF2-40B4-BE49-F238E27FC236}">
                <a16:creationId xmlns:a16="http://schemas.microsoft.com/office/drawing/2014/main" id="{5D3C0376-DE85-4ACA-BA48-9776AAD6DF88}"/>
              </a:ext>
            </a:extLst>
          </p:cNvPr>
          <p:cNvSpPr>
            <a:spLocks xmlns:a="http://schemas.openxmlformats.org/drawingml/2006/main" noGrp="1"/>
          </p:cNvSpPr>
          <p:nvPr/>
        </p:nvSpPr>
        <p:spPr>
          <a:xfrm xmlns:a="http://schemas.openxmlformats.org/drawingml/2006/main">
            <a:off x="9300073" y="5263523"/>
            <a:ext cx="123445" cy="531910"/>
          </a:xfrm>
          <a:custGeom xmlns:a="http://schemas.openxmlformats.org/drawingml/2006/main">
            <a:pathLst>
              <a:path w="123445" h="531910">
                <a:moveTo>
                  <a:pt x="8203" y="0"/>
                </a:moveTo>
                <a:lnTo>
                  <a:pt x="20105" y="40096"/>
                </a:lnTo>
                <a:lnTo>
                  <a:pt x="31507" y="80338"/>
                </a:lnTo>
                <a:lnTo>
                  <a:pt x="42406" y="120718"/>
                </a:lnTo>
                <a:lnTo>
                  <a:pt x="52802" y="161231"/>
                </a:lnTo>
                <a:lnTo>
                  <a:pt x="62692" y="201871"/>
                </a:lnTo>
                <a:lnTo>
                  <a:pt x="72075" y="242630"/>
                </a:lnTo>
                <a:lnTo>
                  <a:pt x="80949" y="283503"/>
                </a:lnTo>
                <a:lnTo>
                  <a:pt x="89314" y="324484"/>
                </a:lnTo>
                <a:lnTo>
                  <a:pt x="97167" y="365566"/>
                </a:lnTo>
                <a:lnTo>
                  <a:pt x="104508" y="406742"/>
                </a:lnTo>
                <a:lnTo>
                  <a:pt x="111335" y="448007"/>
                </a:lnTo>
                <a:lnTo>
                  <a:pt x="117648" y="489353"/>
                </a:lnTo>
                <a:lnTo>
                  <a:pt x="123445" y="530775"/>
                </a:lnTo>
                <a:lnTo>
                  <a:pt x="114948" y="531910"/>
                </a:lnTo>
                <a:lnTo>
                  <a:pt x="109166" y="490594"/>
                </a:lnTo>
                <a:lnTo>
                  <a:pt x="102869" y="449353"/>
                </a:lnTo>
                <a:lnTo>
                  <a:pt x="96059" y="408194"/>
                </a:lnTo>
                <a:lnTo>
                  <a:pt x="88737" y="367123"/>
                </a:lnTo>
                <a:lnTo>
                  <a:pt x="80904" y="326146"/>
                </a:lnTo>
                <a:lnTo>
                  <a:pt x="72561" y="285270"/>
                </a:lnTo>
                <a:lnTo>
                  <a:pt x="63709" y="244501"/>
                </a:lnTo>
                <a:lnTo>
                  <a:pt x="54350" y="203846"/>
                </a:lnTo>
                <a:lnTo>
                  <a:pt x="44485" y="163310"/>
                </a:lnTo>
                <a:lnTo>
                  <a:pt x="34116" y="122901"/>
                </a:lnTo>
                <a:lnTo>
                  <a:pt x="23245" y="82623"/>
                </a:lnTo>
                <a:lnTo>
                  <a:pt x="11872" y="42485"/>
                </a:lnTo>
                <a:lnTo>
                  <a:pt x="0" y="2491"/>
                </a:lnTo>
                <a:close/>
              </a:path>
            </a:pathLst>
          </a:custGeom>
          <a:solidFill xmlns:a="http://schemas.openxmlformats.org/drawingml/2006/main">
            <a:srgbClr val="BFD8D4"/>
          </a:solidFill>
          <a:ln xmlns:a="http://schemas.openxmlformats.org/drawingml/2006/main" w="0">
            <a:noFill/>
          </a:ln>
        </p:spPr>
      </p:sp>
      <p:sp>
        <p:nvSpPr>
          <p:cNvPr id="7" name="VarianceReducedAcceleratedGradientDescent-guide-5000">
            <a:extLst xmlns:a="http://schemas.openxmlformats.org/drawingml/2006/main">
              <a:ext uri="{FF2B5EF4-FFF2-40B4-BE49-F238E27FC236}">
                <a16:creationId xmlns:a16="http://schemas.microsoft.com/office/drawing/2014/main" id="{C5EE688E-414A-48A5-B2D3-3DE5DD933314}"/>
              </a:ext>
            </a:extLst>
          </p:cNvPr>
          <p:cNvSpPr>
            <a:spLocks xmlns:a="http://schemas.openxmlformats.org/drawingml/2006/main" noGrp="1"/>
          </p:cNvSpPr>
          <p:nvPr/>
        </p:nvSpPr>
        <p:spPr>
          <a:xfrm xmlns:a="http://schemas.openxmlformats.org/drawingml/2006/main">
            <a:off x="9415176" y="5795460"/>
            <a:ext cx="37875" cy="542422"/>
          </a:xfrm>
          <a:custGeom xmlns:a="http://schemas.openxmlformats.org/drawingml/2006/main">
            <a:pathLst>
              <a:path w="37875" h="542422">
                <a:moveTo>
                  <a:pt x="8497" y="0"/>
                </a:moveTo>
                <a:lnTo>
                  <a:pt x="13763" y="41493"/>
                </a:lnTo>
                <a:lnTo>
                  <a:pt x="18512" y="83048"/>
                </a:lnTo>
                <a:lnTo>
                  <a:pt x="22743" y="124659"/>
                </a:lnTo>
                <a:lnTo>
                  <a:pt x="26455" y="166319"/>
                </a:lnTo>
                <a:lnTo>
                  <a:pt x="29647" y="208023"/>
                </a:lnTo>
                <a:lnTo>
                  <a:pt x="32320" y="249763"/>
                </a:lnTo>
                <a:lnTo>
                  <a:pt x="34473" y="291533"/>
                </a:lnTo>
                <a:lnTo>
                  <a:pt x="36105" y="333327"/>
                </a:lnTo>
                <a:lnTo>
                  <a:pt x="37216" y="375138"/>
                </a:lnTo>
                <a:lnTo>
                  <a:pt x="37806" y="416959"/>
                </a:lnTo>
                <a:lnTo>
                  <a:pt x="37875" y="458784"/>
                </a:lnTo>
                <a:lnTo>
                  <a:pt x="37423" y="500608"/>
                </a:lnTo>
                <a:lnTo>
                  <a:pt x="36450" y="542422"/>
                </a:lnTo>
                <a:lnTo>
                  <a:pt x="27881" y="542169"/>
                </a:lnTo>
                <a:lnTo>
                  <a:pt x="28852" y="500462"/>
                </a:lnTo>
                <a:lnTo>
                  <a:pt x="29303" y="458745"/>
                </a:lnTo>
                <a:lnTo>
                  <a:pt x="29234" y="417027"/>
                </a:lnTo>
                <a:lnTo>
                  <a:pt x="28645" y="375312"/>
                </a:lnTo>
                <a:lnTo>
                  <a:pt x="27537" y="333608"/>
                </a:lnTo>
                <a:lnTo>
                  <a:pt x="25909" y="291921"/>
                </a:lnTo>
                <a:lnTo>
                  <a:pt x="23762" y="250257"/>
                </a:lnTo>
                <a:lnTo>
                  <a:pt x="21096" y="208624"/>
                </a:lnTo>
                <a:lnTo>
                  <a:pt x="17912" y="167027"/>
                </a:lnTo>
                <a:lnTo>
                  <a:pt x="14209" y="125473"/>
                </a:lnTo>
                <a:lnTo>
                  <a:pt x="9989" y="83968"/>
                </a:lnTo>
                <a:lnTo>
                  <a:pt x="5253" y="42519"/>
                </a:lnTo>
                <a:lnTo>
                  <a:pt x="0" y="1132"/>
                </a:lnTo>
                <a:close/>
              </a:path>
            </a:pathLst>
          </a:custGeom>
          <a:solidFill xmlns:a="http://schemas.openxmlformats.org/drawingml/2006/main">
            <a:srgbClr val="BFD8D4"/>
          </a:solidFill>
          <a:ln xmlns:a="http://schemas.openxmlformats.org/drawingml/2006/main" w="0">
            <a:noFill/>
          </a:ln>
        </p:spPr>
      </p:sp>
      <p:sp>
        <p:nvSpPr>
          <p:cNvPr id="8" name="VarianceReducedAcceleratedGradientDescent-guide-20000">
            <a:extLst xmlns:a="http://schemas.openxmlformats.org/drawingml/2006/main">
              <a:ext uri="{FF2B5EF4-FFF2-40B4-BE49-F238E27FC236}">
                <a16:creationId xmlns:a16="http://schemas.microsoft.com/office/drawing/2014/main" id="{FCE8FFE8-F8B8-476E-82C9-DBFE46473020}"/>
              </a:ext>
            </a:extLst>
          </p:cNvPr>
          <p:cNvSpPr>
            <a:spLocks xmlns:a="http://schemas.openxmlformats.org/drawingml/2006/main" noGrp="1"/>
          </p:cNvSpPr>
          <p:nvPr/>
        </p:nvSpPr>
        <p:spPr>
          <a:xfrm xmlns:a="http://schemas.openxmlformats.org/drawingml/2006/main">
            <a:off x="10094968" y="5704877"/>
            <a:ext cx="43876" cy="653230"/>
          </a:xfrm>
          <a:custGeom xmlns:a="http://schemas.openxmlformats.org/drawingml/2006/main">
            <a:pathLst>
              <a:path w="43876" h="653230">
                <a:moveTo>
                  <a:pt x="8497" y="0"/>
                </a:moveTo>
                <a:lnTo>
                  <a:pt x="14839" y="49969"/>
                </a:lnTo>
                <a:lnTo>
                  <a:pt x="20558" y="100013"/>
                </a:lnTo>
                <a:lnTo>
                  <a:pt x="25653" y="150125"/>
                </a:lnTo>
                <a:lnTo>
                  <a:pt x="30123" y="200296"/>
                </a:lnTo>
                <a:lnTo>
                  <a:pt x="33968" y="250519"/>
                </a:lnTo>
                <a:lnTo>
                  <a:pt x="37187" y="300786"/>
                </a:lnTo>
                <a:lnTo>
                  <a:pt x="39779" y="351089"/>
                </a:lnTo>
                <a:lnTo>
                  <a:pt x="41744" y="401420"/>
                </a:lnTo>
                <a:lnTo>
                  <a:pt x="43082" y="451772"/>
                </a:lnTo>
                <a:lnTo>
                  <a:pt x="43793" y="502137"/>
                </a:lnTo>
                <a:lnTo>
                  <a:pt x="43876" y="552507"/>
                </a:lnTo>
                <a:lnTo>
                  <a:pt x="43332" y="602874"/>
                </a:lnTo>
                <a:lnTo>
                  <a:pt x="42160" y="653230"/>
                </a:lnTo>
                <a:lnTo>
                  <a:pt x="33591" y="652977"/>
                </a:lnTo>
                <a:lnTo>
                  <a:pt x="34761" y="602728"/>
                </a:lnTo>
                <a:lnTo>
                  <a:pt x="35304" y="552468"/>
                </a:lnTo>
                <a:lnTo>
                  <a:pt x="35221" y="502205"/>
                </a:lnTo>
                <a:lnTo>
                  <a:pt x="34512" y="451947"/>
                </a:lnTo>
                <a:lnTo>
                  <a:pt x="33176" y="401701"/>
                </a:lnTo>
                <a:lnTo>
                  <a:pt x="31215" y="351477"/>
                </a:lnTo>
                <a:lnTo>
                  <a:pt x="28628" y="301280"/>
                </a:lnTo>
                <a:lnTo>
                  <a:pt x="25417" y="251120"/>
                </a:lnTo>
                <a:lnTo>
                  <a:pt x="21580" y="201003"/>
                </a:lnTo>
                <a:lnTo>
                  <a:pt x="17119" y="150939"/>
                </a:lnTo>
                <a:lnTo>
                  <a:pt x="12035" y="100933"/>
                </a:lnTo>
                <a:lnTo>
                  <a:pt x="6328" y="50995"/>
                </a:lnTo>
                <a:lnTo>
                  <a:pt x="0" y="1132"/>
                </a:lnTo>
                <a:close/>
              </a:path>
            </a:pathLst>
          </a:custGeom>
          <a:solidFill xmlns:a="http://schemas.openxmlformats.org/drawingml/2006/main">
            <a:srgbClr val="BFD8D4"/>
          </a:solidFill>
          <a:ln xmlns:a="http://schemas.openxmlformats.org/drawingml/2006/main" w="0">
            <a:noFill/>
          </a:ln>
        </p:spPr>
      </p:sp>
      <p:sp>
        <p:nvSpPr>
          <p:cNvPr id="9" name="VarianceReducedMirrorDescent-guide-5000">
            <a:extLst xmlns:a="http://schemas.openxmlformats.org/drawingml/2006/main">
              <a:ext uri="{FF2B5EF4-FFF2-40B4-BE49-F238E27FC236}">
                <a16:creationId xmlns:a16="http://schemas.microsoft.com/office/drawing/2014/main" id="{3E84D24D-1162-406A-9878-9D1768FDC71E}"/>
              </a:ext>
            </a:extLst>
          </p:cNvPr>
          <p:cNvSpPr>
            <a:spLocks xmlns:a="http://schemas.openxmlformats.org/drawingml/2006/main" noGrp="1"/>
          </p:cNvSpPr>
          <p:nvPr/>
        </p:nvSpPr>
        <p:spPr>
          <a:xfrm xmlns:a="http://schemas.openxmlformats.org/drawingml/2006/main">
            <a:off x="9383104" y="6338797"/>
            <a:ext cx="68488" cy="540065"/>
          </a:xfrm>
          <a:custGeom xmlns:a="http://schemas.openxmlformats.org/drawingml/2006/main">
            <a:pathLst>
              <a:path w="68488" h="540065">
                <a:moveTo>
                  <a:pt x="68488" y="256"/>
                </a:moveTo>
                <a:lnTo>
                  <a:pt x="66979" y="42054"/>
                </a:lnTo>
                <a:lnTo>
                  <a:pt x="64950" y="83830"/>
                </a:lnTo>
                <a:lnTo>
                  <a:pt x="62401" y="125578"/>
                </a:lnTo>
                <a:lnTo>
                  <a:pt x="59331" y="167291"/>
                </a:lnTo>
                <a:lnTo>
                  <a:pt x="55742" y="208962"/>
                </a:lnTo>
                <a:lnTo>
                  <a:pt x="51635" y="250586"/>
                </a:lnTo>
                <a:lnTo>
                  <a:pt x="47009" y="292155"/>
                </a:lnTo>
                <a:lnTo>
                  <a:pt x="41865" y="333663"/>
                </a:lnTo>
                <a:lnTo>
                  <a:pt x="36205" y="375103"/>
                </a:lnTo>
                <a:lnTo>
                  <a:pt x="30029" y="416471"/>
                </a:lnTo>
                <a:lnTo>
                  <a:pt x="23338" y="457757"/>
                </a:lnTo>
                <a:lnTo>
                  <a:pt x="16133" y="498958"/>
                </a:lnTo>
                <a:lnTo>
                  <a:pt x="8415" y="540065"/>
                </a:lnTo>
                <a:lnTo>
                  <a:pt x="0" y="538431"/>
                </a:lnTo>
                <a:lnTo>
                  <a:pt x="7698" y="497428"/>
                </a:lnTo>
                <a:lnTo>
                  <a:pt x="14884" y="456333"/>
                </a:lnTo>
                <a:lnTo>
                  <a:pt x="21558" y="415152"/>
                </a:lnTo>
                <a:lnTo>
                  <a:pt x="27719" y="373890"/>
                </a:lnTo>
                <a:lnTo>
                  <a:pt x="33364" y="332556"/>
                </a:lnTo>
                <a:lnTo>
                  <a:pt x="38495" y="291153"/>
                </a:lnTo>
                <a:lnTo>
                  <a:pt x="43109" y="249691"/>
                </a:lnTo>
                <a:lnTo>
                  <a:pt x="47206" y="208174"/>
                </a:lnTo>
                <a:lnTo>
                  <a:pt x="50786" y="166609"/>
                </a:lnTo>
                <a:lnTo>
                  <a:pt x="53847" y="125002"/>
                </a:lnTo>
                <a:lnTo>
                  <a:pt x="56390" y="83361"/>
                </a:lnTo>
                <a:lnTo>
                  <a:pt x="58414" y="41692"/>
                </a:lnTo>
                <a:lnTo>
                  <a:pt x="59919" y="0"/>
                </a:lnTo>
                <a:close/>
              </a:path>
            </a:pathLst>
          </a:custGeom>
          <a:solidFill xmlns:a="http://schemas.openxmlformats.org/drawingml/2006/main">
            <a:srgbClr val="BFD8D4"/>
          </a:solidFill>
          <a:ln xmlns:a="http://schemas.openxmlformats.org/drawingml/2006/main" w="0">
            <a:noFill/>
          </a:ln>
        </p:spPr>
      </p:sp>
      <p:sp>
        <p:nvSpPr>
          <p:cNvPr id="10" name="VarianceReducedMirrorDescent-guide-20000">
            <a:extLst xmlns:a="http://schemas.openxmlformats.org/drawingml/2006/main">
              <a:ext uri="{FF2B5EF4-FFF2-40B4-BE49-F238E27FC236}">
                <a16:creationId xmlns:a16="http://schemas.microsoft.com/office/drawing/2014/main" id="{9F09DEEE-D885-4447-862C-DDBF195B6FE6}"/>
              </a:ext>
            </a:extLst>
          </p:cNvPr>
          <p:cNvSpPr>
            <a:spLocks xmlns:a="http://schemas.openxmlformats.org/drawingml/2006/main" noGrp="1"/>
          </p:cNvSpPr>
          <p:nvPr/>
        </p:nvSpPr>
        <p:spPr>
          <a:xfrm xmlns:a="http://schemas.openxmlformats.org/drawingml/2006/main">
            <a:off x="10056326" y="6359262"/>
            <a:ext cx="80759" cy="650340"/>
          </a:xfrm>
          <a:custGeom xmlns:a="http://schemas.openxmlformats.org/drawingml/2006/main">
            <a:pathLst>
              <a:path w="80759" h="650340">
                <a:moveTo>
                  <a:pt x="80759" y="256"/>
                </a:moveTo>
                <a:lnTo>
                  <a:pt x="78943" y="50593"/>
                </a:lnTo>
                <a:lnTo>
                  <a:pt x="76499" y="100903"/>
                </a:lnTo>
                <a:lnTo>
                  <a:pt x="73429" y="151180"/>
                </a:lnTo>
                <a:lnTo>
                  <a:pt x="69732" y="201414"/>
                </a:lnTo>
                <a:lnTo>
                  <a:pt x="65410" y="251598"/>
                </a:lnTo>
                <a:lnTo>
                  <a:pt x="60464" y="301724"/>
                </a:lnTo>
                <a:lnTo>
                  <a:pt x="54893" y="351785"/>
                </a:lnTo>
                <a:lnTo>
                  <a:pt x="48698" y="401772"/>
                </a:lnTo>
                <a:lnTo>
                  <a:pt x="41882" y="451679"/>
                </a:lnTo>
                <a:lnTo>
                  <a:pt x="34444" y="501497"/>
                </a:lnTo>
                <a:lnTo>
                  <a:pt x="26386" y="551218"/>
                </a:lnTo>
                <a:lnTo>
                  <a:pt x="17709" y="600835"/>
                </a:lnTo>
                <a:lnTo>
                  <a:pt x="8415" y="650340"/>
                </a:lnTo>
                <a:lnTo>
                  <a:pt x="0" y="648705"/>
                </a:lnTo>
                <a:lnTo>
                  <a:pt x="9274" y="599305"/>
                </a:lnTo>
                <a:lnTo>
                  <a:pt x="17933" y="549794"/>
                </a:lnTo>
                <a:lnTo>
                  <a:pt x="25974" y="500178"/>
                </a:lnTo>
                <a:lnTo>
                  <a:pt x="33396" y="450466"/>
                </a:lnTo>
                <a:lnTo>
                  <a:pt x="40198" y="400665"/>
                </a:lnTo>
                <a:lnTo>
                  <a:pt x="46379" y="350784"/>
                </a:lnTo>
                <a:lnTo>
                  <a:pt x="51938" y="300829"/>
                </a:lnTo>
                <a:lnTo>
                  <a:pt x="56874" y="250809"/>
                </a:lnTo>
                <a:lnTo>
                  <a:pt x="61187" y="200731"/>
                </a:lnTo>
                <a:lnTo>
                  <a:pt x="64876" y="150604"/>
                </a:lnTo>
                <a:lnTo>
                  <a:pt x="67939" y="100434"/>
                </a:lnTo>
                <a:lnTo>
                  <a:pt x="70378" y="50230"/>
                </a:lnTo>
                <a:lnTo>
                  <a:pt x="72191" y="0"/>
                </a:lnTo>
                <a:close/>
              </a:path>
            </a:pathLst>
          </a:custGeom>
          <a:solidFill xmlns:a="http://schemas.openxmlformats.org/drawingml/2006/main">
            <a:srgbClr val="BFD8D4"/>
          </a:solidFill>
          <a:ln xmlns:a="http://schemas.openxmlformats.org/drawingml/2006/main" w="0">
            <a:noFill/>
          </a:ln>
        </p:spPr>
      </p:sp>
      <p:sp>
        <p:nvSpPr>
          <p:cNvPr id="11" name="RSGF-guide-5000">
            <a:extLst xmlns:a="http://schemas.openxmlformats.org/drawingml/2006/main">
              <a:ext uri="{FF2B5EF4-FFF2-40B4-BE49-F238E27FC236}">
                <a16:creationId xmlns:a16="http://schemas.microsoft.com/office/drawing/2014/main" id="{05D1BF50-5410-4C8A-ADF7-9F5D4A6DA86B}"/>
              </a:ext>
            </a:extLst>
          </p:cNvPr>
          <p:cNvSpPr>
            <a:spLocks xmlns:a="http://schemas.openxmlformats.org/drawingml/2006/main" noGrp="1"/>
          </p:cNvSpPr>
          <p:nvPr/>
        </p:nvSpPr>
        <p:spPr>
          <a:xfrm xmlns:a="http://schemas.openxmlformats.org/drawingml/2006/main">
            <a:off x="8948326" y="7510030"/>
            <a:ext cx="253461" cy="487412"/>
          </a:xfrm>
          <a:custGeom xmlns:a="http://schemas.openxmlformats.org/drawingml/2006/main">
            <a:pathLst>
              <a:path w="253461" h="487412">
                <a:moveTo>
                  <a:pt x="253461" y="3254"/>
                </a:moveTo>
                <a:lnTo>
                  <a:pt x="237342" y="41849"/>
                </a:lnTo>
                <a:lnTo>
                  <a:pt x="220744" y="80240"/>
                </a:lnTo>
                <a:lnTo>
                  <a:pt x="203669" y="118422"/>
                </a:lnTo>
                <a:lnTo>
                  <a:pt x="186120" y="156388"/>
                </a:lnTo>
                <a:lnTo>
                  <a:pt x="168099" y="194132"/>
                </a:lnTo>
                <a:lnTo>
                  <a:pt x="149609" y="231648"/>
                </a:lnTo>
                <a:lnTo>
                  <a:pt x="130653" y="268932"/>
                </a:lnTo>
                <a:lnTo>
                  <a:pt x="111234" y="305976"/>
                </a:lnTo>
                <a:lnTo>
                  <a:pt x="91355" y="342776"/>
                </a:lnTo>
                <a:lnTo>
                  <a:pt x="71019" y="379325"/>
                </a:lnTo>
                <a:lnTo>
                  <a:pt x="50230" y="415617"/>
                </a:lnTo>
                <a:lnTo>
                  <a:pt x="28990" y="451648"/>
                </a:lnTo>
                <a:lnTo>
                  <a:pt x="7302" y="487412"/>
                </a:lnTo>
                <a:lnTo>
                  <a:pt x="0" y="482921"/>
                </a:lnTo>
                <a:lnTo>
                  <a:pt x="21632" y="447249"/>
                </a:lnTo>
                <a:lnTo>
                  <a:pt x="42818" y="411310"/>
                </a:lnTo>
                <a:lnTo>
                  <a:pt x="63554" y="375110"/>
                </a:lnTo>
                <a:lnTo>
                  <a:pt x="83838" y="338654"/>
                </a:lnTo>
                <a:lnTo>
                  <a:pt x="103667" y="301949"/>
                </a:lnTo>
                <a:lnTo>
                  <a:pt x="123036" y="264999"/>
                </a:lnTo>
                <a:lnTo>
                  <a:pt x="141943" y="227811"/>
                </a:lnTo>
                <a:lnTo>
                  <a:pt x="160386" y="190390"/>
                </a:lnTo>
                <a:lnTo>
                  <a:pt x="178361" y="152742"/>
                </a:lnTo>
                <a:lnTo>
                  <a:pt x="195866" y="114873"/>
                </a:lnTo>
                <a:lnTo>
                  <a:pt x="212897" y="76790"/>
                </a:lnTo>
                <a:lnTo>
                  <a:pt x="229453" y="38496"/>
                </a:lnTo>
                <a:lnTo>
                  <a:pt x="245530" y="0"/>
                </a:lnTo>
                <a:close/>
              </a:path>
            </a:pathLst>
          </a:custGeom>
          <a:solidFill xmlns:a="http://schemas.openxmlformats.org/drawingml/2006/main">
            <a:srgbClr val="C6DFD2"/>
          </a:solidFill>
          <a:ln xmlns:a="http://schemas.openxmlformats.org/drawingml/2006/main" w="0">
            <a:noFill/>
          </a:ln>
        </p:spPr>
      </p:sp>
      <p:sp>
        <p:nvSpPr>
          <p:cNvPr id="12" name="StochasticZerothOrder-guide-5000">
            <a:extLst xmlns:a="http://schemas.openxmlformats.org/drawingml/2006/main">
              <a:ext uri="{FF2B5EF4-FFF2-40B4-BE49-F238E27FC236}">
                <a16:creationId xmlns:a16="http://schemas.microsoft.com/office/drawing/2014/main" id="{69F47257-3717-4663-9A14-61A4644D083C}"/>
              </a:ext>
            </a:extLst>
          </p:cNvPr>
          <p:cNvSpPr>
            <a:spLocks xmlns:a="http://schemas.openxmlformats.org/drawingml/2006/main" noGrp="1"/>
          </p:cNvSpPr>
          <p:nvPr/>
        </p:nvSpPr>
        <p:spPr>
          <a:xfrm xmlns:a="http://schemas.openxmlformats.org/drawingml/2006/main">
            <a:off x="8627368" y="7993947"/>
            <a:ext cx="327645" cy="442507"/>
          </a:xfrm>
          <a:custGeom xmlns:a="http://schemas.openxmlformats.org/drawingml/2006/main">
            <a:pathLst>
              <a:path w="327645" h="442507">
                <a:moveTo>
                  <a:pt x="327645" y="4493"/>
                </a:moveTo>
                <a:lnTo>
                  <a:pt x="305502" y="39976"/>
                </a:lnTo>
                <a:lnTo>
                  <a:pt x="282918" y="75180"/>
                </a:lnTo>
                <a:lnTo>
                  <a:pt x="259897" y="110100"/>
                </a:lnTo>
                <a:lnTo>
                  <a:pt x="236443" y="144731"/>
                </a:lnTo>
                <a:lnTo>
                  <a:pt x="212559" y="179067"/>
                </a:lnTo>
                <a:lnTo>
                  <a:pt x="188249" y="213102"/>
                </a:lnTo>
                <a:lnTo>
                  <a:pt x="163517" y="246832"/>
                </a:lnTo>
                <a:lnTo>
                  <a:pt x="138367" y="280251"/>
                </a:lnTo>
                <a:lnTo>
                  <a:pt x="112803" y="313355"/>
                </a:lnTo>
                <a:lnTo>
                  <a:pt x="86828" y="346137"/>
                </a:lnTo>
                <a:lnTo>
                  <a:pt x="60446" y="378593"/>
                </a:lnTo>
                <a:lnTo>
                  <a:pt x="33662" y="410718"/>
                </a:lnTo>
                <a:lnTo>
                  <a:pt x="6481" y="442507"/>
                </a:lnTo>
                <a:lnTo>
                  <a:pt x="0" y="436895"/>
                </a:lnTo>
                <a:lnTo>
                  <a:pt x="27112" y="405188"/>
                </a:lnTo>
                <a:lnTo>
                  <a:pt x="53828" y="373145"/>
                </a:lnTo>
                <a:lnTo>
                  <a:pt x="80142" y="340771"/>
                </a:lnTo>
                <a:lnTo>
                  <a:pt x="106051" y="308073"/>
                </a:lnTo>
                <a:lnTo>
                  <a:pt x="131550" y="275054"/>
                </a:lnTo>
                <a:lnTo>
                  <a:pt x="156636" y="241720"/>
                </a:lnTo>
                <a:lnTo>
                  <a:pt x="181304" y="208076"/>
                </a:lnTo>
                <a:lnTo>
                  <a:pt x="205552" y="174128"/>
                </a:lnTo>
                <a:lnTo>
                  <a:pt x="229375" y="139880"/>
                </a:lnTo>
                <a:lnTo>
                  <a:pt x="252769" y="105338"/>
                </a:lnTo>
                <a:lnTo>
                  <a:pt x="275731" y="70507"/>
                </a:lnTo>
                <a:lnTo>
                  <a:pt x="298258" y="35392"/>
                </a:lnTo>
                <a:lnTo>
                  <a:pt x="320345" y="0"/>
                </a:lnTo>
                <a:close/>
              </a:path>
            </a:pathLst>
          </a:custGeom>
          <a:solidFill xmlns:a="http://schemas.openxmlformats.org/drawingml/2006/main">
            <a:srgbClr val="C6DFD2"/>
          </a:solidFill>
          <a:ln xmlns:a="http://schemas.openxmlformats.org/drawingml/2006/main" w="0">
            <a:noFill/>
          </a:ln>
        </p:spPr>
      </p:sp>
      <p:sp>
        <p:nvSpPr>
          <p:cNvPr id="13" name="NonconvexStochasticAcceleratedGD-guide-5000">
            <a:extLst xmlns:a="http://schemas.openxmlformats.org/drawingml/2006/main">
              <a:ext uri="{FF2B5EF4-FFF2-40B4-BE49-F238E27FC236}">
                <a16:creationId xmlns:a16="http://schemas.microsoft.com/office/drawing/2014/main" id="{0BDDA0EA-68B7-4F71-9FCD-F0B5F83FD986}"/>
              </a:ext>
            </a:extLst>
          </p:cNvPr>
          <p:cNvSpPr>
            <a:spLocks xmlns:a="http://schemas.openxmlformats.org/drawingml/2006/main" noGrp="1"/>
          </p:cNvSpPr>
          <p:nvPr/>
        </p:nvSpPr>
        <p:spPr>
          <a:xfrm xmlns:a="http://schemas.openxmlformats.org/drawingml/2006/main">
            <a:off x="8239865" y="8431725"/>
            <a:ext cx="393217" cy="385969"/>
          </a:xfrm>
          <a:custGeom xmlns:a="http://schemas.openxmlformats.org/drawingml/2006/main">
            <a:pathLst>
              <a:path w="393217" h="385969">
                <a:moveTo>
                  <a:pt x="393217" y="5614"/>
                </a:moveTo>
                <a:lnTo>
                  <a:pt x="365630" y="37052"/>
                </a:lnTo>
                <a:lnTo>
                  <a:pt x="337653" y="68144"/>
                </a:lnTo>
                <a:lnTo>
                  <a:pt x="309292" y="98885"/>
                </a:lnTo>
                <a:lnTo>
                  <a:pt x="280550" y="129270"/>
                </a:lnTo>
                <a:lnTo>
                  <a:pt x="251431" y="159294"/>
                </a:lnTo>
                <a:lnTo>
                  <a:pt x="221941" y="188954"/>
                </a:lnTo>
                <a:lnTo>
                  <a:pt x="192083" y="218244"/>
                </a:lnTo>
                <a:lnTo>
                  <a:pt x="161863" y="247159"/>
                </a:lnTo>
                <a:lnTo>
                  <a:pt x="131284" y="275696"/>
                </a:lnTo>
                <a:lnTo>
                  <a:pt x="100353" y="303850"/>
                </a:lnTo>
                <a:lnTo>
                  <a:pt x="69073" y="331616"/>
                </a:lnTo>
                <a:lnTo>
                  <a:pt x="37450" y="358990"/>
                </a:lnTo>
                <a:lnTo>
                  <a:pt x="5488" y="385969"/>
                </a:lnTo>
                <a:lnTo>
                  <a:pt x="0" y="379383"/>
                </a:lnTo>
                <a:lnTo>
                  <a:pt x="31880" y="352474"/>
                </a:lnTo>
                <a:lnTo>
                  <a:pt x="63423" y="325170"/>
                </a:lnTo>
                <a:lnTo>
                  <a:pt x="94622" y="297475"/>
                </a:lnTo>
                <a:lnTo>
                  <a:pt x="125475" y="269393"/>
                </a:lnTo>
                <a:lnTo>
                  <a:pt x="155975" y="240929"/>
                </a:lnTo>
                <a:lnTo>
                  <a:pt x="186118" y="212087"/>
                </a:lnTo>
                <a:lnTo>
                  <a:pt x="215899" y="182872"/>
                </a:lnTo>
                <a:lnTo>
                  <a:pt x="245314" y="153288"/>
                </a:lnTo>
                <a:lnTo>
                  <a:pt x="274359" y="123340"/>
                </a:lnTo>
                <a:lnTo>
                  <a:pt x="303028" y="93033"/>
                </a:lnTo>
                <a:lnTo>
                  <a:pt x="331317" y="62370"/>
                </a:lnTo>
                <a:lnTo>
                  <a:pt x="359222" y="31358"/>
                </a:lnTo>
                <a:lnTo>
                  <a:pt x="386738" y="0"/>
                </a:lnTo>
                <a:close/>
              </a:path>
            </a:pathLst>
          </a:custGeom>
          <a:solidFill xmlns:a="http://schemas.openxmlformats.org/drawingml/2006/main">
            <a:srgbClr val="C6DFD2"/>
          </a:solidFill>
          <a:ln xmlns:a="http://schemas.openxmlformats.org/drawingml/2006/main" w="0">
            <a:noFill/>
          </a:ln>
        </p:spPr>
      </p:sp>
      <p:sp>
        <p:nvSpPr>
          <p:cNvPr id="14" name="NonconvexStochasticMirrorDescent-guide-5000">
            <a:extLst xmlns:a="http://schemas.openxmlformats.org/drawingml/2006/main">
              <a:ext uri="{FF2B5EF4-FFF2-40B4-BE49-F238E27FC236}">
                <a16:creationId xmlns:a16="http://schemas.microsoft.com/office/drawing/2014/main" id="{0B324867-F75E-4A18-81F1-AA84F2A261EB}"/>
              </a:ext>
            </a:extLst>
          </p:cNvPr>
          <p:cNvSpPr>
            <a:spLocks xmlns:a="http://schemas.openxmlformats.org/drawingml/2006/main" noGrp="1"/>
          </p:cNvSpPr>
          <p:nvPr/>
        </p:nvSpPr>
        <p:spPr>
          <a:xfrm xmlns:a="http://schemas.openxmlformats.org/drawingml/2006/main">
            <a:off x="7307450" y="9124349"/>
            <a:ext cx="491895" cy="244206"/>
          </a:xfrm>
          <a:custGeom xmlns:a="http://schemas.openxmlformats.org/drawingml/2006/main">
            <a:pathLst>
              <a:path w="491895" h="244206">
                <a:moveTo>
                  <a:pt x="491895" y="7387"/>
                </a:moveTo>
                <a:lnTo>
                  <a:pt x="455722" y="28384"/>
                </a:lnTo>
                <a:lnTo>
                  <a:pt x="419290" y="48928"/>
                </a:lnTo>
                <a:lnTo>
                  <a:pt x="382605" y="69018"/>
                </a:lnTo>
                <a:lnTo>
                  <a:pt x="345672" y="88648"/>
                </a:lnTo>
                <a:lnTo>
                  <a:pt x="308498" y="107817"/>
                </a:lnTo>
                <a:lnTo>
                  <a:pt x="271087" y="126521"/>
                </a:lnTo>
                <a:lnTo>
                  <a:pt x="233447" y="144758"/>
                </a:lnTo>
                <a:lnTo>
                  <a:pt x="195582" y="162524"/>
                </a:lnTo>
                <a:lnTo>
                  <a:pt x="157499" y="179817"/>
                </a:lnTo>
                <a:lnTo>
                  <a:pt x="119204" y="196634"/>
                </a:lnTo>
                <a:lnTo>
                  <a:pt x="80701" y="212973"/>
                </a:lnTo>
                <a:lnTo>
                  <a:pt x="41999" y="228831"/>
                </a:lnTo>
                <a:lnTo>
                  <a:pt x="3101" y="244206"/>
                </a:lnTo>
                <a:lnTo>
                  <a:pt x="0" y="236214"/>
                </a:lnTo>
                <a:lnTo>
                  <a:pt x="38798" y="220879"/>
                </a:lnTo>
                <a:lnTo>
                  <a:pt x="77402" y="205061"/>
                </a:lnTo>
                <a:lnTo>
                  <a:pt x="115806" y="188764"/>
                </a:lnTo>
                <a:lnTo>
                  <a:pt x="154004" y="171990"/>
                </a:lnTo>
                <a:lnTo>
                  <a:pt x="191989" y="154741"/>
                </a:lnTo>
                <a:lnTo>
                  <a:pt x="229757" y="137020"/>
                </a:lnTo>
                <a:lnTo>
                  <a:pt x="267302" y="118830"/>
                </a:lnTo>
                <a:lnTo>
                  <a:pt x="304617" y="100173"/>
                </a:lnTo>
                <a:lnTo>
                  <a:pt x="341696" y="81053"/>
                </a:lnTo>
                <a:lnTo>
                  <a:pt x="378534" y="61473"/>
                </a:lnTo>
                <a:lnTo>
                  <a:pt x="415126" y="41435"/>
                </a:lnTo>
                <a:lnTo>
                  <a:pt x="451465" y="20943"/>
                </a:lnTo>
                <a:lnTo>
                  <a:pt x="487546" y="0"/>
                </a:lnTo>
                <a:close/>
              </a:path>
            </a:pathLst>
          </a:custGeom>
          <a:solidFill xmlns:a="http://schemas.openxmlformats.org/drawingml/2006/main">
            <a:srgbClr val="C6DFD2"/>
          </a:solidFill>
          <a:ln xmlns:a="http://schemas.openxmlformats.org/drawingml/2006/main" w="0">
            <a:noFill/>
          </a:ln>
        </p:spPr>
      </p:sp>
      <p:sp>
        <p:nvSpPr>
          <p:cNvPr id="15" name="RandomizedAcceleratedProximalPoint-guide-5000">
            <a:extLst xmlns:a="http://schemas.openxmlformats.org/drawingml/2006/main">
              <a:ext uri="{FF2B5EF4-FFF2-40B4-BE49-F238E27FC236}">
                <a16:creationId xmlns:a16="http://schemas.microsoft.com/office/drawing/2014/main" id="{2EEB22EA-15C0-453F-B4CE-0E26E54C7405}"/>
              </a:ext>
            </a:extLst>
          </p:cNvPr>
          <p:cNvSpPr>
            <a:spLocks xmlns:a="http://schemas.openxmlformats.org/drawingml/2006/main" noGrp="1"/>
          </p:cNvSpPr>
          <p:nvPr/>
        </p:nvSpPr>
        <p:spPr>
          <a:xfrm xmlns:a="http://schemas.openxmlformats.org/drawingml/2006/main">
            <a:off x="6248482" y="9515546"/>
            <a:ext cx="539189" cy="76932"/>
          </a:xfrm>
          <a:custGeom xmlns:a="http://schemas.openxmlformats.org/drawingml/2006/main">
            <a:pathLst>
              <a:path w="539189" h="76932">
                <a:moveTo>
                  <a:pt x="539189" y="8389"/>
                </a:moveTo>
                <a:lnTo>
                  <a:pt x="498208" y="16751"/>
                </a:lnTo>
                <a:lnTo>
                  <a:pt x="457126" y="24602"/>
                </a:lnTo>
                <a:lnTo>
                  <a:pt x="415950" y="31941"/>
                </a:lnTo>
                <a:lnTo>
                  <a:pt x="374685" y="38766"/>
                </a:lnTo>
                <a:lnTo>
                  <a:pt x="333338" y="45076"/>
                </a:lnTo>
                <a:lnTo>
                  <a:pt x="291916" y="50871"/>
                </a:lnTo>
                <a:lnTo>
                  <a:pt x="250425" y="56149"/>
                </a:lnTo>
                <a:lnTo>
                  <a:pt x="208871" y="60910"/>
                </a:lnTo>
                <a:lnTo>
                  <a:pt x="167261" y="65153"/>
                </a:lnTo>
                <a:lnTo>
                  <a:pt x="125602" y="68878"/>
                </a:lnTo>
                <a:lnTo>
                  <a:pt x="83899" y="72083"/>
                </a:lnTo>
                <a:lnTo>
                  <a:pt x="42160" y="74768"/>
                </a:lnTo>
                <a:lnTo>
                  <a:pt x="390" y="76932"/>
                </a:lnTo>
                <a:lnTo>
                  <a:pt x="0" y="68369"/>
                </a:lnTo>
                <a:lnTo>
                  <a:pt x="41663" y="66210"/>
                </a:lnTo>
                <a:lnTo>
                  <a:pt x="83296" y="63531"/>
                </a:lnTo>
                <a:lnTo>
                  <a:pt x="124892" y="60335"/>
                </a:lnTo>
                <a:lnTo>
                  <a:pt x="166445" y="56620"/>
                </a:lnTo>
                <a:lnTo>
                  <a:pt x="207948" y="52388"/>
                </a:lnTo>
                <a:lnTo>
                  <a:pt x="249396" y="47639"/>
                </a:lnTo>
                <a:lnTo>
                  <a:pt x="290781" y="42374"/>
                </a:lnTo>
                <a:lnTo>
                  <a:pt x="332097" y="36594"/>
                </a:lnTo>
                <a:lnTo>
                  <a:pt x="373339" y="30300"/>
                </a:lnTo>
                <a:lnTo>
                  <a:pt x="414498" y="23492"/>
                </a:lnTo>
                <a:lnTo>
                  <a:pt x="455570" y="16172"/>
                </a:lnTo>
                <a:lnTo>
                  <a:pt x="496547" y="8341"/>
                </a:lnTo>
                <a:lnTo>
                  <a:pt x="537423" y="0"/>
                </a:lnTo>
                <a:close/>
              </a:path>
            </a:pathLst>
          </a:custGeom>
          <a:solidFill xmlns:a="http://schemas.openxmlformats.org/drawingml/2006/main">
            <a:srgbClr val="C6DFD2"/>
          </a:solidFill>
          <a:ln xmlns:a="http://schemas.openxmlformats.org/drawingml/2006/main" w="0">
            <a:noFill/>
          </a:ln>
        </p:spPr>
      </p:sp>
      <p:sp>
        <p:nvSpPr>
          <p:cNvPr id="16" name="StochasticNonconvexCGSliding-guide-5000">
            <a:extLst xmlns:a="http://schemas.openxmlformats.org/drawingml/2006/main">
              <a:ext uri="{FF2B5EF4-FFF2-40B4-BE49-F238E27FC236}">
                <a16:creationId xmlns:a16="http://schemas.microsoft.com/office/drawing/2014/main" id="{C5105B58-1B21-448D-9A72-6CE2548654B4}"/>
              </a:ext>
            </a:extLst>
          </p:cNvPr>
          <p:cNvSpPr>
            <a:spLocks xmlns:a="http://schemas.openxmlformats.org/drawingml/2006/main" noGrp="1"/>
          </p:cNvSpPr>
          <p:nvPr/>
        </p:nvSpPr>
        <p:spPr>
          <a:xfrm xmlns:a="http://schemas.openxmlformats.org/drawingml/2006/main">
            <a:off x="5059161" y="9423681"/>
            <a:ext cx="529763" cy="133564"/>
          </a:xfrm>
          <a:custGeom xmlns:a="http://schemas.openxmlformats.org/drawingml/2006/main">
            <a:pathLst>
              <a:path w="529763" h="133564">
                <a:moveTo>
                  <a:pt x="528465" y="133564"/>
                </a:moveTo>
                <a:lnTo>
                  <a:pt x="487162" y="126973"/>
                </a:lnTo>
                <a:lnTo>
                  <a:pt x="445944" y="119868"/>
                </a:lnTo>
                <a:lnTo>
                  <a:pt x="404818" y="112249"/>
                </a:lnTo>
                <a:lnTo>
                  <a:pt x="363790" y="104119"/>
                </a:lnTo>
                <a:lnTo>
                  <a:pt x="322867" y="95479"/>
                </a:lnTo>
                <a:lnTo>
                  <a:pt x="282055" y="86329"/>
                </a:lnTo>
                <a:lnTo>
                  <a:pt x="241359" y="76672"/>
                </a:lnTo>
                <a:lnTo>
                  <a:pt x="200787" y="66508"/>
                </a:lnTo>
                <a:lnTo>
                  <a:pt x="160345" y="55840"/>
                </a:lnTo>
                <a:lnTo>
                  <a:pt x="120039" y="44668"/>
                </a:lnTo>
                <a:lnTo>
                  <a:pt x="79876" y="32995"/>
                </a:lnTo>
                <a:lnTo>
                  <a:pt x="39860" y="20823"/>
                </a:lnTo>
                <a:lnTo>
                  <a:pt x="0" y="8153"/>
                </a:lnTo>
                <a:lnTo>
                  <a:pt x="2648" y="0"/>
                </a:lnTo>
                <a:lnTo>
                  <a:pt x="42406" y="12637"/>
                </a:lnTo>
                <a:lnTo>
                  <a:pt x="82319" y="24779"/>
                </a:lnTo>
                <a:lnTo>
                  <a:pt x="122380" y="36422"/>
                </a:lnTo>
                <a:lnTo>
                  <a:pt x="162584" y="47564"/>
                </a:lnTo>
                <a:lnTo>
                  <a:pt x="202922" y="58206"/>
                </a:lnTo>
                <a:lnTo>
                  <a:pt x="243391" y="68343"/>
                </a:lnTo>
                <a:lnTo>
                  <a:pt x="283982" y="77976"/>
                </a:lnTo>
                <a:lnTo>
                  <a:pt x="324690" y="87103"/>
                </a:lnTo>
                <a:lnTo>
                  <a:pt x="365509" y="95721"/>
                </a:lnTo>
                <a:lnTo>
                  <a:pt x="406432" y="103830"/>
                </a:lnTo>
                <a:lnTo>
                  <a:pt x="447453" y="111429"/>
                </a:lnTo>
                <a:lnTo>
                  <a:pt x="488565" y="118516"/>
                </a:lnTo>
                <a:lnTo>
                  <a:pt x="529763" y="125091"/>
                </a:lnTo>
                <a:close/>
              </a:path>
            </a:pathLst>
          </a:custGeom>
          <a:solidFill xmlns:a="http://schemas.openxmlformats.org/drawingml/2006/main">
            <a:srgbClr val="BFDDE5"/>
          </a:solidFill>
          <a:ln xmlns:a="http://schemas.openxmlformats.org/drawingml/2006/main" w="0">
            <a:noFill/>
          </a:ln>
        </p:spPr>
      </p:sp>
      <p:sp>
        <p:nvSpPr>
          <p:cNvPr id="17" name="StochasticNonconvexConditionalGradient-guide-5000">
            <a:extLst xmlns:a="http://schemas.openxmlformats.org/drawingml/2006/main">
              <a:ext uri="{FF2B5EF4-FFF2-40B4-BE49-F238E27FC236}">
                <a16:creationId xmlns:a16="http://schemas.microsoft.com/office/drawing/2014/main" id="{857862A9-DB1E-4392-BE91-45A5BEBFA397}"/>
              </a:ext>
            </a:extLst>
          </p:cNvPr>
          <p:cNvSpPr>
            <a:spLocks xmlns:a="http://schemas.openxmlformats.org/drawingml/2006/main" noGrp="1"/>
          </p:cNvSpPr>
          <p:nvPr/>
        </p:nvSpPr>
        <p:spPr>
          <a:xfrm xmlns:a="http://schemas.openxmlformats.org/drawingml/2006/main">
            <a:off x="4556795" y="9214690"/>
            <a:ext cx="503902" cy="216783"/>
          </a:xfrm>
          <a:custGeom xmlns:a="http://schemas.openxmlformats.org/drawingml/2006/main">
            <a:pathLst>
              <a:path w="503902" h="216783">
                <a:moveTo>
                  <a:pt x="501251" y="216783"/>
                </a:moveTo>
                <a:lnTo>
                  <a:pt x="461557" y="203603"/>
                </a:lnTo>
                <a:lnTo>
                  <a:pt x="422029" y="189931"/>
                </a:lnTo>
                <a:lnTo>
                  <a:pt x="382675" y="175766"/>
                </a:lnTo>
                <a:lnTo>
                  <a:pt x="343500" y="161113"/>
                </a:lnTo>
                <a:lnTo>
                  <a:pt x="304511" y="145973"/>
                </a:lnTo>
                <a:lnTo>
                  <a:pt x="265714" y="130348"/>
                </a:lnTo>
                <a:lnTo>
                  <a:pt x="227114" y="114241"/>
                </a:lnTo>
                <a:lnTo>
                  <a:pt x="188718" y="97654"/>
                </a:lnTo>
                <a:lnTo>
                  <a:pt x="150531" y="80590"/>
                </a:lnTo>
                <a:lnTo>
                  <a:pt x="112561" y="63052"/>
                </a:lnTo>
                <a:lnTo>
                  <a:pt x="74811" y="45042"/>
                </a:lnTo>
                <a:lnTo>
                  <a:pt x="37289" y="26563"/>
                </a:lnTo>
                <a:lnTo>
                  <a:pt x="0" y="7618"/>
                </a:lnTo>
                <a:lnTo>
                  <a:pt x="3930" y="0"/>
                </a:lnTo>
                <a:lnTo>
                  <a:pt x="41124" y="18896"/>
                </a:lnTo>
                <a:lnTo>
                  <a:pt x="78551" y="37328"/>
                </a:lnTo>
                <a:lnTo>
                  <a:pt x="116204" y="55292"/>
                </a:lnTo>
                <a:lnTo>
                  <a:pt x="154077" y="72785"/>
                </a:lnTo>
                <a:lnTo>
                  <a:pt x="192166" y="89806"/>
                </a:lnTo>
                <a:lnTo>
                  <a:pt x="230464" y="106350"/>
                </a:lnTo>
                <a:lnTo>
                  <a:pt x="268966" y="122416"/>
                </a:lnTo>
                <a:lnTo>
                  <a:pt x="307664" y="138001"/>
                </a:lnTo>
                <a:lnTo>
                  <a:pt x="346553" y="153103"/>
                </a:lnTo>
                <a:lnTo>
                  <a:pt x="385628" y="167719"/>
                </a:lnTo>
                <a:lnTo>
                  <a:pt x="424882" y="181847"/>
                </a:lnTo>
                <a:lnTo>
                  <a:pt x="464308" y="195485"/>
                </a:lnTo>
                <a:lnTo>
                  <a:pt x="503902" y="208630"/>
                </a:lnTo>
                <a:close/>
              </a:path>
            </a:pathLst>
          </a:custGeom>
          <a:solidFill xmlns:a="http://schemas.openxmlformats.org/drawingml/2006/main">
            <a:srgbClr val="BFDDE5"/>
          </a:solidFill>
          <a:ln xmlns:a="http://schemas.openxmlformats.org/drawingml/2006/main" w="0">
            <a:noFill/>
          </a:ln>
        </p:spPr>
      </p:sp>
      <p:sp>
        <p:nvSpPr>
          <p:cNvPr id="18" name="StochasticNonconvexConditionalGradient-guide-20000">
            <a:extLst xmlns:a="http://schemas.openxmlformats.org/drawingml/2006/main">
              <a:ext uri="{FF2B5EF4-FFF2-40B4-BE49-F238E27FC236}">
                <a16:creationId xmlns:a16="http://schemas.microsoft.com/office/drawing/2014/main" id="{8692FB13-1E8F-40B2-B98A-DA70C57854E4}"/>
              </a:ext>
            </a:extLst>
          </p:cNvPr>
          <p:cNvSpPr>
            <a:spLocks xmlns:a="http://schemas.openxmlformats.org/drawingml/2006/main" noGrp="1"/>
          </p:cNvSpPr>
          <p:nvPr/>
        </p:nvSpPr>
        <p:spPr>
          <a:xfrm xmlns:a="http://schemas.openxmlformats.org/drawingml/2006/main">
            <a:off x="4242359" y="9824159"/>
            <a:ext cx="606300" cy="259512"/>
          </a:xfrm>
          <a:custGeom xmlns:a="http://schemas.openxmlformats.org/drawingml/2006/main">
            <a:pathLst>
              <a:path w="606300" h="259512">
                <a:moveTo>
                  <a:pt x="603649" y="259512"/>
                </a:moveTo>
                <a:lnTo>
                  <a:pt x="555845" y="243640"/>
                </a:lnTo>
                <a:lnTo>
                  <a:pt x="508243" y="227174"/>
                </a:lnTo>
                <a:lnTo>
                  <a:pt x="460849" y="210116"/>
                </a:lnTo>
                <a:lnTo>
                  <a:pt x="413672" y="192469"/>
                </a:lnTo>
                <a:lnTo>
                  <a:pt x="366718" y="174236"/>
                </a:lnTo>
                <a:lnTo>
                  <a:pt x="319995" y="155419"/>
                </a:lnTo>
                <a:lnTo>
                  <a:pt x="273510" y="136022"/>
                </a:lnTo>
                <a:lnTo>
                  <a:pt x="227270" y="116047"/>
                </a:lnTo>
                <a:lnTo>
                  <a:pt x="181283" y="95497"/>
                </a:lnTo>
                <a:lnTo>
                  <a:pt x="135555" y="74376"/>
                </a:lnTo>
                <a:lnTo>
                  <a:pt x="90094" y="52687"/>
                </a:lnTo>
                <a:lnTo>
                  <a:pt x="44907" y="30433"/>
                </a:lnTo>
                <a:lnTo>
                  <a:pt x="0" y="7618"/>
                </a:lnTo>
                <a:lnTo>
                  <a:pt x="3930" y="0"/>
                </a:lnTo>
                <a:lnTo>
                  <a:pt x="48742" y="22767"/>
                </a:lnTo>
                <a:lnTo>
                  <a:pt x="93833" y="44973"/>
                </a:lnTo>
                <a:lnTo>
                  <a:pt x="139198" y="66616"/>
                </a:lnTo>
                <a:lnTo>
                  <a:pt x="184829" y="87692"/>
                </a:lnTo>
                <a:lnTo>
                  <a:pt x="230719" y="108199"/>
                </a:lnTo>
                <a:lnTo>
                  <a:pt x="276860" y="128131"/>
                </a:lnTo>
                <a:lnTo>
                  <a:pt x="323247" y="147488"/>
                </a:lnTo>
                <a:lnTo>
                  <a:pt x="369871" y="166265"/>
                </a:lnTo>
                <a:lnTo>
                  <a:pt x="416725" y="184459"/>
                </a:lnTo>
                <a:lnTo>
                  <a:pt x="463803" y="202069"/>
                </a:lnTo>
                <a:lnTo>
                  <a:pt x="511096" y="219090"/>
                </a:lnTo>
                <a:lnTo>
                  <a:pt x="558597" y="235521"/>
                </a:lnTo>
                <a:lnTo>
                  <a:pt x="606300" y="251359"/>
                </a:lnTo>
                <a:close/>
              </a:path>
            </a:pathLst>
          </a:custGeom>
          <a:solidFill xmlns:a="http://schemas.openxmlformats.org/drawingml/2006/main">
            <a:srgbClr val="BFDDE5"/>
          </a:solidFill>
          <a:ln xmlns:a="http://schemas.openxmlformats.org/drawingml/2006/main" w="0">
            <a:noFill/>
          </a:ln>
        </p:spPr>
      </p:sp>
      <p:sp>
        <p:nvSpPr>
          <p:cNvPr id="19" name="StochasticGradientSliding-guide-5000">
            <a:extLst xmlns:a="http://schemas.openxmlformats.org/drawingml/2006/main">
              <a:ext uri="{FF2B5EF4-FFF2-40B4-BE49-F238E27FC236}">
                <a16:creationId xmlns:a16="http://schemas.microsoft.com/office/drawing/2014/main" id="{4AD1E90F-2E54-4195-868B-5A0BD84C1410}"/>
              </a:ext>
            </a:extLst>
          </p:cNvPr>
          <p:cNvSpPr>
            <a:spLocks xmlns:a="http://schemas.openxmlformats.org/drawingml/2006/main" noGrp="1"/>
          </p:cNvSpPr>
          <p:nvPr/>
        </p:nvSpPr>
        <p:spPr>
          <a:xfrm xmlns:a="http://schemas.openxmlformats.org/drawingml/2006/main">
            <a:off x="4002040" y="8856172"/>
            <a:ext cx="454746" cy="310028"/>
          </a:xfrm>
          <a:custGeom xmlns:a="http://schemas.openxmlformats.org/drawingml/2006/main">
            <a:pathLst>
              <a:path w="454746" h="310028">
                <a:moveTo>
                  <a:pt x="450550" y="310028"/>
                </a:moveTo>
                <a:lnTo>
                  <a:pt x="414207" y="289327"/>
                </a:lnTo>
                <a:lnTo>
                  <a:pt x="378124" y="268173"/>
                </a:lnTo>
                <a:lnTo>
                  <a:pt x="342309" y="246573"/>
                </a:lnTo>
                <a:lnTo>
                  <a:pt x="306765" y="224527"/>
                </a:lnTo>
                <a:lnTo>
                  <a:pt x="271498" y="202040"/>
                </a:lnTo>
                <a:lnTo>
                  <a:pt x="236514" y="179116"/>
                </a:lnTo>
                <a:lnTo>
                  <a:pt x="201819" y="155758"/>
                </a:lnTo>
                <a:lnTo>
                  <a:pt x="167417" y="131969"/>
                </a:lnTo>
                <a:lnTo>
                  <a:pt x="133315" y="107754"/>
                </a:lnTo>
                <a:lnTo>
                  <a:pt x="99517" y="83115"/>
                </a:lnTo>
                <a:lnTo>
                  <a:pt x="66028" y="58058"/>
                </a:lnTo>
                <a:lnTo>
                  <a:pt x="32854" y="32585"/>
                </a:lnTo>
                <a:lnTo>
                  <a:pt x="0" y="6701"/>
                </a:lnTo>
                <a:lnTo>
                  <a:pt x="5347" y="0"/>
                </a:lnTo>
                <a:lnTo>
                  <a:pt x="38117" y="25818"/>
                </a:lnTo>
                <a:lnTo>
                  <a:pt x="71206" y="51226"/>
                </a:lnTo>
                <a:lnTo>
                  <a:pt x="104609" y="76220"/>
                </a:lnTo>
                <a:lnTo>
                  <a:pt x="138321" y="100795"/>
                </a:lnTo>
                <a:lnTo>
                  <a:pt x="172337" y="124949"/>
                </a:lnTo>
                <a:lnTo>
                  <a:pt x="206651" y="148677"/>
                </a:lnTo>
                <a:lnTo>
                  <a:pt x="241257" y="171975"/>
                </a:lnTo>
                <a:lnTo>
                  <a:pt x="276152" y="194841"/>
                </a:lnTo>
                <a:lnTo>
                  <a:pt x="311328" y="217270"/>
                </a:lnTo>
                <a:lnTo>
                  <a:pt x="346782" y="239260"/>
                </a:lnTo>
                <a:lnTo>
                  <a:pt x="382506" y="260805"/>
                </a:lnTo>
                <a:lnTo>
                  <a:pt x="418496" y="281904"/>
                </a:lnTo>
                <a:lnTo>
                  <a:pt x="454746" y="302553"/>
                </a:lnTo>
                <a:close/>
              </a:path>
            </a:pathLst>
          </a:custGeom>
          <a:solidFill xmlns:a="http://schemas.openxmlformats.org/drawingml/2006/main">
            <a:srgbClr val="C2D1D5"/>
          </a:solidFill>
          <a:ln xmlns:a="http://schemas.openxmlformats.org/drawingml/2006/main" w="0">
            <a:noFill/>
          </a:ln>
        </p:spPr>
      </p:sp>
      <p:sp>
        <p:nvSpPr>
          <p:cNvPr id="20" name="StochasticGradientSliding-guide-20000">
            <a:extLst xmlns:a="http://schemas.openxmlformats.org/drawingml/2006/main">
              <a:ext uri="{FF2B5EF4-FFF2-40B4-BE49-F238E27FC236}">
                <a16:creationId xmlns:a16="http://schemas.microsoft.com/office/drawing/2014/main" id="{48AC5819-5DB1-41AD-9FB0-E4162023F5D7}"/>
              </a:ext>
            </a:extLst>
          </p:cNvPr>
          <p:cNvSpPr>
            <a:spLocks xmlns:a="http://schemas.openxmlformats.org/drawingml/2006/main" noGrp="1"/>
          </p:cNvSpPr>
          <p:nvPr/>
        </p:nvSpPr>
        <p:spPr>
          <a:xfrm xmlns:a="http://schemas.openxmlformats.org/drawingml/2006/main">
            <a:off x="3574277" y="9392213"/>
            <a:ext cx="546786" cy="371993"/>
          </a:xfrm>
          <a:custGeom xmlns:a="http://schemas.openxmlformats.org/drawingml/2006/main">
            <a:pathLst>
              <a:path w="546786" h="371993">
                <a:moveTo>
                  <a:pt x="542590" y="371993"/>
                </a:moveTo>
                <a:lnTo>
                  <a:pt x="498823" y="347063"/>
                </a:lnTo>
                <a:lnTo>
                  <a:pt x="455369" y="321588"/>
                </a:lnTo>
                <a:lnTo>
                  <a:pt x="412237" y="295575"/>
                </a:lnTo>
                <a:lnTo>
                  <a:pt x="369432" y="269026"/>
                </a:lnTo>
                <a:lnTo>
                  <a:pt x="326961" y="241945"/>
                </a:lnTo>
                <a:lnTo>
                  <a:pt x="284831" y="214338"/>
                </a:lnTo>
                <a:lnTo>
                  <a:pt x="243048" y="186208"/>
                </a:lnTo>
                <a:lnTo>
                  <a:pt x="201618" y="157560"/>
                </a:lnTo>
                <a:lnTo>
                  <a:pt x="160549" y="128397"/>
                </a:lnTo>
                <a:lnTo>
                  <a:pt x="119846" y="98726"/>
                </a:lnTo>
                <a:lnTo>
                  <a:pt x="79516" y="68549"/>
                </a:lnTo>
                <a:lnTo>
                  <a:pt x="39566" y="37873"/>
                </a:lnTo>
                <a:lnTo>
                  <a:pt x="0" y="6701"/>
                </a:lnTo>
                <a:lnTo>
                  <a:pt x="5347" y="0"/>
                </a:lnTo>
                <a:lnTo>
                  <a:pt x="44829" y="31106"/>
                </a:lnTo>
                <a:lnTo>
                  <a:pt x="84695" y="61717"/>
                </a:lnTo>
                <a:lnTo>
                  <a:pt x="124939" y="91830"/>
                </a:lnTo>
                <a:lnTo>
                  <a:pt x="165556" y="121439"/>
                </a:lnTo>
                <a:lnTo>
                  <a:pt x="206538" y="150539"/>
                </a:lnTo>
                <a:lnTo>
                  <a:pt x="247879" y="179127"/>
                </a:lnTo>
                <a:lnTo>
                  <a:pt x="289574" y="207197"/>
                </a:lnTo>
                <a:lnTo>
                  <a:pt x="331615" y="234746"/>
                </a:lnTo>
                <a:lnTo>
                  <a:pt x="373996" y="261769"/>
                </a:lnTo>
                <a:lnTo>
                  <a:pt x="416710" y="288262"/>
                </a:lnTo>
                <a:lnTo>
                  <a:pt x="459751" y="314220"/>
                </a:lnTo>
                <a:lnTo>
                  <a:pt x="503112" y="339640"/>
                </a:lnTo>
                <a:lnTo>
                  <a:pt x="546786" y="364518"/>
                </a:lnTo>
                <a:close/>
              </a:path>
            </a:pathLst>
          </a:custGeom>
          <a:solidFill xmlns:a="http://schemas.openxmlformats.org/drawingml/2006/main">
            <a:srgbClr val="C2D1D5"/>
          </a:solidFill>
          <a:ln xmlns:a="http://schemas.openxmlformats.org/drawingml/2006/main" w="0">
            <a:noFill/>
          </a:ln>
        </p:spPr>
      </p:sp>
      <p:sp>
        <p:nvSpPr>
          <p:cNvPr id="21" name="Lion-guide-5000">
            <a:extLst xmlns:a="http://schemas.openxmlformats.org/drawingml/2006/main">
              <a:ext uri="{FF2B5EF4-FFF2-40B4-BE49-F238E27FC236}">
                <a16:creationId xmlns:a16="http://schemas.microsoft.com/office/drawing/2014/main" id="{6AEEDCE7-C84F-457A-86AF-453C68A256C1}"/>
              </a:ext>
            </a:extLst>
          </p:cNvPr>
          <p:cNvSpPr>
            <a:spLocks xmlns:a="http://schemas.openxmlformats.org/drawingml/2006/main" noGrp="1"/>
          </p:cNvSpPr>
          <p:nvPr/>
        </p:nvSpPr>
        <p:spPr>
          <a:xfrm xmlns:a="http://schemas.openxmlformats.org/drawingml/2006/main">
            <a:off x="3002675" y="7539910"/>
            <a:ext cx="238973" cy="454224"/>
          </a:xfrm>
          <a:custGeom xmlns:a="http://schemas.openxmlformats.org/drawingml/2006/main">
            <a:pathLst>
              <a:path w="238973" h="454224">
                <a:moveTo>
                  <a:pt x="231665" y="454224"/>
                </a:moveTo>
                <a:lnTo>
                  <a:pt x="209785" y="418042"/>
                </a:lnTo>
                <a:lnTo>
                  <a:pt x="188362" y="381587"/>
                </a:lnTo>
                <a:lnTo>
                  <a:pt x="167399" y="344865"/>
                </a:lnTo>
                <a:lnTo>
                  <a:pt x="146901" y="307882"/>
                </a:lnTo>
                <a:lnTo>
                  <a:pt x="126870" y="270644"/>
                </a:lnTo>
                <a:lnTo>
                  <a:pt x="107310" y="233156"/>
                </a:lnTo>
                <a:lnTo>
                  <a:pt x="88223" y="195425"/>
                </a:lnTo>
                <a:lnTo>
                  <a:pt x="69614" y="157457"/>
                </a:lnTo>
                <a:lnTo>
                  <a:pt x="51484" y="119257"/>
                </a:lnTo>
                <a:lnTo>
                  <a:pt x="33836" y="80832"/>
                </a:lnTo>
                <a:lnTo>
                  <a:pt x="16674" y="42188"/>
                </a:lnTo>
                <a:lnTo>
                  <a:pt x="0" y="3331"/>
                </a:lnTo>
                <a:lnTo>
                  <a:pt x="7899" y="0"/>
                </a:lnTo>
                <a:lnTo>
                  <a:pt x="24530" y="38758"/>
                </a:lnTo>
                <a:lnTo>
                  <a:pt x="41649" y="77304"/>
                </a:lnTo>
                <a:lnTo>
                  <a:pt x="59251" y="115631"/>
                </a:lnTo>
                <a:lnTo>
                  <a:pt x="77335" y="153733"/>
                </a:lnTo>
                <a:lnTo>
                  <a:pt x="95897" y="191604"/>
                </a:lnTo>
                <a:lnTo>
                  <a:pt x="114935" y="229239"/>
                </a:lnTo>
                <a:lnTo>
                  <a:pt x="134445" y="266631"/>
                </a:lnTo>
                <a:lnTo>
                  <a:pt x="154425" y="303774"/>
                </a:lnTo>
                <a:lnTo>
                  <a:pt x="174871" y="340662"/>
                </a:lnTo>
                <a:lnTo>
                  <a:pt x="195779" y="377290"/>
                </a:lnTo>
                <a:lnTo>
                  <a:pt x="217148" y="413652"/>
                </a:lnTo>
                <a:lnTo>
                  <a:pt x="238973" y="449742"/>
                </a:lnTo>
                <a:close/>
              </a:path>
            </a:pathLst>
          </a:custGeom>
          <a:solidFill xmlns:a="http://schemas.openxmlformats.org/drawingml/2006/main">
            <a:srgbClr val="C9D8F0"/>
          </a:solidFill>
          <a:ln xmlns:a="http://schemas.openxmlformats.org/drawingml/2006/main" w="0">
            <a:noFill/>
          </a:ln>
        </p:spPr>
      </p:sp>
      <p:sp>
        <p:nvSpPr>
          <p:cNvPr id="22" name="PAGE-guide-5000">
            <a:extLst xmlns:a="http://schemas.openxmlformats.org/drawingml/2006/main">
              <a:ext uri="{FF2B5EF4-FFF2-40B4-BE49-F238E27FC236}">
                <a16:creationId xmlns:a16="http://schemas.microsoft.com/office/drawing/2014/main" id="{08396935-39F6-4364-ACC7-DDB468F9DBBB}"/>
              </a:ext>
            </a:extLst>
          </p:cNvPr>
          <p:cNvSpPr>
            <a:spLocks xmlns:a="http://schemas.openxmlformats.org/drawingml/2006/main" noGrp="1"/>
          </p:cNvSpPr>
          <p:nvPr/>
        </p:nvSpPr>
        <p:spPr>
          <a:xfrm xmlns:a="http://schemas.openxmlformats.org/drawingml/2006/main">
            <a:off x="2849189" y="7090071"/>
            <a:ext cx="173378" cy="481325"/>
          </a:xfrm>
          <a:custGeom xmlns:a="http://schemas.openxmlformats.org/drawingml/2006/main">
            <a:pathLst>
              <a:path w="173378" h="481325">
                <a:moveTo>
                  <a:pt x="165509" y="481325"/>
                </a:moveTo>
                <a:lnTo>
                  <a:pt x="148970" y="442409"/>
                </a:lnTo>
                <a:lnTo>
                  <a:pt x="132923" y="403289"/>
                </a:lnTo>
                <a:lnTo>
                  <a:pt x="117370" y="363970"/>
                </a:lnTo>
                <a:lnTo>
                  <a:pt x="102313" y="324458"/>
                </a:lnTo>
                <a:lnTo>
                  <a:pt x="87755" y="284759"/>
                </a:lnTo>
                <a:lnTo>
                  <a:pt x="73698" y="244880"/>
                </a:lnTo>
                <a:lnTo>
                  <a:pt x="60144" y="204828"/>
                </a:lnTo>
                <a:lnTo>
                  <a:pt x="47096" y="164607"/>
                </a:lnTo>
                <a:lnTo>
                  <a:pt x="34556" y="124226"/>
                </a:lnTo>
                <a:lnTo>
                  <a:pt x="22525" y="83690"/>
                </a:lnTo>
                <a:lnTo>
                  <a:pt x="11006" y="43005"/>
                </a:lnTo>
                <a:lnTo>
                  <a:pt x="0" y="2179"/>
                </a:lnTo>
                <a:lnTo>
                  <a:pt x="8291" y="0"/>
                </a:lnTo>
                <a:lnTo>
                  <a:pt x="19269" y="40722"/>
                </a:lnTo>
                <a:lnTo>
                  <a:pt x="30759" y="81303"/>
                </a:lnTo>
                <a:lnTo>
                  <a:pt x="42759" y="121735"/>
                </a:lnTo>
                <a:lnTo>
                  <a:pt x="55267" y="162013"/>
                </a:lnTo>
                <a:lnTo>
                  <a:pt x="68282" y="202131"/>
                </a:lnTo>
                <a:lnTo>
                  <a:pt x="81800" y="242081"/>
                </a:lnTo>
                <a:lnTo>
                  <a:pt x="95822" y="281858"/>
                </a:lnTo>
                <a:lnTo>
                  <a:pt x="110342" y="321456"/>
                </a:lnTo>
                <a:lnTo>
                  <a:pt x="125361" y="360867"/>
                </a:lnTo>
                <a:lnTo>
                  <a:pt x="140875" y="400086"/>
                </a:lnTo>
                <a:lnTo>
                  <a:pt x="156881" y="439106"/>
                </a:lnTo>
                <a:lnTo>
                  <a:pt x="173378" y="477922"/>
                </a:lnTo>
                <a:close/>
              </a:path>
            </a:pathLst>
          </a:custGeom>
          <a:solidFill xmlns:a="http://schemas.openxmlformats.org/drawingml/2006/main">
            <a:srgbClr val="CFD3ED"/>
          </a:solidFill>
          <a:ln xmlns:a="http://schemas.openxmlformats.org/drawingml/2006/main" w="0">
            <a:noFill/>
          </a:ln>
        </p:spPr>
      </p:sp>
      <p:sp>
        <p:nvSpPr>
          <p:cNvPr id="23" name="AMSGrad-guide-5000">
            <a:extLst xmlns:a="http://schemas.openxmlformats.org/drawingml/2006/main">
              <a:ext uri="{FF2B5EF4-FFF2-40B4-BE49-F238E27FC236}">
                <a16:creationId xmlns:a16="http://schemas.microsoft.com/office/drawing/2014/main" id="{CE4B938C-D6AB-4CD2-95B4-4EC1B875D124}"/>
              </a:ext>
            </a:extLst>
          </p:cNvPr>
          <p:cNvSpPr>
            <a:spLocks xmlns:a="http://schemas.openxmlformats.org/drawingml/2006/main" noGrp="1"/>
          </p:cNvSpPr>
          <p:nvPr/>
        </p:nvSpPr>
        <p:spPr>
          <a:xfrm xmlns:a="http://schemas.openxmlformats.org/drawingml/2006/main">
            <a:off x="2761086" y="6623090"/>
            <a:ext cx="104291" cy="498732"/>
          </a:xfrm>
          <a:custGeom xmlns:a="http://schemas.openxmlformats.org/drawingml/2006/main">
            <a:pathLst>
              <a:path w="104291" h="498732">
                <a:moveTo>
                  <a:pt x="96020" y="498732"/>
                </a:moveTo>
                <a:lnTo>
                  <a:pt x="85156" y="457868"/>
                </a:lnTo>
                <a:lnTo>
                  <a:pt x="74808" y="416870"/>
                </a:lnTo>
                <a:lnTo>
                  <a:pt x="64977" y="375745"/>
                </a:lnTo>
                <a:lnTo>
                  <a:pt x="55664" y="334500"/>
                </a:lnTo>
                <a:lnTo>
                  <a:pt x="46872" y="293140"/>
                </a:lnTo>
                <a:lnTo>
                  <a:pt x="38602" y="251673"/>
                </a:lnTo>
                <a:lnTo>
                  <a:pt x="30854" y="210105"/>
                </a:lnTo>
                <a:lnTo>
                  <a:pt x="23630" y="168443"/>
                </a:lnTo>
                <a:lnTo>
                  <a:pt x="16932" y="126693"/>
                </a:lnTo>
                <a:lnTo>
                  <a:pt x="10761" y="84862"/>
                </a:lnTo>
                <a:lnTo>
                  <a:pt x="5116" y="42957"/>
                </a:lnTo>
                <a:lnTo>
                  <a:pt x="0" y="984"/>
                </a:lnTo>
                <a:lnTo>
                  <a:pt x="8516" y="0"/>
                </a:lnTo>
                <a:lnTo>
                  <a:pt x="13619" y="41866"/>
                </a:lnTo>
                <a:lnTo>
                  <a:pt x="19249" y="83664"/>
                </a:lnTo>
                <a:lnTo>
                  <a:pt x="25405" y="125388"/>
                </a:lnTo>
                <a:lnTo>
                  <a:pt x="32086" y="167032"/>
                </a:lnTo>
                <a:lnTo>
                  <a:pt x="39291" y="208587"/>
                </a:lnTo>
                <a:lnTo>
                  <a:pt x="47019" y="250049"/>
                </a:lnTo>
                <a:lnTo>
                  <a:pt x="55268" y="291410"/>
                </a:lnTo>
                <a:lnTo>
                  <a:pt x="64038" y="332664"/>
                </a:lnTo>
                <a:lnTo>
                  <a:pt x="73327" y="373805"/>
                </a:lnTo>
                <a:lnTo>
                  <a:pt x="83133" y="414824"/>
                </a:lnTo>
                <a:lnTo>
                  <a:pt x="93455" y="455718"/>
                </a:lnTo>
                <a:lnTo>
                  <a:pt x="104291" y="496478"/>
                </a:lnTo>
                <a:close/>
              </a:path>
            </a:pathLst>
          </a:custGeom>
          <a:solidFill xmlns:a="http://schemas.openxmlformats.org/drawingml/2006/main">
            <a:srgbClr val="DBCFEA"/>
          </a:solidFill>
          <a:ln xmlns:a="http://schemas.openxmlformats.org/drawingml/2006/main" w="0">
            <a:noFill/>
          </a:ln>
        </p:spPr>
      </p:sp>
      <p:sp>
        <p:nvSpPr>
          <p:cNvPr id="24" name="SPIDER-guide-5000">
            <a:extLst xmlns:a="http://schemas.openxmlformats.org/drawingml/2006/main">
              <a:ext uri="{FF2B5EF4-FFF2-40B4-BE49-F238E27FC236}">
                <a16:creationId xmlns:a16="http://schemas.microsoft.com/office/drawing/2014/main" id="{0C05987D-2E4E-40CC-9D83-C94955011014}"/>
              </a:ext>
            </a:extLst>
          </p:cNvPr>
          <p:cNvSpPr>
            <a:spLocks xmlns:a="http://schemas.openxmlformats.org/drawingml/2006/main" noGrp="1"/>
          </p:cNvSpPr>
          <p:nvPr/>
        </p:nvSpPr>
        <p:spPr>
          <a:xfrm xmlns:a="http://schemas.openxmlformats.org/drawingml/2006/main">
            <a:off x="2738919" y="6148141"/>
            <a:ext cx="34325" cy="506329"/>
          </a:xfrm>
          <a:custGeom xmlns:a="http://schemas.openxmlformats.org/drawingml/2006/main">
            <a:pathLst>
              <a:path w="34325" h="506329">
                <a:moveTo>
                  <a:pt x="25818" y="506329"/>
                </a:moveTo>
                <a:lnTo>
                  <a:pt x="20848" y="464338"/>
                </a:lnTo>
                <a:lnTo>
                  <a:pt x="16407" y="422288"/>
                </a:lnTo>
                <a:lnTo>
                  <a:pt x="12496" y="380186"/>
                </a:lnTo>
                <a:lnTo>
                  <a:pt x="9116" y="338037"/>
                </a:lnTo>
                <a:lnTo>
                  <a:pt x="6266" y="295849"/>
                </a:lnTo>
                <a:lnTo>
                  <a:pt x="3949" y="253629"/>
                </a:lnTo>
                <a:lnTo>
                  <a:pt x="2163" y="211383"/>
                </a:lnTo>
                <a:lnTo>
                  <a:pt x="910" y="169118"/>
                </a:lnTo>
                <a:lnTo>
                  <a:pt x="188" y="126840"/>
                </a:lnTo>
                <a:lnTo>
                  <a:pt x="0" y="84557"/>
                </a:lnTo>
                <a:lnTo>
                  <a:pt x="344" y="42275"/>
                </a:lnTo>
                <a:lnTo>
                  <a:pt x="1221" y="0"/>
                </a:lnTo>
                <a:lnTo>
                  <a:pt x="9790" y="232"/>
                </a:lnTo>
                <a:lnTo>
                  <a:pt x="8916" y="42398"/>
                </a:lnTo>
                <a:lnTo>
                  <a:pt x="8572" y="84573"/>
                </a:lnTo>
                <a:lnTo>
                  <a:pt x="8760" y="126748"/>
                </a:lnTo>
                <a:lnTo>
                  <a:pt x="9480" y="168918"/>
                </a:lnTo>
                <a:lnTo>
                  <a:pt x="10730" y="211075"/>
                </a:lnTo>
                <a:lnTo>
                  <a:pt x="12511" y="253213"/>
                </a:lnTo>
                <a:lnTo>
                  <a:pt x="14823" y="295326"/>
                </a:lnTo>
                <a:lnTo>
                  <a:pt x="17665" y="337406"/>
                </a:lnTo>
                <a:lnTo>
                  <a:pt x="21037" y="379446"/>
                </a:lnTo>
                <a:lnTo>
                  <a:pt x="24938" y="421441"/>
                </a:lnTo>
                <a:lnTo>
                  <a:pt x="29367" y="463384"/>
                </a:lnTo>
                <a:lnTo>
                  <a:pt x="34325" y="505267"/>
                </a:lnTo>
                <a:close/>
              </a:path>
            </a:pathLst>
          </a:custGeom>
          <a:solidFill xmlns:a="http://schemas.openxmlformats.org/drawingml/2006/main">
            <a:srgbClr val="D3CFEA"/>
          </a:solidFill>
          <a:ln xmlns:a="http://schemas.openxmlformats.org/drawingml/2006/main" w="0">
            <a:noFill/>
          </a:ln>
        </p:spPr>
      </p:sp>
      <p:sp>
        <p:nvSpPr>
          <p:cNvPr id="25" name="MARS-guide-5000">
            <a:extLst xmlns:a="http://schemas.openxmlformats.org/drawingml/2006/main">
              <a:ext uri="{FF2B5EF4-FFF2-40B4-BE49-F238E27FC236}">
                <a16:creationId xmlns:a16="http://schemas.microsoft.com/office/drawing/2014/main" id="{D7290303-8098-4FD9-BC06-882826DD8B24}"/>
              </a:ext>
            </a:extLst>
          </p:cNvPr>
          <p:cNvSpPr>
            <a:spLocks xmlns:a="http://schemas.openxmlformats.org/drawingml/2006/main" noGrp="1"/>
          </p:cNvSpPr>
          <p:nvPr/>
        </p:nvSpPr>
        <p:spPr>
          <a:xfrm xmlns:a="http://schemas.openxmlformats.org/drawingml/2006/main">
            <a:off x="2739452" y="5674036"/>
            <a:ext cx="55771" cy="504866"/>
          </a:xfrm>
          <a:custGeom xmlns:a="http://schemas.openxmlformats.org/drawingml/2006/main">
            <a:pathLst>
              <a:path w="55771" h="504866">
                <a:moveTo>
                  <a:pt x="0" y="504712"/>
                </a:moveTo>
                <a:lnTo>
                  <a:pt x="1024" y="462441"/>
                </a:lnTo>
                <a:lnTo>
                  <a:pt x="2579" y="420186"/>
                </a:lnTo>
                <a:lnTo>
                  <a:pt x="4667" y="377954"/>
                </a:lnTo>
                <a:lnTo>
                  <a:pt x="7287" y="335751"/>
                </a:lnTo>
                <a:lnTo>
                  <a:pt x="10438" y="293585"/>
                </a:lnTo>
                <a:lnTo>
                  <a:pt x="14120" y="251462"/>
                </a:lnTo>
                <a:lnTo>
                  <a:pt x="18332" y="209388"/>
                </a:lnTo>
                <a:lnTo>
                  <a:pt x="23074" y="167371"/>
                </a:lnTo>
                <a:lnTo>
                  <a:pt x="28345" y="125417"/>
                </a:lnTo>
                <a:lnTo>
                  <a:pt x="34143" y="83533"/>
                </a:lnTo>
                <a:lnTo>
                  <a:pt x="40469" y="41725"/>
                </a:lnTo>
                <a:lnTo>
                  <a:pt x="47321" y="0"/>
                </a:lnTo>
                <a:lnTo>
                  <a:pt x="55771" y="1442"/>
                </a:lnTo>
                <a:lnTo>
                  <a:pt x="48937" y="43061"/>
                </a:lnTo>
                <a:lnTo>
                  <a:pt x="42627" y="84762"/>
                </a:lnTo>
                <a:lnTo>
                  <a:pt x="36843" y="126539"/>
                </a:lnTo>
                <a:lnTo>
                  <a:pt x="31586" y="168386"/>
                </a:lnTo>
                <a:lnTo>
                  <a:pt x="26857" y="210296"/>
                </a:lnTo>
                <a:lnTo>
                  <a:pt x="22655" y="252262"/>
                </a:lnTo>
                <a:lnTo>
                  <a:pt x="18983" y="294277"/>
                </a:lnTo>
                <a:lnTo>
                  <a:pt x="15840" y="336336"/>
                </a:lnTo>
                <a:lnTo>
                  <a:pt x="13227" y="378431"/>
                </a:lnTo>
                <a:lnTo>
                  <a:pt x="11144" y="420555"/>
                </a:lnTo>
                <a:lnTo>
                  <a:pt x="9592" y="462702"/>
                </a:lnTo>
                <a:lnTo>
                  <a:pt x="8571" y="504866"/>
                </a:lnTo>
                <a:close/>
              </a:path>
            </a:pathLst>
          </a:custGeom>
          <a:solidFill xmlns:a="http://schemas.openxmlformats.org/drawingml/2006/main">
            <a:srgbClr val="DCD3EC"/>
          </a:solidFill>
          <a:ln xmlns:a="http://schemas.openxmlformats.org/drawingml/2006/main" w="0">
            <a:noFill/>
          </a:ln>
        </p:spPr>
      </p:sp>
      <p:sp>
        <p:nvSpPr>
          <p:cNvPr id="26" name="SAM-guide-5000">
            <a:extLst xmlns:a="http://schemas.openxmlformats.org/drawingml/2006/main">
              <a:ext uri="{FF2B5EF4-FFF2-40B4-BE49-F238E27FC236}">
                <a16:creationId xmlns:a16="http://schemas.microsoft.com/office/drawing/2014/main" id="{1E2C86F0-4E23-4E57-A6E3-00108A3A596D}"/>
              </a:ext>
            </a:extLst>
          </p:cNvPr>
          <p:cNvSpPr>
            <a:spLocks xmlns:a="http://schemas.openxmlformats.org/drawingml/2006/main" noGrp="1"/>
          </p:cNvSpPr>
          <p:nvPr/>
        </p:nvSpPr>
        <p:spPr>
          <a:xfrm xmlns:a="http://schemas.openxmlformats.org/drawingml/2006/main">
            <a:off x="2781759" y="5211305"/>
            <a:ext cx="126447" cy="494297"/>
          </a:xfrm>
          <a:custGeom xmlns:a="http://schemas.openxmlformats.org/drawingml/2006/main">
            <a:pathLst>
              <a:path w="126447" h="494297">
                <a:moveTo>
                  <a:pt x="0" y="492932"/>
                </a:moveTo>
                <a:lnTo>
                  <a:pt x="6997" y="451231"/>
                </a:lnTo>
                <a:lnTo>
                  <a:pt x="14518" y="409622"/>
                </a:lnTo>
                <a:lnTo>
                  <a:pt x="22563" y="368110"/>
                </a:lnTo>
                <a:lnTo>
                  <a:pt x="31130" y="326704"/>
                </a:lnTo>
                <a:lnTo>
                  <a:pt x="40218" y="285408"/>
                </a:lnTo>
                <a:lnTo>
                  <a:pt x="49825" y="244230"/>
                </a:lnTo>
                <a:lnTo>
                  <a:pt x="59951" y="203177"/>
                </a:lnTo>
                <a:lnTo>
                  <a:pt x="70592" y="162254"/>
                </a:lnTo>
                <a:lnTo>
                  <a:pt x="81748" y="121468"/>
                </a:lnTo>
                <a:lnTo>
                  <a:pt x="93417" y="80827"/>
                </a:lnTo>
                <a:lnTo>
                  <a:pt x="105597" y="40335"/>
                </a:lnTo>
                <a:lnTo>
                  <a:pt x="118286" y="0"/>
                </a:lnTo>
                <a:lnTo>
                  <a:pt x="126447" y="2624"/>
                </a:lnTo>
                <a:lnTo>
                  <a:pt x="113790" y="42856"/>
                </a:lnTo>
                <a:lnTo>
                  <a:pt x="101642" y="83244"/>
                </a:lnTo>
                <a:lnTo>
                  <a:pt x="90002" y="123782"/>
                </a:lnTo>
                <a:lnTo>
                  <a:pt x="78875" y="164463"/>
                </a:lnTo>
                <a:lnTo>
                  <a:pt x="68261" y="205282"/>
                </a:lnTo>
                <a:lnTo>
                  <a:pt x="58161" y="246231"/>
                </a:lnTo>
                <a:lnTo>
                  <a:pt x="48578" y="287303"/>
                </a:lnTo>
                <a:lnTo>
                  <a:pt x="39514" y="328493"/>
                </a:lnTo>
                <a:lnTo>
                  <a:pt x="30968" y="369794"/>
                </a:lnTo>
                <a:lnTo>
                  <a:pt x="22944" y="411200"/>
                </a:lnTo>
                <a:lnTo>
                  <a:pt x="15442" y="452703"/>
                </a:lnTo>
                <a:lnTo>
                  <a:pt x="8463" y="494297"/>
                </a:lnTo>
                <a:close/>
              </a:path>
            </a:pathLst>
          </a:custGeom>
          <a:solidFill xmlns:a="http://schemas.openxmlformats.org/drawingml/2006/main">
            <a:srgbClr val="CFD9EB"/>
          </a:solidFill>
          <a:ln xmlns:a="http://schemas.openxmlformats.org/drawingml/2006/main" w="0">
            <a:noFill/>
          </a:ln>
        </p:spPr>
      </p:sp>
      <p:sp>
        <p:nvSpPr>
          <p:cNvPr id="27" name="StochasticRecursiveMomentum-guide-5000">
            <a:extLst xmlns:a="http://schemas.openxmlformats.org/drawingml/2006/main">
              <a:ext uri="{FF2B5EF4-FFF2-40B4-BE49-F238E27FC236}">
                <a16:creationId xmlns:a16="http://schemas.microsoft.com/office/drawing/2014/main" id="{D00EFD68-943C-4162-8544-ED205735300C}"/>
              </a:ext>
            </a:extLst>
          </p:cNvPr>
          <p:cNvSpPr>
            <a:spLocks xmlns:a="http://schemas.openxmlformats.org/drawingml/2006/main" noGrp="1"/>
          </p:cNvSpPr>
          <p:nvPr/>
        </p:nvSpPr>
        <p:spPr>
          <a:xfrm xmlns:a="http://schemas.openxmlformats.org/drawingml/2006/main">
            <a:off x="2890807" y="4769266"/>
            <a:ext cx="194576" cy="473775"/>
          </a:xfrm>
          <a:custGeom xmlns:a="http://schemas.openxmlformats.org/drawingml/2006/main">
            <a:pathLst>
              <a:path w="194576" h="473775">
                <a:moveTo>
                  <a:pt x="0" y="471226"/>
                </a:moveTo>
                <a:lnTo>
                  <a:pt x="12829" y="430935"/>
                </a:lnTo>
                <a:lnTo>
                  <a:pt x="26164" y="390809"/>
                </a:lnTo>
                <a:lnTo>
                  <a:pt x="40004" y="350855"/>
                </a:lnTo>
                <a:lnTo>
                  <a:pt x="54346" y="311077"/>
                </a:lnTo>
                <a:lnTo>
                  <a:pt x="69188" y="271484"/>
                </a:lnTo>
                <a:lnTo>
                  <a:pt x="84527" y="232081"/>
                </a:lnTo>
                <a:lnTo>
                  <a:pt x="100362" y="192874"/>
                </a:lnTo>
                <a:lnTo>
                  <a:pt x="116688" y="153869"/>
                </a:lnTo>
                <a:lnTo>
                  <a:pt x="133505" y="115073"/>
                </a:lnTo>
                <a:lnTo>
                  <a:pt x="150810" y="76493"/>
                </a:lnTo>
                <a:lnTo>
                  <a:pt x="168598" y="38133"/>
                </a:lnTo>
                <a:lnTo>
                  <a:pt x="186869" y="0"/>
                </a:lnTo>
                <a:lnTo>
                  <a:pt x="194576" y="3753"/>
                </a:lnTo>
                <a:lnTo>
                  <a:pt x="176352" y="41788"/>
                </a:lnTo>
                <a:lnTo>
                  <a:pt x="158609" y="80050"/>
                </a:lnTo>
                <a:lnTo>
                  <a:pt x="141349" y="118532"/>
                </a:lnTo>
                <a:lnTo>
                  <a:pt x="124575" y="157229"/>
                </a:lnTo>
                <a:lnTo>
                  <a:pt x="108290" y="196134"/>
                </a:lnTo>
                <a:lnTo>
                  <a:pt x="92496" y="235241"/>
                </a:lnTo>
                <a:lnTo>
                  <a:pt x="77196" y="274543"/>
                </a:lnTo>
                <a:lnTo>
                  <a:pt x="62392" y="314036"/>
                </a:lnTo>
                <a:lnTo>
                  <a:pt x="48087" y="353711"/>
                </a:lnTo>
                <a:lnTo>
                  <a:pt x="34282" y="393564"/>
                </a:lnTo>
                <a:lnTo>
                  <a:pt x="20981" y="433587"/>
                </a:lnTo>
                <a:lnTo>
                  <a:pt x="8185" y="473775"/>
                </a:lnTo>
                <a:close/>
              </a:path>
            </a:pathLst>
          </a:custGeom>
          <a:solidFill xmlns:a="http://schemas.openxmlformats.org/drawingml/2006/main">
            <a:srgbClr val="C9D1E2"/>
          </a:solidFill>
          <a:ln xmlns:a="http://schemas.openxmlformats.org/drawingml/2006/main" w="0">
            <a:noFill/>
          </a:ln>
        </p:spPr>
      </p:sp>
      <p:sp>
        <p:nvSpPr>
          <p:cNvPr id="28" name="RCDGD-guide-5000">
            <a:extLst xmlns:a="http://schemas.openxmlformats.org/drawingml/2006/main">
              <a:ext uri="{FF2B5EF4-FFF2-40B4-BE49-F238E27FC236}">
                <a16:creationId xmlns:a16="http://schemas.microsoft.com/office/drawing/2014/main" id="{C594C098-0385-43BA-880F-C85536976320}"/>
              </a:ext>
            </a:extLst>
          </p:cNvPr>
          <p:cNvSpPr>
            <a:spLocks xmlns:a="http://schemas.openxmlformats.org/drawingml/2006/main" noGrp="1"/>
          </p:cNvSpPr>
          <p:nvPr/>
        </p:nvSpPr>
        <p:spPr>
          <a:xfrm xmlns:a="http://schemas.openxmlformats.org/drawingml/2006/main">
            <a:off x="3293344" y="3936524"/>
            <a:ext cx="365699" cy="459059"/>
          </a:xfrm>
          <a:custGeom xmlns:a="http://schemas.openxmlformats.org/drawingml/2006/main">
            <a:pathLst>
              <a:path w="365699" h="459059">
                <a:moveTo>
                  <a:pt x="0" y="454340"/>
                </a:moveTo>
                <a:lnTo>
                  <a:pt x="23021" y="419891"/>
                </a:lnTo>
                <a:lnTo>
                  <a:pt x="46465" y="385729"/>
                </a:lnTo>
                <a:lnTo>
                  <a:pt x="70330" y="351859"/>
                </a:lnTo>
                <a:lnTo>
                  <a:pt x="94610" y="318287"/>
                </a:lnTo>
                <a:lnTo>
                  <a:pt x="119303" y="285016"/>
                </a:lnTo>
                <a:lnTo>
                  <a:pt x="144404" y="252052"/>
                </a:lnTo>
                <a:lnTo>
                  <a:pt x="169911" y="219401"/>
                </a:lnTo>
                <a:lnTo>
                  <a:pt x="195819" y="187068"/>
                </a:lnTo>
                <a:lnTo>
                  <a:pt x="222123" y="155056"/>
                </a:lnTo>
                <a:lnTo>
                  <a:pt x="248821" y="123371"/>
                </a:lnTo>
                <a:lnTo>
                  <a:pt x="275908" y="92019"/>
                </a:lnTo>
                <a:lnTo>
                  <a:pt x="303379" y="61003"/>
                </a:lnTo>
                <a:lnTo>
                  <a:pt x="331232" y="30328"/>
                </a:lnTo>
                <a:lnTo>
                  <a:pt x="359460" y="0"/>
                </a:lnTo>
                <a:lnTo>
                  <a:pt x="365699" y="5879"/>
                </a:lnTo>
                <a:lnTo>
                  <a:pt x="337543" y="36130"/>
                </a:lnTo>
                <a:lnTo>
                  <a:pt x="309761" y="66726"/>
                </a:lnTo>
                <a:lnTo>
                  <a:pt x="282360" y="97663"/>
                </a:lnTo>
                <a:lnTo>
                  <a:pt x="255342" y="128936"/>
                </a:lnTo>
                <a:lnTo>
                  <a:pt x="228713" y="160539"/>
                </a:lnTo>
                <a:lnTo>
                  <a:pt x="202475" y="192469"/>
                </a:lnTo>
                <a:lnTo>
                  <a:pt x="176634" y="224720"/>
                </a:lnTo>
                <a:lnTo>
                  <a:pt x="151192" y="257288"/>
                </a:lnTo>
                <a:lnTo>
                  <a:pt x="126155" y="290167"/>
                </a:lnTo>
                <a:lnTo>
                  <a:pt x="101525" y="323353"/>
                </a:lnTo>
                <a:lnTo>
                  <a:pt x="77307" y="356840"/>
                </a:lnTo>
                <a:lnTo>
                  <a:pt x="53503" y="390624"/>
                </a:lnTo>
                <a:lnTo>
                  <a:pt x="30119" y="424698"/>
                </a:lnTo>
                <a:lnTo>
                  <a:pt x="7157" y="459059"/>
                </a:lnTo>
                <a:close/>
              </a:path>
            </a:pathLst>
          </a:custGeom>
          <a:solidFill xmlns:a="http://schemas.openxmlformats.org/drawingml/2006/main">
            <a:srgbClr val="EFD9CA"/>
          </a:solidFill>
          <a:ln xmlns:a="http://schemas.openxmlformats.org/drawingml/2006/main" w="0">
            <a:noFill/>
          </a:ln>
        </p:spPr>
      </p:sp>
      <p:sp>
        <p:nvSpPr>
          <p:cNvPr id="29" name="HeavyBallSecondRiddle-guide-5000">
            <a:extLst xmlns:a="http://schemas.openxmlformats.org/drawingml/2006/main">
              <a:ext uri="{FF2B5EF4-FFF2-40B4-BE49-F238E27FC236}">
                <a16:creationId xmlns:a16="http://schemas.microsoft.com/office/drawing/2014/main" id="{553B43E4-8407-47A6-9F54-C372E956FF0C}"/>
              </a:ext>
            </a:extLst>
          </p:cNvPr>
          <p:cNvSpPr>
            <a:spLocks xmlns:a="http://schemas.openxmlformats.org/drawingml/2006/main" noGrp="1"/>
          </p:cNvSpPr>
          <p:nvPr/>
        </p:nvSpPr>
        <p:spPr>
          <a:xfrm xmlns:a="http://schemas.openxmlformats.org/drawingml/2006/main">
            <a:off x="3709785" y="3502421"/>
            <a:ext cx="446484" cy="381127"/>
          </a:xfrm>
          <a:custGeom xmlns:a="http://schemas.openxmlformats.org/drawingml/2006/main">
            <a:pathLst>
              <a:path w="446484" h="381127">
                <a:moveTo>
                  <a:pt x="0" y="375098"/>
                </a:moveTo>
                <a:lnTo>
                  <a:pt x="29325" y="345828"/>
                </a:lnTo>
                <a:lnTo>
                  <a:pt x="59009" y="316922"/>
                </a:lnTo>
                <a:lnTo>
                  <a:pt x="89047" y="288384"/>
                </a:lnTo>
                <a:lnTo>
                  <a:pt x="119435" y="260220"/>
                </a:lnTo>
                <a:lnTo>
                  <a:pt x="150169" y="232433"/>
                </a:lnTo>
                <a:lnTo>
                  <a:pt x="181243" y="205027"/>
                </a:lnTo>
                <a:lnTo>
                  <a:pt x="212653" y="178007"/>
                </a:lnTo>
                <a:lnTo>
                  <a:pt x="244394" y="151376"/>
                </a:lnTo>
                <a:lnTo>
                  <a:pt x="276461" y="125140"/>
                </a:lnTo>
                <a:lnTo>
                  <a:pt x="308850" y="99301"/>
                </a:lnTo>
                <a:lnTo>
                  <a:pt x="341555" y="73863"/>
                </a:lnTo>
                <a:lnTo>
                  <a:pt x="374571" y="48832"/>
                </a:lnTo>
                <a:lnTo>
                  <a:pt x="407894" y="24209"/>
                </a:lnTo>
                <a:lnTo>
                  <a:pt x="441518" y="0"/>
                </a:lnTo>
                <a:lnTo>
                  <a:pt x="446484" y="6988"/>
                </a:lnTo>
                <a:lnTo>
                  <a:pt x="412946" y="31135"/>
                </a:lnTo>
                <a:lnTo>
                  <a:pt x="379708" y="55695"/>
                </a:lnTo>
                <a:lnTo>
                  <a:pt x="346776" y="80662"/>
                </a:lnTo>
                <a:lnTo>
                  <a:pt x="314154" y="106035"/>
                </a:lnTo>
                <a:lnTo>
                  <a:pt x="281848" y="131808"/>
                </a:lnTo>
                <a:lnTo>
                  <a:pt x="249863" y="157977"/>
                </a:lnTo>
                <a:lnTo>
                  <a:pt x="218203" y="184540"/>
                </a:lnTo>
                <a:lnTo>
                  <a:pt x="186873" y="211491"/>
                </a:lnTo>
                <a:lnTo>
                  <a:pt x="155878" y="238827"/>
                </a:lnTo>
                <a:lnTo>
                  <a:pt x="125223" y="266543"/>
                </a:lnTo>
                <a:lnTo>
                  <a:pt x="94913" y="294636"/>
                </a:lnTo>
                <a:lnTo>
                  <a:pt x="64951" y="323100"/>
                </a:lnTo>
                <a:lnTo>
                  <a:pt x="35343" y="351932"/>
                </a:lnTo>
                <a:lnTo>
                  <a:pt x="6093" y="381127"/>
                </a:lnTo>
                <a:close/>
              </a:path>
            </a:pathLst>
          </a:custGeom>
          <a:solidFill xmlns:a="http://schemas.openxmlformats.org/drawingml/2006/main">
            <a:srgbClr val="EDDCC3"/>
          </a:solidFill>
          <a:ln xmlns:a="http://schemas.openxmlformats.org/drawingml/2006/main" w="0">
            <a:noFill/>
          </a:ln>
        </p:spPr>
      </p:sp>
      <p:sp>
        <p:nvSpPr>
          <p:cNvPr id="30" name="TimeVaryingPushPull-guide-5000">
            <a:extLst xmlns:a="http://schemas.openxmlformats.org/drawingml/2006/main">
              <a:ext uri="{FF2B5EF4-FFF2-40B4-BE49-F238E27FC236}">
                <a16:creationId xmlns:a16="http://schemas.microsoft.com/office/drawing/2014/main" id="{C0403C36-151F-4DDE-A534-58D1943D5963}"/>
              </a:ext>
            </a:extLst>
          </p:cNvPr>
          <p:cNvSpPr>
            <a:spLocks xmlns:a="http://schemas.openxmlformats.org/drawingml/2006/main" noGrp="1"/>
          </p:cNvSpPr>
          <p:nvPr/>
        </p:nvSpPr>
        <p:spPr>
          <a:xfrm xmlns:a="http://schemas.openxmlformats.org/drawingml/2006/main">
            <a:off x="4218741" y="3174412"/>
            <a:ext cx="509959" cy="288419"/>
          </a:xfrm>
          <a:custGeom xmlns:a="http://schemas.openxmlformats.org/drawingml/2006/main">
            <a:pathLst>
              <a:path w="509959" h="288419">
                <a:moveTo>
                  <a:pt x="0" y="281312"/>
                </a:moveTo>
                <a:lnTo>
                  <a:pt x="34492" y="258356"/>
                </a:lnTo>
                <a:lnTo>
                  <a:pt x="69264" y="235827"/>
                </a:lnTo>
                <a:lnTo>
                  <a:pt x="104312" y="213729"/>
                </a:lnTo>
                <a:lnTo>
                  <a:pt x="139630" y="192065"/>
                </a:lnTo>
                <a:lnTo>
                  <a:pt x="175212" y="170838"/>
                </a:lnTo>
                <a:lnTo>
                  <a:pt x="211054" y="150052"/>
                </a:lnTo>
                <a:lnTo>
                  <a:pt x="247149" y="129711"/>
                </a:lnTo>
                <a:lnTo>
                  <a:pt x="283493" y="109816"/>
                </a:lnTo>
                <a:lnTo>
                  <a:pt x="320080" y="90371"/>
                </a:lnTo>
                <a:lnTo>
                  <a:pt x="356904" y="71380"/>
                </a:lnTo>
                <a:lnTo>
                  <a:pt x="393959" y="52844"/>
                </a:lnTo>
                <a:lnTo>
                  <a:pt x="431240" y="34767"/>
                </a:lnTo>
                <a:lnTo>
                  <a:pt x="468742" y="17151"/>
                </a:lnTo>
                <a:lnTo>
                  <a:pt x="506458" y="0"/>
                </a:lnTo>
                <a:lnTo>
                  <a:pt x="509959" y="7825"/>
                </a:lnTo>
                <a:lnTo>
                  <a:pt x="472339" y="24933"/>
                </a:lnTo>
                <a:lnTo>
                  <a:pt x="434933" y="42503"/>
                </a:lnTo>
                <a:lnTo>
                  <a:pt x="397747" y="60534"/>
                </a:lnTo>
                <a:lnTo>
                  <a:pt x="360786" y="79023"/>
                </a:lnTo>
                <a:lnTo>
                  <a:pt x="324056" y="97966"/>
                </a:lnTo>
                <a:lnTo>
                  <a:pt x="287563" y="117361"/>
                </a:lnTo>
                <a:lnTo>
                  <a:pt x="251312" y="137205"/>
                </a:lnTo>
                <a:lnTo>
                  <a:pt x="215309" y="157495"/>
                </a:lnTo>
                <a:lnTo>
                  <a:pt x="179558" y="178227"/>
                </a:lnTo>
                <a:lnTo>
                  <a:pt x="144067" y="199399"/>
                </a:lnTo>
                <a:lnTo>
                  <a:pt x="108839" y="221008"/>
                </a:lnTo>
                <a:lnTo>
                  <a:pt x="73881" y="243050"/>
                </a:lnTo>
                <a:lnTo>
                  <a:pt x="39197" y="265521"/>
                </a:lnTo>
                <a:lnTo>
                  <a:pt x="4794" y="288419"/>
                </a:lnTo>
                <a:close/>
              </a:path>
            </a:pathLst>
          </a:custGeom>
          <a:solidFill xmlns:a="http://schemas.openxmlformats.org/drawingml/2006/main">
            <a:srgbClr val="EFD0C8"/>
          </a:solidFill>
          <a:ln xmlns:a="http://schemas.openxmlformats.org/drawingml/2006/main" w="0">
            <a:noFill/>
          </a:ln>
        </p:spPr>
      </p:sp>
      <p:sp>
        <p:nvSpPr>
          <p:cNvPr id="31" name="TimeVaryingPushPull-guide-20000">
            <a:extLst xmlns:a="http://schemas.openxmlformats.org/drawingml/2006/main">
              <a:ext uri="{FF2B5EF4-FFF2-40B4-BE49-F238E27FC236}">
                <a16:creationId xmlns:a16="http://schemas.microsoft.com/office/drawing/2014/main" id="{57D7A035-30A2-4526-B949-3854A53B3CDA}"/>
              </a:ext>
            </a:extLst>
          </p:cNvPr>
          <p:cNvSpPr>
            <a:spLocks xmlns:a="http://schemas.openxmlformats.org/drawingml/2006/main" noGrp="1"/>
          </p:cNvSpPr>
          <p:nvPr/>
        </p:nvSpPr>
        <p:spPr>
          <a:xfrm xmlns:a="http://schemas.openxmlformats.org/drawingml/2006/main">
            <a:off x="3835247" y="2548390"/>
            <a:ext cx="613420" cy="345887"/>
          </a:xfrm>
          <a:custGeom xmlns:a="http://schemas.openxmlformats.org/drawingml/2006/main">
            <a:pathLst>
              <a:path w="613420" h="345887">
                <a:moveTo>
                  <a:pt x="0" y="338780"/>
                </a:moveTo>
                <a:lnTo>
                  <a:pt x="41538" y="311134"/>
                </a:lnTo>
                <a:lnTo>
                  <a:pt x="83414" y="284003"/>
                </a:lnTo>
                <a:lnTo>
                  <a:pt x="125621" y="257390"/>
                </a:lnTo>
                <a:lnTo>
                  <a:pt x="168154" y="231300"/>
                </a:lnTo>
                <a:lnTo>
                  <a:pt x="211005" y="205738"/>
                </a:lnTo>
                <a:lnTo>
                  <a:pt x="254169" y="180706"/>
                </a:lnTo>
                <a:lnTo>
                  <a:pt x="297638" y="156209"/>
                </a:lnTo>
                <a:lnTo>
                  <a:pt x="341407" y="132250"/>
                </a:lnTo>
                <a:lnTo>
                  <a:pt x="385467" y="108833"/>
                </a:lnTo>
                <a:lnTo>
                  <a:pt x="429814" y="85961"/>
                </a:lnTo>
                <a:lnTo>
                  <a:pt x="474439" y="63639"/>
                </a:lnTo>
                <a:lnTo>
                  <a:pt x="519336" y="41869"/>
                </a:lnTo>
                <a:lnTo>
                  <a:pt x="564499" y="20655"/>
                </a:lnTo>
                <a:lnTo>
                  <a:pt x="609920" y="0"/>
                </a:lnTo>
                <a:lnTo>
                  <a:pt x="613420" y="7825"/>
                </a:lnTo>
                <a:lnTo>
                  <a:pt x="568095" y="28437"/>
                </a:lnTo>
                <a:lnTo>
                  <a:pt x="523029" y="49606"/>
                </a:lnTo>
                <a:lnTo>
                  <a:pt x="478226" y="71329"/>
                </a:lnTo>
                <a:lnTo>
                  <a:pt x="433696" y="93604"/>
                </a:lnTo>
                <a:lnTo>
                  <a:pt x="389444" y="116427"/>
                </a:lnTo>
                <a:lnTo>
                  <a:pt x="345476" y="139794"/>
                </a:lnTo>
                <a:lnTo>
                  <a:pt x="301801" y="163703"/>
                </a:lnTo>
                <a:lnTo>
                  <a:pt x="258424" y="188148"/>
                </a:lnTo>
                <a:lnTo>
                  <a:pt x="215351" y="213127"/>
                </a:lnTo>
                <a:lnTo>
                  <a:pt x="172591" y="238635"/>
                </a:lnTo>
                <a:lnTo>
                  <a:pt x="130148" y="264670"/>
                </a:lnTo>
                <a:lnTo>
                  <a:pt x="88030" y="291226"/>
                </a:lnTo>
                <a:lnTo>
                  <a:pt x="46243" y="318300"/>
                </a:lnTo>
                <a:lnTo>
                  <a:pt x="4794" y="345887"/>
                </a:lnTo>
                <a:close/>
              </a:path>
            </a:pathLst>
          </a:custGeom>
          <a:solidFill xmlns:a="http://schemas.openxmlformats.org/drawingml/2006/main">
            <a:srgbClr val="EFD0C8"/>
          </a:solidFill>
          <a:ln xmlns:a="http://schemas.openxmlformats.org/drawingml/2006/main" w="0">
            <a:noFill/>
          </a:ln>
        </p:spPr>
      </p:sp>
      <p:sp>
        <p:nvSpPr>
          <p:cNvPr id="32" name="StochasticMirrorDescent-algorithm-3130">
            <a:extLst xmlns:a="http://schemas.openxmlformats.org/drawingml/2006/main">
              <a:ext uri="{FF2B5EF4-FFF2-40B4-BE49-F238E27FC236}">
                <a16:creationId xmlns:a16="http://schemas.microsoft.com/office/drawing/2014/main" id="{392EC223-6F7C-403B-9C35-38A479757DF4}"/>
              </a:ext>
            </a:extLst>
          </p:cNvPr>
          <p:cNvSpPr>
            <a:spLocks xmlns:a="http://schemas.openxmlformats.org/drawingml/2006/main" noGrp="1"/>
          </p:cNvSpPr>
          <p:nvPr/>
        </p:nvSpPr>
        <p:spPr>
          <a:xfrm xmlns:a="http://schemas.openxmlformats.org/drawingml/2006/main">
            <a:off x="6407623" y="3051254"/>
            <a:ext cx="496878" cy="606623"/>
          </a:xfrm>
          <a:custGeom xmlns:a="http://schemas.openxmlformats.org/drawingml/2006/main">
            <a:pathLst>
              <a:path w="496878" h="606623">
                <a:moveTo>
                  <a:pt x="63400" y="0"/>
                </a:moveTo>
                <a:lnTo>
                  <a:pt x="103224" y="4938"/>
                </a:lnTo>
                <a:lnTo>
                  <a:pt x="142984" y="10373"/>
                </a:lnTo>
                <a:lnTo>
                  <a:pt x="182672" y="16305"/>
                </a:lnTo>
                <a:lnTo>
                  <a:pt x="222283" y="22733"/>
                </a:lnTo>
                <a:lnTo>
                  <a:pt x="261811" y="29656"/>
                </a:lnTo>
                <a:lnTo>
                  <a:pt x="301248" y="37072"/>
                </a:lnTo>
                <a:lnTo>
                  <a:pt x="340591" y="44981"/>
                </a:lnTo>
                <a:lnTo>
                  <a:pt x="379831" y="53381"/>
                </a:lnTo>
                <a:lnTo>
                  <a:pt x="418963" y="62271"/>
                </a:lnTo>
                <a:lnTo>
                  <a:pt x="457981" y="71649"/>
                </a:lnTo>
                <a:lnTo>
                  <a:pt x="496878" y="81515"/>
                </a:lnTo>
                <a:lnTo>
                  <a:pt x="360195" y="606623"/>
                </a:lnTo>
                <a:lnTo>
                  <a:pt x="327874" y="598426"/>
                </a:lnTo>
                <a:lnTo>
                  <a:pt x="295452" y="590633"/>
                </a:lnTo>
                <a:lnTo>
                  <a:pt x="262936" y="583246"/>
                </a:lnTo>
                <a:lnTo>
                  <a:pt x="230329" y="576266"/>
                </a:lnTo>
                <a:lnTo>
                  <a:pt x="197638" y="569694"/>
                </a:lnTo>
                <a:lnTo>
                  <a:pt x="164868" y="563532"/>
                </a:lnTo>
                <a:lnTo>
                  <a:pt x="132023" y="557779"/>
                </a:lnTo>
                <a:lnTo>
                  <a:pt x="99108" y="552438"/>
                </a:lnTo>
                <a:lnTo>
                  <a:pt x="66129" y="547509"/>
                </a:lnTo>
                <a:lnTo>
                  <a:pt x="33092" y="542992"/>
                </a:lnTo>
                <a:lnTo>
                  <a:pt x="0" y="538889"/>
                </a:lnTo>
                <a:close/>
              </a:path>
            </a:pathLst>
          </a:custGeom>
          <a:gradFill xmlns:a="http://schemas.openxmlformats.org/drawingml/2006/main">
            <a:gsLst>
              <a:gs pos="0">
                <a:srgbClr val="087479"/>
              </a:gs>
              <a:gs pos="50000">
                <a:srgbClr val="087F82"/>
              </a:gs>
              <a:gs pos="100000">
                <a:srgbClr val="289092"/>
              </a:gs>
            </a:gsLst>
            <a:lin ang="16839000"/>
          </a:gradFill>
          <a:ln xmlns:a="http://schemas.openxmlformats.org/drawingml/2006/main" w="0">
            <a:noFill/>
          </a:ln>
        </p:spPr>
      </p:sp>
      <p:sp>
        <p:nvSpPr>
          <p:cNvPr id="33" name="StochasticMirrorDescent-algorithm-end">
            <a:extLst xmlns:a="http://schemas.openxmlformats.org/drawingml/2006/main">
              <a:ext uri="{FF2B5EF4-FFF2-40B4-BE49-F238E27FC236}">
                <a16:creationId xmlns:a16="http://schemas.microsoft.com/office/drawing/2014/main" id="{CFA76C8E-2488-432C-A6C3-1243F8CA12AB}"/>
              </a:ext>
            </a:extLst>
          </p:cNvPr>
          <p:cNvSpPr>
            <a:spLocks xmlns:a="http://schemas.openxmlformats.org/drawingml/2006/main" noGrp="1"/>
          </p:cNvSpPr>
          <p:nvPr/>
        </p:nvSpPr>
        <p:spPr>
          <a:xfrm xmlns:a="http://schemas.openxmlformats.org/drawingml/2006/main">
            <a:off x="6468130" y="3051254"/>
            <a:ext cx="436371" cy="105481"/>
          </a:xfrm>
          <a:custGeom xmlns:a="http://schemas.openxmlformats.org/drawingml/2006/main">
            <a:pathLst>
              <a:path w="436371" h="105481">
                <a:moveTo>
                  <a:pt x="2894" y="0"/>
                </a:moveTo>
                <a:lnTo>
                  <a:pt x="42718" y="4938"/>
                </a:lnTo>
                <a:lnTo>
                  <a:pt x="82477" y="10373"/>
                </a:lnTo>
                <a:lnTo>
                  <a:pt x="122165" y="16305"/>
                </a:lnTo>
                <a:lnTo>
                  <a:pt x="161776" y="22733"/>
                </a:lnTo>
                <a:lnTo>
                  <a:pt x="201304" y="29656"/>
                </a:lnTo>
                <a:lnTo>
                  <a:pt x="240742" y="37072"/>
                </a:lnTo>
                <a:lnTo>
                  <a:pt x="280084" y="44981"/>
                </a:lnTo>
                <a:lnTo>
                  <a:pt x="319324" y="53381"/>
                </a:lnTo>
                <a:lnTo>
                  <a:pt x="358456" y="62271"/>
                </a:lnTo>
                <a:lnTo>
                  <a:pt x="397474" y="71649"/>
                </a:lnTo>
                <a:lnTo>
                  <a:pt x="436371" y="81515"/>
                </a:lnTo>
                <a:lnTo>
                  <a:pt x="430133" y="105481"/>
                </a:lnTo>
                <a:lnTo>
                  <a:pt x="391536" y="95692"/>
                </a:lnTo>
                <a:lnTo>
                  <a:pt x="352819" y="86386"/>
                </a:lnTo>
                <a:lnTo>
                  <a:pt x="313989" y="77564"/>
                </a:lnTo>
                <a:lnTo>
                  <a:pt x="275051" y="69229"/>
                </a:lnTo>
                <a:lnTo>
                  <a:pt x="236013" y="61381"/>
                </a:lnTo>
                <a:lnTo>
                  <a:pt x="196879" y="54022"/>
                </a:lnTo>
                <a:lnTo>
                  <a:pt x="157657" y="47153"/>
                </a:lnTo>
                <a:lnTo>
                  <a:pt x="118351" y="40775"/>
                </a:lnTo>
                <a:lnTo>
                  <a:pt x="78969" y="34889"/>
                </a:lnTo>
                <a:lnTo>
                  <a:pt x="39517" y="29495"/>
                </a:lnTo>
                <a:lnTo>
                  <a:pt x="0" y="24595"/>
                </a:lnTo>
                <a:close/>
              </a:path>
            </a:pathLst>
          </a:custGeom>
          <a:solidFill xmlns:a="http://schemas.openxmlformats.org/drawingml/2006/main">
            <a:srgbClr val="087378"/>
          </a:solidFill>
          <a:ln xmlns:a="http://schemas.openxmlformats.org/drawingml/2006/main" w="0">
            <a:noFill/>
          </a:ln>
        </p:spPr>
      </p:sp>
      <p:sp>
        <p:nvSpPr>
          <p:cNvPr id="34" name="StochasticMirrorDescent-reuse-3612">
            <a:extLst xmlns:a="http://schemas.openxmlformats.org/drawingml/2006/main">
              <a:ext uri="{FF2B5EF4-FFF2-40B4-BE49-F238E27FC236}">
                <a16:creationId xmlns:a16="http://schemas.microsoft.com/office/drawing/2014/main" id="{BCDB4025-1CCA-4B6F-88D0-695BC683224B}"/>
              </a:ext>
            </a:extLst>
          </p:cNvPr>
          <p:cNvSpPr>
            <a:spLocks xmlns:a="http://schemas.openxmlformats.org/drawingml/2006/main" noGrp="1"/>
          </p:cNvSpPr>
          <p:nvPr/>
        </p:nvSpPr>
        <p:spPr>
          <a:xfrm xmlns:a="http://schemas.openxmlformats.org/drawingml/2006/main">
            <a:off x="6329300" y="3590143"/>
            <a:ext cx="438519" cy="716441"/>
          </a:xfrm>
          <a:custGeom xmlns:a="http://schemas.openxmlformats.org/drawingml/2006/main">
            <a:pathLst>
              <a:path w="438519" h="716441">
                <a:moveTo>
                  <a:pt x="78323" y="0"/>
                </a:moveTo>
                <a:lnTo>
                  <a:pt x="111415" y="4103"/>
                </a:lnTo>
                <a:lnTo>
                  <a:pt x="144453" y="8620"/>
                </a:lnTo>
                <a:lnTo>
                  <a:pt x="177431" y="13549"/>
                </a:lnTo>
                <a:lnTo>
                  <a:pt x="210346" y="18890"/>
                </a:lnTo>
                <a:lnTo>
                  <a:pt x="243191" y="24642"/>
                </a:lnTo>
                <a:lnTo>
                  <a:pt x="275962" y="30805"/>
                </a:lnTo>
                <a:lnTo>
                  <a:pt x="308653" y="37376"/>
                </a:lnTo>
                <a:lnTo>
                  <a:pt x="341259" y="44356"/>
                </a:lnTo>
                <a:lnTo>
                  <a:pt x="373775" y="51743"/>
                </a:lnTo>
                <a:lnTo>
                  <a:pt x="406197" y="59536"/>
                </a:lnTo>
                <a:lnTo>
                  <a:pt x="438519" y="67734"/>
                </a:lnTo>
                <a:lnTo>
                  <a:pt x="269664" y="716441"/>
                </a:lnTo>
                <a:lnTo>
                  <a:pt x="245466" y="710304"/>
                </a:lnTo>
                <a:lnTo>
                  <a:pt x="221193" y="704470"/>
                </a:lnTo>
                <a:lnTo>
                  <a:pt x="196849" y="698939"/>
                </a:lnTo>
                <a:lnTo>
                  <a:pt x="172438" y="693714"/>
                </a:lnTo>
                <a:lnTo>
                  <a:pt x="147964" y="688794"/>
                </a:lnTo>
                <a:lnTo>
                  <a:pt x="123430" y="684180"/>
                </a:lnTo>
                <a:lnTo>
                  <a:pt x="98840" y="679874"/>
                </a:lnTo>
                <a:lnTo>
                  <a:pt x="74198" y="675875"/>
                </a:lnTo>
                <a:lnTo>
                  <a:pt x="49508" y="672185"/>
                </a:lnTo>
                <a:lnTo>
                  <a:pt x="24774" y="668803"/>
                </a:lnTo>
                <a:lnTo>
                  <a:pt x="0" y="665732"/>
                </a:lnTo>
                <a:close/>
              </a:path>
            </a:pathLst>
          </a:custGeom>
          <a:gradFill xmlns:a="http://schemas.openxmlformats.org/drawingml/2006/main">
            <a:gsLst>
              <a:gs pos="0">
                <a:srgbClr val="7FBCBE"/>
              </a:gs>
              <a:gs pos="100000">
                <a:srgbClr val="39999B"/>
              </a:gs>
            </a:gsLst>
            <a:lin ang="16839000"/>
          </a:gradFill>
          <a:ln xmlns:a="http://schemas.openxmlformats.org/drawingml/2006/main" w="0">
            <a:noFill/>
          </a:ln>
        </p:spPr>
      </p:sp>
      <p:sp>
        <p:nvSpPr>
          <p:cNvPr id="35" name="StochasticMirrorDescent-reuse-end">
            <a:extLst xmlns:a="http://schemas.openxmlformats.org/drawingml/2006/main">
              <a:ext uri="{FF2B5EF4-FFF2-40B4-BE49-F238E27FC236}">
                <a16:creationId xmlns:a16="http://schemas.microsoft.com/office/drawing/2014/main" id="{2D826D36-2688-4BBB-8804-F66458A6C548}"/>
              </a:ext>
            </a:extLst>
          </p:cNvPr>
          <p:cNvSpPr>
            <a:spLocks xmlns:a="http://schemas.openxmlformats.org/drawingml/2006/main" noGrp="1"/>
          </p:cNvSpPr>
          <p:nvPr/>
        </p:nvSpPr>
        <p:spPr>
          <a:xfrm xmlns:a="http://schemas.openxmlformats.org/drawingml/2006/main">
            <a:off x="6329300" y="4232225"/>
            <a:ext cx="275662" cy="74359"/>
          </a:xfrm>
          <a:custGeom xmlns:a="http://schemas.openxmlformats.org/drawingml/2006/main">
            <a:pathLst>
              <a:path w="275662" h="74359">
                <a:moveTo>
                  <a:pt x="2782" y="0"/>
                </a:moveTo>
                <a:lnTo>
                  <a:pt x="27852" y="3108"/>
                </a:lnTo>
                <a:lnTo>
                  <a:pt x="52881" y="6530"/>
                </a:lnTo>
                <a:lnTo>
                  <a:pt x="77865" y="10264"/>
                </a:lnTo>
                <a:lnTo>
                  <a:pt x="102801" y="14311"/>
                </a:lnTo>
                <a:lnTo>
                  <a:pt x="127684" y="18669"/>
                </a:lnTo>
                <a:lnTo>
                  <a:pt x="152511" y="23337"/>
                </a:lnTo>
                <a:lnTo>
                  <a:pt x="177277" y="28316"/>
                </a:lnTo>
                <a:lnTo>
                  <a:pt x="201979" y="33604"/>
                </a:lnTo>
                <a:lnTo>
                  <a:pt x="226614" y="39200"/>
                </a:lnTo>
                <a:lnTo>
                  <a:pt x="251176" y="45104"/>
                </a:lnTo>
                <a:lnTo>
                  <a:pt x="275662" y="51315"/>
                </a:lnTo>
                <a:lnTo>
                  <a:pt x="269664" y="74359"/>
                </a:lnTo>
                <a:lnTo>
                  <a:pt x="245466" y="68222"/>
                </a:lnTo>
                <a:lnTo>
                  <a:pt x="221193" y="62388"/>
                </a:lnTo>
                <a:lnTo>
                  <a:pt x="196849" y="56857"/>
                </a:lnTo>
                <a:lnTo>
                  <a:pt x="172438" y="51632"/>
                </a:lnTo>
                <a:lnTo>
                  <a:pt x="147964" y="46712"/>
                </a:lnTo>
                <a:lnTo>
                  <a:pt x="123430" y="42098"/>
                </a:lnTo>
                <a:lnTo>
                  <a:pt x="98840" y="37792"/>
                </a:lnTo>
                <a:lnTo>
                  <a:pt x="74198" y="33793"/>
                </a:lnTo>
                <a:lnTo>
                  <a:pt x="49508" y="30103"/>
                </a:lnTo>
                <a:lnTo>
                  <a:pt x="24774" y="26721"/>
                </a:lnTo>
                <a:lnTo>
                  <a:pt x="0" y="23649"/>
                </a:lnTo>
                <a:close/>
              </a:path>
            </a:pathLst>
          </a:custGeom>
          <a:solidFill xmlns:a="http://schemas.openxmlformats.org/drawingml/2006/main">
            <a:srgbClr val="218C8F"/>
          </a:solidFill>
          <a:ln xmlns:a="http://schemas.openxmlformats.org/drawingml/2006/main" w="0">
            <a:noFill/>
          </a:ln>
        </p:spPr>
      </p:sp>
      <p:sp>
        <p:nvSpPr>
          <p:cNvPr id="36" name="StochasticMirrorDescent-baseline-gap">
            <a:extLst xmlns:a="http://schemas.openxmlformats.org/drawingml/2006/main">
              <a:ext uri="{FF2B5EF4-FFF2-40B4-BE49-F238E27FC236}">
                <a16:creationId xmlns:a16="http://schemas.microsoft.com/office/drawing/2014/main" id="{6A5193EE-80C6-4F5E-8B97-CE4E49BC04A0}"/>
              </a:ext>
            </a:extLst>
          </p:cNvPr>
          <p:cNvSpPr>
            <a:spLocks xmlns:a="http://schemas.openxmlformats.org/drawingml/2006/main" noGrp="1"/>
          </p:cNvSpPr>
          <p:nvPr/>
        </p:nvSpPr>
        <p:spPr>
          <a:xfrm xmlns:a="http://schemas.openxmlformats.org/drawingml/2006/main">
            <a:off x="6394920" y="3558788"/>
            <a:ext cx="389685" cy="130920"/>
          </a:xfrm>
          <a:custGeom xmlns:a="http://schemas.openxmlformats.org/drawingml/2006/main">
            <a:pathLst>
              <a:path w="389685" h="130920">
                <a:moveTo>
                  <a:pt x="6911" y="0"/>
                </a:moveTo>
                <a:lnTo>
                  <a:pt x="39164" y="3877"/>
                </a:lnTo>
                <a:lnTo>
                  <a:pt x="71368" y="8143"/>
                </a:lnTo>
                <a:lnTo>
                  <a:pt x="103518" y="12796"/>
                </a:lnTo>
                <a:lnTo>
                  <a:pt x="135609" y="17835"/>
                </a:lnTo>
                <a:lnTo>
                  <a:pt x="167638" y="23261"/>
                </a:lnTo>
                <a:lnTo>
                  <a:pt x="199599" y="29072"/>
                </a:lnTo>
                <a:lnTo>
                  <a:pt x="231488" y="35268"/>
                </a:lnTo>
                <a:lnTo>
                  <a:pt x="263299" y="41847"/>
                </a:lnTo>
                <a:lnTo>
                  <a:pt x="295030" y="48809"/>
                </a:lnTo>
                <a:lnTo>
                  <a:pt x="326674" y="56153"/>
                </a:lnTo>
                <a:lnTo>
                  <a:pt x="358227" y="63877"/>
                </a:lnTo>
                <a:lnTo>
                  <a:pt x="389685" y="71980"/>
                </a:lnTo>
                <a:lnTo>
                  <a:pt x="374123" y="130920"/>
                </a:lnTo>
                <a:lnTo>
                  <a:pt x="343376" y="123000"/>
                </a:lnTo>
                <a:lnTo>
                  <a:pt x="312536" y="115450"/>
                </a:lnTo>
                <a:lnTo>
                  <a:pt x="281607" y="108273"/>
                </a:lnTo>
                <a:lnTo>
                  <a:pt x="250594" y="101469"/>
                </a:lnTo>
                <a:lnTo>
                  <a:pt x="219501" y="95038"/>
                </a:lnTo>
                <a:lnTo>
                  <a:pt x="188333" y="88982"/>
                </a:lnTo>
                <a:lnTo>
                  <a:pt x="157094" y="83303"/>
                </a:lnTo>
                <a:lnTo>
                  <a:pt x="125790" y="77999"/>
                </a:lnTo>
                <a:lnTo>
                  <a:pt x="94423" y="73073"/>
                </a:lnTo>
                <a:lnTo>
                  <a:pt x="63000" y="68526"/>
                </a:lnTo>
                <a:lnTo>
                  <a:pt x="31524" y="64357"/>
                </a:lnTo>
                <a:lnTo>
                  <a:pt x="0" y="60567"/>
                </a:lnTo>
                <a:close/>
              </a:path>
            </a:pathLst>
          </a:custGeom>
          <a:solidFill xmlns:a="http://schemas.openxmlformats.org/drawingml/2006/main">
            <a:srgbClr val="FFFFFF"/>
          </a:solidFill>
          <a:ln xmlns:a="http://schemas.openxmlformats.org/drawingml/2006/main" w="0">
            <a:noFill/>
          </a:ln>
        </p:spPr>
      </p:sp>
      <p:sp>
        <p:nvSpPr>
          <p:cNvPr id="37" name="StochasticMirrorDescent-label">
            <a:extLst xmlns:a="http://schemas.openxmlformats.org/drawingml/2006/main">
              <a:ext uri="{FF2B5EF4-FFF2-40B4-BE49-F238E27FC236}">
                <a16:creationId xmlns:a16="http://schemas.microsoft.com/office/drawing/2014/main" id="{8271CAEE-AFAC-4D6C-969C-9B5A0724813C}"/>
              </a:ext>
            </a:extLst>
          </p:cNvPr>
          <p:cNvSpPr>
            <a:spLocks xmlns:a="http://schemas.openxmlformats.org/drawingml/2006/main" noGrp="1"/>
          </p:cNvSpPr>
          <p:nvPr/>
        </p:nvSpPr>
        <p:spPr>
          <a:xfrm xmlns:a="http://schemas.openxmlformats.org/drawingml/2006/main" rot="16839000">
            <a:off x="6403158" y="2392407"/>
            <a:ext cx="753517"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SMD</a:t>
            </a:r>
          </a:p>
        </p:txBody>
      </p:sp>
      <p:sp>
        <p:nvSpPr>
          <p:cNvPr id="38" name="StochasticAcceleratedGradientDescent-algorithm-8807">
            <a:extLst xmlns:a="http://schemas.openxmlformats.org/drawingml/2006/main">
              <a:ext uri="{FF2B5EF4-FFF2-40B4-BE49-F238E27FC236}">
                <a16:creationId xmlns:a16="http://schemas.microsoft.com/office/drawing/2014/main" id="{7BADC237-72CF-4218-B998-17E21D24A49B}"/>
              </a:ext>
            </a:extLst>
          </p:cNvPr>
          <p:cNvSpPr>
            <a:spLocks xmlns:a="http://schemas.openxmlformats.org/drawingml/2006/main" noGrp="1"/>
          </p:cNvSpPr>
          <p:nvPr/>
        </p:nvSpPr>
        <p:spPr>
          <a:xfrm xmlns:a="http://schemas.openxmlformats.org/drawingml/2006/main">
            <a:off x="6831572" y="2800443"/>
            <a:ext cx="713121" cy="999928"/>
          </a:xfrm>
          <a:custGeom xmlns:a="http://schemas.openxmlformats.org/drawingml/2006/main">
            <a:pathLst>
              <a:path w="713121" h="999928">
                <a:moveTo>
                  <a:pt x="251032" y="0"/>
                </a:moveTo>
                <a:lnTo>
                  <a:pt x="293944" y="12604"/>
                </a:lnTo>
                <a:lnTo>
                  <a:pt x="336695" y="25743"/>
                </a:lnTo>
                <a:lnTo>
                  <a:pt x="379279" y="39416"/>
                </a:lnTo>
                <a:lnTo>
                  <a:pt x="421688" y="53620"/>
                </a:lnTo>
                <a:lnTo>
                  <a:pt x="463917" y="68354"/>
                </a:lnTo>
                <a:lnTo>
                  <a:pt x="505957" y="83614"/>
                </a:lnTo>
                <a:lnTo>
                  <a:pt x="547804" y="99398"/>
                </a:lnTo>
                <a:lnTo>
                  <a:pt x="589451" y="115705"/>
                </a:lnTo>
                <a:lnTo>
                  <a:pt x="630890" y="132531"/>
                </a:lnTo>
                <a:lnTo>
                  <a:pt x="672115" y="149873"/>
                </a:lnTo>
                <a:lnTo>
                  <a:pt x="713121" y="167730"/>
                </a:lnTo>
                <a:lnTo>
                  <a:pt x="344515" y="999928"/>
                </a:lnTo>
                <a:lnTo>
                  <a:pt x="313943" y="986615"/>
                </a:lnTo>
                <a:lnTo>
                  <a:pt x="283207" y="973685"/>
                </a:lnTo>
                <a:lnTo>
                  <a:pt x="252311" y="961140"/>
                </a:lnTo>
                <a:lnTo>
                  <a:pt x="221262" y="948983"/>
                </a:lnTo>
                <a:lnTo>
                  <a:pt x="190062" y="937215"/>
                </a:lnTo>
                <a:lnTo>
                  <a:pt x="158718" y="925837"/>
                </a:lnTo>
                <a:lnTo>
                  <a:pt x="127234" y="914853"/>
                </a:lnTo>
                <a:lnTo>
                  <a:pt x="95616" y="904263"/>
                </a:lnTo>
                <a:lnTo>
                  <a:pt x="63867" y="894069"/>
                </a:lnTo>
                <a:lnTo>
                  <a:pt x="31994" y="884273"/>
                </a:lnTo>
                <a:lnTo>
                  <a:pt x="0" y="874876"/>
                </a:lnTo>
                <a:close/>
              </a:path>
            </a:pathLst>
          </a:custGeom>
          <a:gradFill xmlns:a="http://schemas.openxmlformats.org/drawingml/2006/main">
            <a:gsLst>
              <a:gs pos="0">
                <a:srgbClr val="087479"/>
              </a:gs>
              <a:gs pos="50000">
                <a:srgbClr val="087F82"/>
              </a:gs>
              <a:gs pos="100000">
                <a:srgbClr val="289092"/>
              </a:gs>
            </a:gsLst>
            <a:lin ang="17397000"/>
          </a:gradFill>
          <a:ln xmlns:a="http://schemas.openxmlformats.org/drawingml/2006/main" w="0">
            <a:noFill/>
          </a:ln>
        </p:spPr>
      </p:sp>
      <p:sp>
        <p:nvSpPr>
          <p:cNvPr id="39" name="StochasticAcceleratedGradientDescent-algorithm-end">
            <a:extLst xmlns:a="http://schemas.openxmlformats.org/drawingml/2006/main">
              <a:ext uri="{FF2B5EF4-FFF2-40B4-BE49-F238E27FC236}">
                <a16:creationId xmlns:a16="http://schemas.microsoft.com/office/drawing/2014/main" id="{64A6745E-FC67-4F0E-89D3-FA1F6E7AE300}"/>
              </a:ext>
            </a:extLst>
          </p:cNvPr>
          <p:cNvSpPr>
            <a:spLocks xmlns:a="http://schemas.openxmlformats.org/drawingml/2006/main" noGrp="1"/>
          </p:cNvSpPr>
          <p:nvPr/>
        </p:nvSpPr>
        <p:spPr>
          <a:xfrm xmlns:a="http://schemas.openxmlformats.org/drawingml/2006/main">
            <a:off x="7075774" y="2800443"/>
            <a:ext cx="468919" cy="190373"/>
          </a:xfrm>
          <a:custGeom xmlns:a="http://schemas.openxmlformats.org/drawingml/2006/main">
            <a:pathLst>
              <a:path w="468919" h="190373">
                <a:moveTo>
                  <a:pt x="6830" y="0"/>
                </a:moveTo>
                <a:lnTo>
                  <a:pt x="49742" y="12604"/>
                </a:lnTo>
                <a:lnTo>
                  <a:pt x="92494" y="25743"/>
                </a:lnTo>
                <a:lnTo>
                  <a:pt x="135077" y="39416"/>
                </a:lnTo>
                <a:lnTo>
                  <a:pt x="177487" y="53620"/>
                </a:lnTo>
                <a:lnTo>
                  <a:pt x="219715" y="68354"/>
                </a:lnTo>
                <a:lnTo>
                  <a:pt x="261756" y="83614"/>
                </a:lnTo>
                <a:lnTo>
                  <a:pt x="303603" y="99398"/>
                </a:lnTo>
                <a:lnTo>
                  <a:pt x="345249" y="115705"/>
                </a:lnTo>
                <a:lnTo>
                  <a:pt x="386688" y="132531"/>
                </a:lnTo>
                <a:lnTo>
                  <a:pt x="427914" y="149873"/>
                </a:lnTo>
                <a:lnTo>
                  <a:pt x="468919" y="167730"/>
                </a:lnTo>
                <a:lnTo>
                  <a:pt x="458890" y="190373"/>
                </a:lnTo>
                <a:lnTo>
                  <a:pt x="418168" y="172640"/>
                </a:lnTo>
                <a:lnTo>
                  <a:pt x="377228" y="155418"/>
                </a:lnTo>
                <a:lnTo>
                  <a:pt x="336076" y="138708"/>
                </a:lnTo>
                <a:lnTo>
                  <a:pt x="294718" y="122514"/>
                </a:lnTo>
                <a:lnTo>
                  <a:pt x="253161" y="106839"/>
                </a:lnTo>
                <a:lnTo>
                  <a:pt x="211411" y="91685"/>
                </a:lnTo>
                <a:lnTo>
                  <a:pt x="169475" y="77053"/>
                </a:lnTo>
                <a:lnTo>
                  <a:pt x="127359" y="62948"/>
                </a:lnTo>
                <a:lnTo>
                  <a:pt x="85070" y="49369"/>
                </a:lnTo>
                <a:lnTo>
                  <a:pt x="42615" y="36321"/>
                </a:lnTo>
                <a:lnTo>
                  <a:pt x="0" y="23804"/>
                </a:lnTo>
                <a:close/>
              </a:path>
            </a:pathLst>
          </a:custGeom>
          <a:solidFill xmlns:a="http://schemas.openxmlformats.org/drawingml/2006/main">
            <a:srgbClr val="087378"/>
          </a:solidFill>
          <a:ln xmlns:a="http://schemas.openxmlformats.org/drawingml/2006/main" w="0">
            <a:noFill/>
          </a:ln>
        </p:spPr>
      </p:sp>
      <p:sp>
        <p:nvSpPr>
          <p:cNvPr id="40" name="StochasticAcceleratedGradientDescent-reuse-4578">
            <a:extLst xmlns:a="http://schemas.openxmlformats.org/drawingml/2006/main">
              <a:ext uri="{FF2B5EF4-FFF2-40B4-BE49-F238E27FC236}">
                <a16:creationId xmlns:a16="http://schemas.microsoft.com/office/drawing/2014/main" id="{546C6BD4-DE84-4EC9-B4A1-3C80EEFFD333}"/>
              </a:ext>
            </a:extLst>
          </p:cNvPr>
          <p:cNvSpPr>
            <a:spLocks xmlns:a="http://schemas.openxmlformats.org/drawingml/2006/main" noGrp="1"/>
          </p:cNvSpPr>
          <p:nvPr/>
        </p:nvSpPr>
        <p:spPr>
          <a:xfrm xmlns:a="http://schemas.openxmlformats.org/drawingml/2006/main">
            <a:off x="6623435" y="3675318"/>
            <a:ext cx="552652" cy="815052"/>
          </a:xfrm>
          <a:custGeom xmlns:a="http://schemas.openxmlformats.org/drawingml/2006/main">
            <a:pathLst>
              <a:path w="552652" h="815052">
                <a:moveTo>
                  <a:pt x="208138" y="0"/>
                </a:moveTo>
                <a:lnTo>
                  <a:pt x="240131" y="9397"/>
                </a:lnTo>
                <a:lnTo>
                  <a:pt x="272005" y="19193"/>
                </a:lnTo>
                <a:lnTo>
                  <a:pt x="303753" y="29387"/>
                </a:lnTo>
                <a:lnTo>
                  <a:pt x="335372" y="39977"/>
                </a:lnTo>
                <a:lnTo>
                  <a:pt x="366856" y="50962"/>
                </a:lnTo>
                <a:lnTo>
                  <a:pt x="398200" y="62339"/>
                </a:lnTo>
                <a:lnTo>
                  <a:pt x="429399" y="74107"/>
                </a:lnTo>
                <a:lnTo>
                  <a:pt x="460449" y="86265"/>
                </a:lnTo>
                <a:lnTo>
                  <a:pt x="491344" y="98809"/>
                </a:lnTo>
                <a:lnTo>
                  <a:pt x="522080" y="111739"/>
                </a:lnTo>
                <a:lnTo>
                  <a:pt x="552652" y="125053"/>
                </a:lnTo>
                <a:lnTo>
                  <a:pt x="247031" y="815052"/>
                </a:lnTo>
                <a:lnTo>
                  <a:pt x="225109" y="805506"/>
                </a:lnTo>
                <a:lnTo>
                  <a:pt x="203070" y="796235"/>
                </a:lnTo>
                <a:lnTo>
                  <a:pt x="180917" y="787239"/>
                </a:lnTo>
                <a:lnTo>
                  <a:pt x="158653" y="778522"/>
                </a:lnTo>
                <a:lnTo>
                  <a:pt x="136282" y="770084"/>
                </a:lnTo>
                <a:lnTo>
                  <a:pt x="113807" y="761926"/>
                </a:lnTo>
                <a:lnTo>
                  <a:pt x="91232" y="754049"/>
                </a:lnTo>
                <a:lnTo>
                  <a:pt x="68560" y="746456"/>
                </a:lnTo>
                <a:lnTo>
                  <a:pt x="45795" y="739146"/>
                </a:lnTo>
                <a:lnTo>
                  <a:pt x="22941" y="732122"/>
                </a:lnTo>
                <a:lnTo>
                  <a:pt x="0" y="725384"/>
                </a:lnTo>
                <a:close/>
              </a:path>
            </a:pathLst>
          </a:custGeom>
          <a:gradFill xmlns:a="http://schemas.openxmlformats.org/drawingml/2006/main">
            <a:gsLst>
              <a:gs pos="0">
                <a:srgbClr val="7FBCBE"/>
              </a:gs>
              <a:gs pos="100000">
                <a:srgbClr val="39999B"/>
              </a:gs>
            </a:gsLst>
            <a:lin ang="17397000"/>
          </a:gradFill>
          <a:ln xmlns:a="http://schemas.openxmlformats.org/drawingml/2006/main" w="0">
            <a:noFill/>
          </a:ln>
        </p:spPr>
      </p:sp>
      <p:sp>
        <p:nvSpPr>
          <p:cNvPr id="41" name="StochasticAcceleratedGradientDescent-reuse-end">
            <a:extLst xmlns:a="http://schemas.openxmlformats.org/drawingml/2006/main">
              <a:ext uri="{FF2B5EF4-FFF2-40B4-BE49-F238E27FC236}">
                <a16:creationId xmlns:a16="http://schemas.microsoft.com/office/drawing/2014/main" id="{626CE12D-7F55-48A7-9681-A3F70DEDD3DA}"/>
              </a:ext>
            </a:extLst>
          </p:cNvPr>
          <p:cNvSpPr>
            <a:spLocks xmlns:a="http://schemas.openxmlformats.org/drawingml/2006/main" noGrp="1"/>
          </p:cNvSpPr>
          <p:nvPr/>
        </p:nvSpPr>
        <p:spPr>
          <a:xfrm xmlns:a="http://schemas.openxmlformats.org/drawingml/2006/main">
            <a:off x="6623435" y="4377814"/>
            <a:ext cx="256674" cy="112557"/>
          </a:xfrm>
          <a:custGeom xmlns:a="http://schemas.openxmlformats.org/drawingml/2006/main">
            <a:pathLst>
              <a:path w="256674" h="112557">
                <a:moveTo>
                  <a:pt x="6568" y="0"/>
                </a:moveTo>
                <a:lnTo>
                  <a:pt x="29794" y="6822"/>
                </a:lnTo>
                <a:lnTo>
                  <a:pt x="52933" y="13934"/>
                </a:lnTo>
                <a:lnTo>
                  <a:pt x="75982" y="21334"/>
                </a:lnTo>
                <a:lnTo>
                  <a:pt x="98936" y="29022"/>
                </a:lnTo>
                <a:lnTo>
                  <a:pt x="121792" y="36997"/>
                </a:lnTo>
                <a:lnTo>
                  <a:pt x="144547" y="45256"/>
                </a:lnTo>
                <a:lnTo>
                  <a:pt x="167197" y="53800"/>
                </a:lnTo>
                <a:lnTo>
                  <a:pt x="189738" y="62625"/>
                </a:lnTo>
                <a:lnTo>
                  <a:pt x="212167" y="71733"/>
                </a:lnTo>
                <a:lnTo>
                  <a:pt x="234480" y="81119"/>
                </a:lnTo>
                <a:lnTo>
                  <a:pt x="256674" y="90784"/>
                </a:lnTo>
                <a:lnTo>
                  <a:pt x="247031" y="112557"/>
                </a:lnTo>
                <a:lnTo>
                  <a:pt x="225109" y="103011"/>
                </a:lnTo>
                <a:lnTo>
                  <a:pt x="203070" y="93739"/>
                </a:lnTo>
                <a:lnTo>
                  <a:pt x="180917" y="84744"/>
                </a:lnTo>
                <a:lnTo>
                  <a:pt x="158653" y="76027"/>
                </a:lnTo>
                <a:lnTo>
                  <a:pt x="136282" y="67588"/>
                </a:lnTo>
                <a:lnTo>
                  <a:pt x="113807" y="59430"/>
                </a:lnTo>
                <a:lnTo>
                  <a:pt x="91232" y="51554"/>
                </a:lnTo>
                <a:lnTo>
                  <a:pt x="68560" y="43961"/>
                </a:lnTo>
                <a:lnTo>
                  <a:pt x="45795" y="36651"/>
                </a:lnTo>
                <a:lnTo>
                  <a:pt x="22941" y="29627"/>
                </a:lnTo>
                <a:lnTo>
                  <a:pt x="0" y="22889"/>
                </a:lnTo>
                <a:close/>
              </a:path>
            </a:pathLst>
          </a:custGeom>
          <a:solidFill xmlns:a="http://schemas.openxmlformats.org/drawingml/2006/main">
            <a:srgbClr val="218C8F"/>
          </a:solidFill>
          <a:ln xmlns:a="http://schemas.openxmlformats.org/drawingml/2006/main" w="0">
            <a:noFill/>
          </a:ln>
        </p:spPr>
      </p:sp>
      <p:sp>
        <p:nvSpPr>
          <p:cNvPr id="42" name="StochasticAcceleratedGradientDescent-inbar-tick-5000">
            <a:extLst xmlns:a="http://schemas.openxmlformats.org/drawingml/2006/main">
              <a:ext uri="{FF2B5EF4-FFF2-40B4-BE49-F238E27FC236}">
                <a16:creationId xmlns:a16="http://schemas.microsoft.com/office/drawing/2014/main" id="{6D45D3C0-5BE3-4EB3-98DB-E836D017EBC6}"/>
              </a:ext>
            </a:extLst>
          </p:cNvPr>
          <p:cNvSpPr>
            <a:spLocks xmlns:a="http://schemas.openxmlformats.org/drawingml/2006/main" noGrp="1"/>
          </p:cNvSpPr>
          <p:nvPr/>
        </p:nvSpPr>
        <p:spPr>
          <a:xfrm xmlns:a="http://schemas.openxmlformats.org/drawingml/2006/main">
            <a:off x="7019012" y="3010167"/>
            <a:ext cx="437319" cy="168821"/>
          </a:xfrm>
          <a:custGeom xmlns:a="http://schemas.openxmlformats.org/drawingml/2006/main">
            <a:pathLst>
              <a:path w="437319" h="168821">
                <a:moveTo>
                  <a:pt x="3415" y="0"/>
                </a:moveTo>
                <a:lnTo>
                  <a:pt x="43710" y="11835"/>
                </a:lnTo>
                <a:lnTo>
                  <a:pt x="83854" y="24173"/>
                </a:lnTo>
                <a:lnTo>
                  <a:pt x="123840" y="37012"/>
                </a:lnTo>
                <a:lnTo>
                  <a:pt x="163662" y="50350"/>
                </a:lnTo>
                <a:lnTo>
                  <a:pt x="203315" y="64184"/>
                </a:lnTo>
                <a:lnTo>
                  <a:pt x="242792" y="78514"/>
                </a:lnTo>
                <a:lnTo>
                  <a:pt x="282086" y="93335"/>
                </a:lnTo>
                <a:lnTo>
                  <a:pt x="321192" y="108647"/>
                </a:lnTo>
                <a:lnTo>
                  <a:pt x="360104" y="124447"/>
                </a:lnTo>
                <a:lnTo>
                  <a:pt x="398815" y="140732"/>
                </a:lnTo>
                <a:lnTo>
                  <a:pt x="437319" y="157499"/>
                </a:lnTo>
                <a:lnTo>
                  <a:pt x="432305" y="168821"/>
                </a:lnTo>
                <a:lnTo>
                  <a:pt x="393942" y="152115"/>
                </a:lnTo>
                <a:lnTo>
                  <a:pt x="355374" y="135890"/>
                </a:lnTo>
                <a:lnTo>
                  <a:pt x="316606" y="120149"/>
                </a:lnTo>
                <a:lnTo>
                  <a:pt x="277644" y="104894"/>
                </a:lnTo>
                <a:lnTo>
                  <a:pt x="238494" y="90126"/>
                </a:lnTo>
                <a:lnTo>
                  <a:pt x="199163" y="75850"/>
                </a:lnTo>
                <a:lnTo>
                  <a:pt x="159657" y="62066"/>
                </a:lnTo>
                <a:lnTo>
                  <a:pt x="119981" y="48778"/>
                </a:lnTo>
                <a:lnTo>
                  <a:pt x="80142" y="35986"/>
                </a:lnTo>
                <a:lnTo>
                  <a:pt x="40146" y="23694"/>
                </a:lnTo>
                <a:lnTo>
                  <a:pt x="0" y="11902"/>
                </a:lnTo>
                <a:close/>
              </a:path>
            </a:pathLst>
          </a:custGeom>
          <a:solidFill xmlns:a="http://schemas.openxmlformats.org/drawingml/2006/main">
            <a:srgbClr val="B2D7D8"/>
          </a:solidFill>
          <a:ln xmlns:a="http://schemas.openxmlformats.org/drawingml/2006/main" w="0">
            <a:noFill/>
          </a:ln>
        </p:spPr>
      </p:sp>
      <p:sp>
        <p:nvSpPr>
          <p:cNvPr id="43" name="StochasticAcceleratedGradientDescent-baseline-gap">
            <a:extLst xmlns:a="http://schemas.openxmlformats.org/drawingml/2006/main">
              <a:ext uri="{FF2B5EF4-FFF2-40B4-BE49-F238E27FC236}">
                <a16:creationId xmlns:a16="http://schemas.microsoft.com/office/drawing/2014/main" id="{69F220CB-0062-4088-A27C-01FAEBB230AE}"/>
              </a:ext>
            </a:extLst>
          </p:cNvPr>
          <p:cNvSpPr>
            <a:spLocks xmlns:a="http://schemas.openxmlformats.org/drawingml/2006/main" noGrp="1"/>
          </p:cNvSpPr>
          <p:nvPr/>
        </p:nvSpPr>
        <p:spPr>
          <a:xfrm xmlns:a="http://schemas.openxmlformats.org/drawingml/2006/main">
            <a:off x="6814315" y="3643439"/>
            <a:ext cx="382718" cy="188542"/>
          </a:xfrm>
          <a:custGeom xmlns:a="http://schemas.openxmlformats.org/drawingml/2006/main">
            <a:pathLst>
              <a:path w="382718" h="188542">
                <a:moveTo>
                  <a:pt x="16608" y="0"/>
                </a:moveTo>
                <a:lnTo>
                  <a:pt x="47811" y="9039"/>
                </a:lnTo>
                <a:lnTo>
                  <a:pt x="78902" y="18452"/>
                </a:lnTo>
                <a:lnTo>
                  <a:pt x="109877" y="28239"/>
                </a:lnTo>
                <a:lnTo>
                  <a:pt x="140733" y="38399"/>
                </a:lnTo>
                <a:lnTo>
                  <a:pt x="171463" y="48930"/>
                </a:lnTo>
                <a:lnTo>
                  <a:pt x="202065" y="59829"/>
                </a:lnTo>
                <a:lnTo>
                  <a:pt x="232533" y="71097"/>
                </a:lnTo>
                <a:lnTo>
                  <a:pt x="262864" y="82731"/>
                </a:lnTo>
                <a:lnTo>
                  <a:pt x="293052" y="94729"/>
                </a:lnTo>
                <a:lnTo>
                  <a:pt x="323093" y="107089"/>
                </a:lnTo>
                <a:lnTo>
                  <a:pt x="352983" y="119811"/>
                </a:lnTo>
                <a:lnTo>
                  <a:pt x="382718" y="132891"/>
                </a:lnTo>
                <a:lnTo>
                  <a:pt x="357836" y="188542"/>
                </a:lnTo>
                <a:lnTo>
                  <a:pt x="328773" y="175757"/>
                </a:lnTo>
                <a:lnTo>
                  <a:pt x="299558" y="163323"/>
                </a:lnTo>
                <a:lnTo>
                  <a:pt x="270196" y="151242"/>
                </a:lnTo>
                <a:lnTo>
                  <a:pt x="240690" y="139515"/>
                </a:lnTo>
                <a:lnTo>
                  <a:pt x="211045" y="128144"/>
                </a:lnTo>
                <a:lnTo>
                  <a:pt x="181265" y="117131"/>
                </a:lnTo>
                <a:lnTo>
                  <a:pt x="151355" y="106478"/>
                </a:lnTo>
                <a:lnTo>
                  <a:pt x="121319" y="96185"/>
                </a:lnTo>
                <a:lnTo>
                  <a:pt x="91161" y="86255"/>
                </a:lnTo>
                <a:lnTo>
                  <a:pt x="60886" y="76689"/>
                </a:lnTo>
                <a:lnTo>
                  <a:pt x="30497" y="67488"/>
                </a:lnTo>
                <a:lnTo>
                  <a:pt x="0" y="58654"/>
                </a:lnTo>
                <a:close/>
              </a:path>
            </a:pathLst>
          </a:custGeom>
          <a:solidFill xmlns:a="http://schemas.openxmlformats.org/drawingml/2006/main">
            <a:srgbClr val="FFFFFF"/>
          </a:solidFill>
          <a:ln xmlns:a="http://schemas.openxmlformats.org/drawingml/2006/main" w="0">
            <a:noFill/>
          </a:ln>
        </p:spPr>
      </p:sp>
      <p:sp>
        <p:nvSpPr>
          <p:cNvPr id="44" name="StochasticAcceleratedGradientDescent-label">
            <a:extLst xmlns:a="http://schemas.openxmlformats.org/drawingml/2006/main">
              <a:ext uri="{FF2B5EF4-FFF2-40B4-BE49-F238E27FC236}">
                <a16:creationId xmlns:a16="http://schemas.microsoft.com/office/drawing/2014/main" id="{E1D165CA-1E81-45E1-88D7-A5E001EDC661}"/>
              </a:ext>
            </a:extLst>
          </p:cNvPr>
          <p:cNvSpPr>
            <a:spLocks xmlns:a="http://schemas.openxmlformats.org/drawingml/2006/main" noGrp="1"/>
          </p:cNvSpPr>
          <p:nvPr/>
        </p:nvSpPr>
        <p:spPr>
          <a:xfrm xmlns:a="http://schemas.openxmlformats.org/drawingml/2006/main" rot="17397000">
            <a:off x="7023591" y="2085748"/>
            <a:ext cx="100771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AC-SA</a:t>
            </a:r>
          </a:p>
        </p:txBody>
      </p:sp>
      <p:sp>
        <p:nvSpPr>
          <p:cNvPr id="45" name="StochasticAcceleratedMirrorProx-algorithm-7795">
            <a:extLst xmlns:a="http://schemas.openxmlformats.org/drawingml/2006/main">
              <a:ext uri="{FF2B5EF4-FFF2-40B4-BE49-F238E27FC236}">
                <a16:creationId xmlns:a16="http://schemas.microsoft.com/office/drawing/2014/main" id="{042B87A4-E79A-4015-A4F9-D9AD3B596538}"/>
              </a:ext>
            </a:extLst>
          </p:cNvPr>
          <p:cNvSpPr>
            <a:spLocks xmlns:a="http://schemas.openxmlformats.org/drawingml/2006/main" noGrp="1"/>
          </p:cNvSpPr>
          <p:nvPr/>
        </p:nvSpPr>
        <p:spPr>
          <a:xfrm xmlns:a="http://schemas.openxmlformats.org/drawingml/2006/main">
            <a:off x="7236184" y="3053793"/>
            <a:ext cx="788525" cy="953176"/>
          </a:xfrm>
          <a:custGeom xmlns:a="http://schemas.openxmlformats.org/drawingml/2006/main">
            <a:pathLst>
              <a:path w="788525" h="953176">
                <a:moveTo>
                  <a:pt x="366077" y="0"/>
                </a:moveTo>
                <a:lnTo>
                  <a:pt x="405781" y="19081"/>
                </a:lnTo>
                <a:lnTo>
                  <a:pt x="445243" y="38657"/>
                </a:lnTo>
                <a:lnTo>
                  <a:pt x="484458" y="58725"/>
                </a:lnTo>
                <a:lnTo>
                  <a:pt x="523418" y="79282"/>
                </a:lnTo>
                <a:lnTo>
                  <a:pt x="562119" y="100324"/>
                </a:lnTo>
                <a:lnTo>
                  <a:pt x="600553" y="121848"/>
                </a:lnTo>
                <a:lnTo>
                  <a:pt x="638716" y="143851"/>
                </a:lnTo>
                <a:lnTo>
                  <a:pt x="676600" y="166330"/>
                </a:lnTo>
                <a:lnTo>
                  <a:pt x="714200" y="189280"/>
                </a:lnTo>
                <a:lnTo>
                  <a:pt x="751510" y="212699"/>
                </a:lnTo>
                <a:lnTo>
                  <a:pt x="788525" y="236582"/>
                </a:lnTo>
                <a:lnTo>
                  <a:pt x="319777" y="953176"/>
                </a:lnTo>
                <a:lnTo>
                  <a:pt x="291759" y="935097"/>
                </a:lnTo>
                <a:lnTo>
                  <a:pt x="263516" y="917370"/>
                </a:lnTo>
                <a:lnTo>
                  <a:pt x="235054" y="899998"/>
                </a:lnTo>
                <a:lnTo>
                  <a:pt x="206377" y="882982"/>
                </a:lnTo>
                <a:lnTo>
                  <a:pt x="177490" y="866327"/>
                </a:lnTo>
                <a:lnTo>
                  <a:pt x="148396" y="850034"/>
                </a:lnTo>
                <a:lnTo>
                  <a:pt x="119102" y="834106"/>
                </a:lnTo>
                <a:lnTo>
                  <a:pt x="89610" y="818545"/>
                </a:lnTo>
                <a:lnTo>
                  <a:pt x="59926" y="803354"/>
                </a:lnTo>
                <a:lnTo>
                  <a:pt x="30054" y="788536"/>
                </a:lnTo>
                <a:lnTo>
                  <a:pt x="0" y="774092"/>
                </a:lnTo>
                <a:close/>
              </a:path>
            </a:pathLst>
          </a:custGeom>
          <a:gradFill xmlns:a="http://schemas.openxmlformats.org/drawingml/2006/main">
            <a:gsLst>
              <a:gs pos="0">
                <a:srgbClr val="087479"/>
              </a:gs>
              <a:gs pos="50000">
                <a:srgbClr val="087F82"/>
              </a:gs>
              <a:gs pos="100000">
                <a:srgbClr val="289092"/>
              </a:gs>
            </a:gsLst>
            <a:lin ang="17955000"/>
          </a:gradFill>
          <a:ln xmlns:a="http://schemas.openxmlformats.org/drawingml/2006/main" w="0">
            <a:noFill/>
          </a:ln>
        </p:spPr>
      </p:sp>
      <p:sp>
        <p:nvSpPr>
          <p:cNvPr id="46" name="StochasticAcceleratedMirrorProx-algorithm-end">
            <a:extLst xmlns:a="http://schemas.openxmlformats.org/drawingml/2006/main">
              <a:ext uri="{FF2B5EF4-FFF2-40B4-BE49-F238E27FC236}">
                <a16:creationId xmlns:a16="http://schemas.microsoft.com/office/drawing/2014/main" id="{6DE44A20-0F9A-4E9A-9A0B-A4E9E6B51455}"/>
              </a:ext>
            </a:extLst>
          </p:cNvPr>
          <p:cNvSpPr>
            <a:spLocks xmlns:a="http://schemas.openxmlformats.org/drawingml/2006/main" noGrp="1"/>
          </p:cNvSpPr>
          <p:nvPr/>
        </p:nvSpPr>
        <p:spPr>
          <a:xfrm xmlns:a="http://schemas.openxmlformats.org/drawingml/2006/main">
            <a:off x="7591674" y="3053793"/>
            <a:ext cx="433035" cy="257307"/>
          </a:xfrm>
          <a:custGeom xmlns:a="http://schemas.openxmlformats.org/drawingml/2006/main">
            <a:pathLst>
              <a:path w="433035" h="257307">
                <a:moveTo>
                  <a:pt x="10587" y="0"/>
                </a:moveTo>
                <a:lnTo>
                  <a:pt x="50291" y="19081"/>
                </a:lnTo>
                <a:lnTo>
                  <a:pt x="89754" y="38657"/>
                </a:lnTo>
                <a:lnTo>
                  <a:pt x="128968" y="58725"/>
                </a:lnTo>
                <a:lnTo>
                  <a:pt x="167929" y="79282"/>
                </a:lnTo>
                <a:lnTo>
                  <a:pt x="206629" y="100324"/>
                </a:lnTo>
                <a:lnTo>
                  <a:pt x="245064" y="121848"/>
                </a:lnTo>
                <a:lnTo>
                  <a:pt x="283226" y="143851"/>
                </a:lnTo>
                <a:lnTo>
                  <a:pt x="321110" y="166330"/>
                </a:lnTo>
                <a:lnTo>
                  <a:pt x="358710" y="189280"/>
                </a:lnTo>
                <a:lnTo>
                  <a:pt x="396021" y="212699"/>
                </a:lnTo>
                <a:lnTo>
                  <a:pt x="433035" y="236582"/>
                </a:lnTo>
                <a:lnTo>
                  <a:pt x="419478" y="257307"/>
                </a:lnTo>
                <a:lnTo>
                  <a:pt x="382724" y="233591"/>
                </a:lnTo>
                <a:lnTo>
                  <a:pt x="345676" y="210337"/>
                </a:lnTo>
                <a:lnTo>
                  <a:pt x="308340" y="187548"/>
                </a:lnTo>
                <a:lnTo>
                  <a:pt x="270722" y="165228"/>
                </a:lnTo>
                <a:lnTo>
                  <a:pt x="232828" y="143379"/>
                </a:lnTo>
                <a:lnTo>
                  <a:pt x="194664" y="122006"/>
                </a:lnTo>
                <a:lnTo>
                  <a:pt x="156235" y="101112"/>
                </a:lnTo>
                <a:lnTo>
                  <a:pt x="117549" y="80700"/>
                </a:lnTo>
                <a:lnTo>
                  <a:pt x="78610" y="60773"/>
                </a:lnTo>
                <a:lnTo>
                  <a:pt x="39425" y="41335"/>
                </a:lnTo>
                <a:lnTo>
                  <a:pt x="0" y="22388"/>
                </a:lnTo>
                <a:close/>
              </a:path>
            </a:pathLst>
          </a:custGeom>
          <a:solidFill xmlns:a="http://schemas.openxmlformats.org/drawingml/2006/main">
            <a:srgbClr val="087378"/>
          </a:solidFill>
          <a:ln xmlns:a="http://schemas.openxmlformats.org/drawingml/2006/main" w="0">
            <a:noFill/>
          </a:ln>
        </p:spPr>
      </p:sp>
      <p:sp>
        <p:nvSpPr>
          <p:cNvPr id="47" name="StochasticAcceleratedMirrorProx-reuse-2401">
            <a:extLst xmlns:a="http://schemas.openxmlformats.org/drawingml/2006/main">
              <a:ext uri="{FF2B5EF4-FFF2-40B4-BE49-F238E27FC236}">
                <a16:creationId xmlns:a16="http://schemas.microsoft.com/office/drawing/2014/main" id="{A562EE46-E4EB-48A1-B50C-CE5570D4FBBA}"/>
              </a:ext>
            </a:extLst>
          </p:cNvPr>
          <p:cNvSpPr>
            <a:spLocks xmlns:a="http://schemas.openxmlformats.org/drawingml/2006/main" noGrp="1"/>
          </p:cNvSpPr>
          <p:nvPr/>
        </p:nvSpPr>
        <p:spPr>
          <a:xfrm xmlns:a="http://schemas.openxmlformats.org/drawingml/2006/main">
            <a:off x="7002538" y="3827886"/>
            <a:ext cx="553423" cy="636445"/>
          </a:xfrm>
          <a:custGeom xmlns:a="http://schemas.openxmlformats.org/drawingml/2006/main">
            <a:pathLst>
              <a:path w="553423" h="636445">
                <a:moveTo>
                  <a:pt x="233646" y="0"/>
                </a:moveTo>
                <a:lnTo>
                  <a:pt x="263700" y="14444"/>
                </a:lnTo>
                <a:lnTo>
                  <a:pt x="293572" y="29262"/>
                </a:lnTo>
                <a:lnTo>
                  <a:pt x="323256" y="44453"/>
                </a:lnTo>
                <a:lnTo>
                  <a:pt x="352748" y="60013"/>
                </a:lnTo>
                <a:lnTo>
                  <a:pt x="382042" y="75941"/>
                </a:lnTo>
                <a:lnTo>
                  <a:pt x="411136" y="92234"/>
                </a:lnTo>
                <a:lnTo>
                  <a:pt x="440023" y="108890"/>
                </a:lnTo>
                <a:lnTo>
                  <a:pt x="468700" y="125905"/>
                </a:lnTo>
                <a:lnTo>
                  <a:pt x="497162" y="143278"/>
                </a:lnTo>
                <a:lnTo>
                  <a:pt x="525405" y="161005"/>
                </a:lnTo>
                <a:lnTo>
                  <a:pt x="553423" y="179084"/>
                </a:lnTo>
                <a:lnTo>
                  <a:pt x="254249" y="636445"/>
                </a:lnTo>
                <a:lnTo>
                  <a:pt x="231972" y="622071"/>
                </a:lnTo>
                <a:lnTo>
                  <a:pt x="209517" y="607976"/>
                </a:lnTo>
                <a:lnTo>
                  <a:pt x="186887" y="594164"/>
                </a:lnTo>
                <a:lnTo>
                  <a:pt x="164087" y="580635"/>
                </a:lnTo>
                <a:lnTo>
                  <a:pt x="141119" y="567393"/>
                </a:lnTo>
                <a:lnTo>
                  <a:pt x="117987" y="554438"/>
                </a:lnTo>
                <a:lnTo>
                  <a:pt x="94695" y="541774"/>
                </a:lnTo>
                <a:lnTo>
                  <a:pt x="71247" y="529402"/>
                </a:lnTo>
                <a:lnTo>
                  <a:pt x="47646" y="517324"/>
                </a:lnTo>
                <a:lnTo>
                  <a:pt x="23896" y="505543"/>
                </a:lnTo>
                <a:lnTo>
                  <a:pt x="0" y="494059"/>
                </a:lnTo>
                <a:close/>
              </a:path>
            </a:pathLst>
          </a:custGeom>
          <a:gradFill xmlns:a="http://schemas.openxmlformats.org/drawingml/2006/main">
            <a:gsLst>
              <a:gs pos="0">
                <a:srgbClr val="7FBCBE"/>
              </a:gs>
              <a:gs pos="100000">
                <a:srgbClr val="39999B"/>
              </a:gs>
            </a:gsLst>
            <a:lin ang="17955000"/>
          </a:gradFill>
          <a:ln xmlns:a="http://schemas.openxmlformats.org/drawingml/2006/main" w="0">
            <a:noFill/>
          </a:ln>
        </p:spPr>
      </p:sp>
      <p:sp>
        <p:nvSpPr>
          <p:cNvPr id="48" name="StochasticAcceleratedMirrorProx-reuse-end">
            <a:extLst xmlns:a="http://schemas.openxmlformats.org/drawingml/2006/main">
              <a:ext uri="{FF2B5EF4-FFF2-40B4-BE49-F238E27FC236}">
                <a16:creationId xmlns:a16="http://schemas.microsoft.com/office/drawing/2014/main" id="{CAA32C17-0961-4B21-83B3-5047BFF43C3F}"/>
              </a:ext>
            </a:extLst>
          </p:cNvPr>
          <p:cNvSpPr>
            <a:spLocks xmlns:a="http://schemas.openxmlformats.org/drawingml/2006/main" noGrp="1"/>
          </p:cNvSpPr>
          <p:nvPr/>
        </p:nvSpPr>
        <p:spPr>
          <a:xfrm xmlns:a="http://schemas.openxmlformats.org/drawingml/2006/main">
            <a:off x="7002538" y="4300418"/>
            <a:ext cx="267284" cy="163913"/>
          </a:xfrm>
          <a:custGeom xmlns:a="http://schemas.openxmlformats.org/drawingml/2006/main">
            <a:pathLst>
              <a:path w="267284" h="163913">
                <a:moveTo>
                  <a:pt x="10180" y="0"/>
                </a:moveTo>
                <a:lnTo>
                  <a:pt x="34344" y="11613"/>
                </a:lnTo>
                <a:lnTo>
                  <a:pt x="58361" y="23527"/>
                </a:lnTo>
                <a:lnTo>
                  <a:pt x="82227" y="35740"/>
                </a:lnTo>
                <a:lnTo>
                  <a:pt x="105939" y="48251"/>
                </a:lnTo>
                <a:lnTo>
                  <a:pt x="129492" y="61057"/>
                </a:lnTo>
                <a:lnTo>
                  <a:pt x="152884" y="74157"/>
                </a:lnTo>
                <a:lnTo>
                  <a:pt x="176109" y="87548"/>
                </a:lnTo>
                <a:lnTo>
                  <a:pt x="199166" y="101229"/>
                </a:lnTo>
                <a:lnTo>
                  <a:pt x="222050" y="115197"/>
                </a:lnTo>
                <a:lnTo>
                  <a:pt x="244757" y="129450"/>
                </a:lnTo>
                <a:lnTo>
                  <a:pt x="267284" y="143985"/>
                </a:lnTo>
                <a:lnTo>
                  <a:pt x="254249" y="163913"/>
                </a:lnTo>
                <a:lnTo>
                  <a:pt x="231972" y="149539"/>
                </a:lnTo>
                <a:lnTo>
                  <a:pt x="209517" y="135444"/>
                </a:lnTo>
                <a:lnTo>
                  <a:pt x="186887" y="121632"/>
                </a:lnTo>
                <a:lnTo>
                  <a:pt x="164087" y="108103"/>
                </a:lnTo>
                <a:lnTo>
                  <a:pt x="141119" y="94860"/>
                </a:lnTo>
                <a:lnTo>
                  <a:pt x="117987" y="81906"/>
                </a:lnTo>
                <a:lnTo>
                  <a:pt x="94695" y="69242"/>
                </a:lnTo>
                <a:lnTo>
                  <a:pt x="71247" y="56870"/>
                </a:lnTo>
                <a:lnTo>
                  <a:pt x="47646" y="44792"/>
                </a:lnTo>
                <a:lnTo>
                  <a:pt x="23896" y="33011"/>
                </a:lnTo>
                <a:lnTo>
                  <a:pt x="0" y="21527"/>
                </a:lnTo>
                <a:close/>
              </a:path>
            </a:pathLst>
          </a:custGeom>
          <a:solidFill xmlns:a="http://schemas.openxmlformats.org/drawingml/2006/main">
            <a:srgbClr val="218C8F"/>
          </a:solidFill>
          <a:ln xmlns:a="http://schemas.openxmlformats.org/drawingml/2006/main" w="0">
            <a:noFill/>
          </a:ln>
        </p:spPr>
      </p:sp>
      <p:sp>
        <p:nvSpPr>
          <p:cNvPr id="49" name="StochasticAcceleratedMirrorProx-inbar-tick-5000">
            <a:extLst xmlns:a="http://schemas.openxmlformats.org/drawingml/2006/main">
              <a:ext uri="{FF2B5EF4-FFF2-40B4-BE49-F238E27FC236}">
                <a16:creationId xmlns:a16="http://schemas.microsoft.com/office/drawing/2014/main" id="{A9746587-FC16-4057-923A-BF7BB567C369}"/>
              </a:ext>
            </a:extLst>
          </p:cNvPr>
          <p:cNvSpPr>
            <a:spLocks xmlns:a="http://schemas.openxmlformats.org/drawingml/2006/main" noGrp="1"/>
          </p:cNvSpPr>
          <p:nvPr/>
        </p:nvSpPr>
        <p:spPr>
          <a:xfrm xmlns:a="http://schemas.openxmlformats.org/drawingml/2006/main">
            <a:off x="7526728" y="3202320"/>
            <a:ext cx="408042" cy="235912"/>
          </a:xfrm>
          <a:custGeom xmlns:a="http://schemas.openxmlformats.org/drawingml/2006/main">
            <a:pathLst>
              <a:path w="408042" h="235912">
                <a:moveTo>
                  <a:pt x="5294" y="0"/>
                </a:moveTo>
                <a:lnTo>
                  <a:pt x="43146" y="18191"/>
                </a:lnTo>
                <a:lnTo>
                  <a:pt x="80768" y="36854"/>
                </a:lnTo>
                <a:lnTo>
                  <a:pt x="118154" y="55987"/>
                </a:lnTo>
                <a:lnTo>
                  <a:pt x="155298" y="75584"/>
                </a:lnTo>
                <a:lnTo>
                  <a:pt x="192194" y="95645"/>
                </a:lnTo>
                <a:lnTo>
                  <a:pt x="228836" y="116166"/>
                </a:lnTo>
                <a:lnTo>
                  <a:pt x="265219" y="137143"/>
                </a:lnTo>
                <a:lnTo>
                  <a:pt x="301336" y="158573"/>
                </a:lnTo>
                <a:lnTo>
                  <a:pt x="337183" y="180453"/>
                </a:lnTo>
                <a:lnTo>
                  <a:pt x="372753" y="202780"/>
                </a:lnTo>
                <a:lnTo>
                  <a:pt x="408042" y="225550"/>
                </a:lnTo>
                <a:lnTo>
                  <a:pt x="401263" y="235912"/>
                </a:lnTo>
                <a:lnTo>
                  <a:pt x="366105" y="213227"/>
                </a:lnTo>
                <a:lnTo>
                  <a:pt x="330666" y="190982"/>
                </a:lnTo>
                <a:lnTo>
                  <a:pt x="294951" y="169183"/>
                </a:lnTo>
                <a:lnTo>
                  <a:pt x="258967" y="147831"/>
                </a:lnTo>
                <a:lnTo>
                  <a:pt x="222718" y="126932"/>
                </a:lnTo>
                <a:lnTo>
                  <a:pt x="186211" y="106487"/>
                </a:lnTo>
                <a:lnTo>
                  <a:pt x="149451" y="86500"/>
                </a:lnTo>
                <a:lnTo>
                  <a:pt x="112444" y="66974"/>
                </a:lnTo>
                <a:lnTo>
                  <a:pt x="75196" y="47912"/>
                </a:lnTo>
                <a:lnTo>
                  <a:pt x="37713" y="29318"/>
                </a:lnTo>
                <a:lnTo>
                  <a:pt x="0" y="11194"/>
                </a:lnTo>
                <a:close/>
              </a:path>
            </a:pathLst>
          </a:custGeom>
          <a:solidFill xmlns:a="http://schemas.openxmlformats.org/drawingml/2006/main">
            <a:srgbClr val="B2D7D8"/>
          </a:solidFill>
          <a:ln xmlns:a="http://schemas.openxmlformats.org/drawingml/2006/main" w="0">
            <a:noFill/>
          </a:ln>
        </p:spPr>
      </p:sp>
      <p:sp>
        <p:nvSpPr>
          <p:cNvPr id="50" name="StochasticAcceleratedMirrorProx-baseline-gap">
            <a:extLst xmlns:a="http://schemas.openxmlformats.org/drawingml/2006/main">
              <a:ext uri="{FF2B5EF4-FFF2-40B4-BE49-F238E27FC236}">
                <a16:creationId xmlns:a16="http://schemas.microsoft.com/office/drawing/2014/main" id="{0A58FE79-B7A3-44FB-8D6D-B3D18B3EC63F}"/>
              </a:ext>
            </a:extLst>
          </p:cNvPr>
          <p:cNvSpPr>
            <a:spLocks xmlns:a="http://schemas.openxmlformats.org/drawingml/2006/main" noGrp="1"/>
          </p:cNvSpPr>
          <p:nvPr/>
        </p:nvSpPr>
        <p:spPr>
          <a:xfrm xmlns:a="http://schemas.openxmlformats.org/drawingml/2006/main">
            <a:off x="7214827" y="3796321"/>
            <a:ext cx="365691" cy="241208"/>
          </a:xfrm>
          <a:custGeom xmlns:a="http://schemas.openxmlformats.org/drawingml/2006/main">
            <a:pathLst>
              <a:path w="365691" h="241208">
                <a:moveTo>
                  <a:pt x="25869" y="0"/>
                </a:moveTo>
                <a:lnTo>
                  <a:pt x="55200" y="13962"/>
                </a:lnTo>
                <a:lnTo>
                  <a:pt x="84361" y="28276"/>
                </a:lnTo>
                <a:lnTo>
                  <a:pt x="113348" y="42941"/>
                </a:lnTo>
                <a:lnTo>
                  <a:pt x="142156" y="57953"/>
                </a:lnTo>
                <a:lnTo>
                  <a:pt x="170781" y="73312"/>
                </a:lnTo>
                <a:lnTo>
                  <a:pt x="199219" y="89013"/>
                </a:lnTo>
                <a:lnTo>
                  <a:pt x="227466" y="105057"/>
                </a:lnTo>
                <a:lnTo>
                  <a:pt x="255518" y="121439"/>
                </a:lnTo>
                <a:lnTo>
                  <a:pt x="283370" y="138158"/>
                </a:lnTo>
                <a:lnTo>
                  <a:pt x="311019" y="155211"/>
                </a:lnTo>
                <a:lnTo>
                  <a:pt x="338461" y="172595"/>
                </a:lnTo>
                <a:lnTo>
                  <a:pt x="365691" y="190309"/>
                </a:lnTo>
                <a:lnTo>
                  <a:pt x="332142" y="241208"/>
                </a:lnTo>
                <a:lnTo>
                  <a:pt x="305527" y="223894"/>
                </a:lnTo>
                <a:lnTo>
                  <a:pt x="278706" y="206902"/>
                </a:lnTo>
                <a:lnTo>
                  <a:pt x="251682" y="190234"/>
                </a:lnTo>
                <a:lnTo>
                  <a:pt x="224459" y="173893"/>
                </a:lnTo>
                <a:lnTo>
                  <a:pt x="197041" y="157881"/>
                </a:lnTo>
                <a:lnTo>
                  <a:pt x="169433" y="142201"/>
                </a:lnTo>
                <a:lnTo>
                  <a:pt x="141637" y="126854"/>
                </a:lnTo>
                <a:lnTo>
                  <a:pt x="113659" y="111843"/>
                </a:lnTo>
                <a:lnTo>
                  <a:pt x="85502" y="97169"/>
                </a:lnTo>
                <a:lnTo>
                  <a:pt x="57171" y="82836"/>
                </a:lnTo>
                <a:lnTo>
                  <a:pt x="28669" y="68846"/>
                </a:lnTo>
                <a:lnTo>
                  <a:pt x="0" y="55199"/>
                </a:lnTo>
                <a:close/>
              </a:path>
            </a:pathLst>
          </a:custGeom>
          <a:solidFill xmlns:a="http://schemas.openxmlformats.org/drawingml/2006/main">
            <a:srgbClr val="FFFFFF"/>
          </a:solidFill>
          <a:ln xmlns:a="http://schemas.openxmlformats.org/drawingml/2006/main" w="0">
            <a:noFill/>
          </a:ln>
        </p:spPr>
      </p:sp>
      <p:sp>
        <p:nvSpPr>
          <p:cNvPr id="51" name="StochasticAcceleratedMirrorProx-label">
            <a:extLst xmlns:a="http://schemas.openxmlformats.org/drawingml/2006/main">
              <a:ext uri="{FF2B5EF4-FFF2-40B4-BE49-F238E27FC236}">
                <a16:creationId xmlns:a16="http://schemas.microsoft.com/office/drawing/2014/main" id="{045967BF-7465-41C6-BBAB-6B46CEFEA4D6}"/>
              </a:ext>
            </a:extLst>
          </p:cNvPr>
          <p:cNvSpPr>
            <a:spLocks xmlns:a="http://schemas.openxmlformats.org/drawingml/2006/main" noGrp="1"/>
          </p:cNvSpPr>
          <p:nvPr/>
        </p:nvSpPr>
        <p:spPr>
          <a:xfrm xmlns:a="http://schemas.openxmlformats.org/drawingml/2006/main" rot="17955000">
            <a:off x="7633056" y="2445470"/>
            <a:ext cx="93999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SAMP</a:t>
            </a:r>
          </a:p>
        </p:txBody>
      </p:sp>
      <p:sp>
        <p:nvSpPr>
          <p:cNvPr id="52" name="StochasticAcceleratedPrimalDual-algorithm-12302">
            <a:extLst xmlns:a="http://schemas.openxmlformats.org/drawingml/2006/main">
              <a:ext uri="{FF2B5EF4-FFF2-40B4-BE49-F238E27FC236}">
                <a16:creationId xmlns:a16="http://schemas.microsoft.com/office/drawing/2014/main" id="{D4944077-2D58-473E-B636-098A7BD2557D}"/>
              </a:ext>
            </a:extLst>
          </p:cNvPr>
          <p:cNvSpPr>
            <a:spLocks xmlns:a="http://schemas.openxmlformats.org/drawingml/2006/main" noGrp="1"/>
          </p:cNvSpPr>
          <p:nvPr/>
        </p:nvSpPr>
        <p:spPr>
          <a:xfrm xmlns:a="http://schemas.openxmlformats.org/drawingml/2006/main">
            <a:off x="7610822" y="3158475"/>
            <a:ext cx="1013243" cy="1113767"/>
          </a:xfrm>
          <a:custGeom xmlns:a="http://schemas.openxmlformats.org/drawingml/2006/main">
            <a:pathLst>
              <a:path w="1013243" h="1113767">
                <a:moveTo>
                  <a:pt x="610997" y="0"/>
                </a:moveTo>
                <a:lnTo>
                  <a:pt x="649344" y="26819"/>
                </a:lnTo>
                <a:lnTo>
                  <a:pt x="687352" y="54115"/>
                </a:lnTo>
                <a:lnTo>
                  <a:pt x="725016" y="81885"/>
                </a:lnTo>
                <a:lnTo>
                  <a:pt x="762331" y="110123"/>
                </a:lnTo>
                <a:lnTo>
                  <a:pt x="799289" y="138825"/>
                </a:lnTo>
                <a:lnTo>
                  <a:pt x="835885" y="167988"/>
                </a:lnTo>
                <a:lnTo>
                  <a:pt x="872114" y="197605"/>
                </a:lnTo>
                <a:lnTo>
                  <a:pt x="907970" y="227673"/>
                </a:lnTo>
                <a:lnTo>
                  <a:pt x="943447" y="258187"/>
                </a:lnTo>
                <a:lnTo>
                  <a:pt x="978540" y="289143"/>
                </a:lnTo>
                <a:lnTo>
                  <a:pt x="1013243" y="320534"/>
                </a:lnTo>
                <a:lnTo>
                  <a:pt x="286633" y="1113767"/>
                </a:lnTo>
                <a:lnTo>
                  <a:pt x="261905" y="1091398"/>
                </a:lnTo>
                <a:lnTo>
                  <a:pt x="236898" y="1069340"/>
                </a:lnTo>
                <a:lnTo>
                  <a:pt x="211618" y="1047596"/>
                </a:lnTo>
                <a:lnTo>
                  <a:pt x="186068" y="1026170"/>
                </a:lnTo>
                <a:lnTo>
                  <a:pt x="160251" y="1005065"/>
                </a:lnTo>
                <a:lnTo>
                  <a:pt x="134173" y="984284"/>
                </a:lnTo>
                <a:lnTo>
                  <a:pt x="107838" y="963832"/>
                </a:lnTo>
                <a:lnTo>
                  <a:pt x="81248" y="943710"/>
                </a:lnTo>
                <a:lnTo>
                  <a:pt x="54409" y="923922"/>
                </a:lnTo>
                <a:lnTo>
                  <a:pt x="27325" y="904471"/>
                </a:lnTo>
                <a:lnTo>
                  <a:pt x="0" y="885360"/>
                </a:lnTo>
                <a:close/>
              </a:path>
            </a:pathLst>
          </a:custGeom>
          <a:gradFill xmlns:a="http://schemas.openxmlformats.org/drawingml/2006/main">
            <a:gsLst>
              <a:gs pos="0">
                <a:srgbClr val="087479"/>
              </a:gs>
              <a:gs pos="50000">
                <a:srgbClr val="087F82"/>
              </a:gs>
              <a:gs pos="100000">
                <a:srgbClr val="289092"/>
              </a:gs>
            </a:gsLst>
            <a:lin ang="18512999"/>
          </a:gradFill>
          <a:ln xmlns:a="http://schemas.openxmlformats.org/drawingml/2006/main" w="0">
            <a:noFill/>
          </a:ln>
        </p:spPr>
      </p:sp>
      <p:sp>
        <p:nvSpPr>
          <p:cNvPr id="53" name="StochasticAcceleratedPrimalDual-algorithm-end">
            <a:extLst xmlns:a="http://schemas.openxmlformats.org/drawingml/2006/main">
              <a:ext uri="{FF2B5EF4-FFF2-40B4-BE49-F238E27FC236}">
                <a16:creationId xmlns:a16="http://schemas.microsoft.com/office/drawing/2014/main" id="{23D9C8FB-D8C3-49D5-A33F-AF23733B4958}"/>
              </a:ext>
            </a:extLst>
          </p:cNvPr>
          <p:cNvSpPr>
            <a:spLocks xmlns:a="http://schemas.openxmlformats.org/drawingml/2006/main" noGrp="1"/>
          </p:cNvSpPr>
          <p:nvPr/>
        </p:nvSpPr>
        <p:spPr>
          <a:xfrm xmlns:a="http://schemas.openxmlformats.org/drawingml/2006/main">
            <a:off x="8207753" y="3158475"/>
            <a:ext cx="416312" cy="338796"/>
          </a:xfrm>
          <a:custGeom xmlns:a="http://schemas.openxmlformats.org/drawingml/2006/main">
            <a:pathLst>
              <a:path w="416312" h="338796">
                <a:moveTo>
                  <a:pt x="14066" y="0"/>
                </a:moveTo>
                <a:lnTo>
                  <a:pt x="52413" y="26819"/>
                </a:lnTo>
                <a:lnTo>
                  <a:pt x="90421" y="54115"/>
                </a:lnTo>
                <a:lnTo>
                  <a:pt x="128086" y="81885"/>
                </a:lnTo>
                <a:lnTo>
                  <a:pt x="165400" y="110123"/>
                </a:lnTo>
                <a:lnTo>
                  <a:pt x="202358" y="138825"/>
                </a:lnTo>
                <a:lnTo>
                  <a:pt x="238954" y="167988"/>
                </a:lnTo>
                <a:lnTo>
                  <a:pt x="275183" y="197605"/>
                </a:lnTo>
                <a:lnTo>
                  <a:pt x="311039" y="227673"/>
                </a:lnTo>
                <a:lnTo>
                  <a:pt x="346516" y="258187"/>
                </a:lnTo>
                <a:lnTo>
                  <a:pt x="381609" y="289143"/>
                </a:lnTo>
                <a:lnTo>
                  <a:pt x="416312" y="320534"/>
                </a:lnTo>
                <a:lnTo>
                  <a:pt x="399584" y="338796"/>
                </a:lnTo>
                <a:lnTo>
                  <a:pt x="365111" y="307612"/>
                </a:lnTo>
                <a:lnTo>
                  <a:pt x="330250" y="276862"/>
                </a:lnTo>
                <a:lnTo>
                  <a:pt x="295008" y="246549"/>
                </a:lnTo>
                <a:lnTo>
                  <a:pt x="259389" y="216680"/>
                </a:lnTo>
                <a:lnTo>
                  <a:pt x="223400" y="187259"/>
                </a:lnTo>
                <a:lnTo>
                  <a:pt x="187046" y="158289"/>
                </a:lnTo>
                <a:lnTo>
                  <a:pt x="150332" y="129777"/>
                </a:lnTo>
                <a:lnTo>
                  <a:pt x="113265" y="101725"/>
                </a:lnTo>
                <a:lnTo>
                  <a:pt x="75850" y="74140"/>
                </a:lnTo>
                <a:lnTo>
                  <a:pt x="38093" y="47024"/>
                </a:lnTo>
                <a:lnTo>
                  <a:pt x="0" y="20383"/>
                </a:lnTo>
                <a:close/>
              </a:path>
            </a:pathLst>
          </a:custGeom>
          <a:solidFill xmlns:a="http://schemas.openxmlformats.org/drawingml/2006/main">
            <a:srgbClr val="087378"/>
          </a:solidFill>
          <a:ln xmlns:a="http://schemas.openxmlformats.org/drawingml/2006/main" w="0">
            <a:noFill/>
          </a:ln>
        </p:spPr>
      </p:sp>
      <p:sp>
        <p:nvSpPr>
          <p:cNvPr id="54" name="StochasticAcceleratedPrimalDual-reuse-10518">
            <a:extLst xmlns:a="http://schemas.openxmlformats.org/drawingml/2006/main">
              <a:ext uri="{FF2B5EF4-FFF2-40B4-BE49-F238E27FC236}">
                <a16:creationId xmlns:a16="http://schemas.microsoft.com/office/drawing/2014/main" id="{5C8A4E51-2610-457C-89A2-05B358E6F794}"/>
              </a:ext>
            </a:extLst>
          </p:cNvPr>
          <p:cNvSpPr>
            <a:spLocks xmlns:a="http://schemas.openxmlformats.org/drawingml/2006/main" noGrp="1"/>
          </p:cNvSpPr>
          <p:nvPr/>
        </p:nvSpPr>
        <p:spPr>
          <a:xfrm xmlns:a="http://schemas.openxmlformats.org/drawingml/2006/main">
            <a:off x="6961118" y="4043835"/>
            <a:ext cx="936338" cy="1071892"/>
          </a:xfrm>
          <a:custGeom xmlns:a="http://schemas.openxmlformats.org/drawingml/2006/main">
            <a:pathLst>
              <a:path w="936338" h="1071892">
                <a:moveTo>
                  <a:pt x="649704" y="0"/>
                </a:moveTo>
                <a:lnTo>
                  <a:pt x="677029" y="19111"/>
                </a:lnTo>
                <a:lnTo>
                  <a:pt x="704114" y="38562"/>
                </a:lnTo>
                <a:lnTo>
                  <a:pt x="730952" y="58350"/>
                </a:lnTo>
                <a:lnTo>
                  <a:pt x="757542" y="78472"/>
                </a:lnTo>
                <a:lnTo>
                  <a:pt x="783878" y="98925"/>
                </a:lnTo>
                <a:lnTo>
                  <a:pt x="809956" y="119705"/>
                </a:lnTo>
                <a:lnTo>
                  <a:pt x="835772" y="140810"/>
                </a:lnTo>
                <a:lnTo>
                  <a:pt x="861322" y="162236"/>
                </a:lnTo>
                <a:lnTo>
                  <a:pt x="886602" y="183980"/>
                </a:lnTo>
                <a:lnTo>
                  <a:pt x="911609" y="206038"/>
                </a:lnTo>
                <a:lnTo>
                  <a:pt x="936338" y="228407"/>
                </a:lnTo>
                <a:lnTo>
                  <a:pt x="163697" y="1071892"/>
                </a:lnTo>
                <a:lnTo>
                  <a:pt x="149574" y="1059117"/>
                </a:lnTo>
                <a:lnTo>
                  <a:pt x="135293" y="1046519"/>
                </a:lnTo>
                <a:lnTo>
                  <a:pt x="120855" y="1034101"/>
                </a:lnTo>
                <a:lnTo>
                  <a:pt x="106264" y="1021865"/>
                </a:lnTo>
                <a:lnTo>
                  <a:pt x="91520" y="1009812"/>
                </a:lnTo>
                <a:lnTo>
                  <a:pt x="76627" y="997944"/>
                </a:lnTo>
                <a:lnTo>
                  <a:pt x="61586" y="986263"/>
                </a:lnTo>
                <a:lnTo>
                  <a:pt x="46401" y="974772"/>
                </a:lnTo>
                <a:lnTo>
                  <a:pt x="31073" y="963471"/>
                </a:lnTo>
                <a:lnTo>
                  <a:pt x="15606" y="952362"/>
                </a:lnTo>
                <a:lnTo>
                  <a:pt x="0" y="941448"/>
                </a:lnTo>
                <a:close/>
              </a:path>
            </a:pathLst>
          </a:custGeom>
          <a:gradFill xmlns:a="http://schemas.openxmlformats.org/drawingml/2006/main">
            <a:gsLst>
              <a:gs pos="0">
                <a:srgbClr val="7FBCBE"/>
              </a:gs>
              <a:gs pos="100000">
                <a:srgbClr val="39999B"/>
              </a:gs>
            </a:gsLst>
            <a:lin ang="18512999"/>
          </a:gradFill>
          <a:ln xmlns:a="http://schemas.openxmlformats.org/drawingml/2006/main" w="0">
            <a:noFill/>
          </a:ln>
        </p:spPr>
      </p:sp>
      <p:sp>
        <p:nvSpPr>
          <p:cNvPr id="55" name="StochasticAcceleratedPrimalDual-reuse-end">
            <a:extLst xmlns:a="http://schemas.openxmlformats.org/drawingml/2006/main">
              <a:ext uri="{FF2B5EF4-FFF2-40B4-BE49-F238E27FC236}">
                <a16:creationId xmlns:a16="http://schemas.microsoft.com/office/drawing/2014/main" id="{F1F1753E-5399-41D8-BB4B-B3D2DA87E6C3}"/>
              </a:ext>
            </a:extLst>
          </p:cNvPr>
          <p:cNvSpPr>
            <a:spLocks xmlns:a="http://schemas.openxmlformats.org/drawingml/2006/main" noGrp="1"/>
          </p:cNvSpPr>
          <p:nvPr/>
        </p:nvSpPr>
        <p:spPr>
          <a:xfrm xmlns:a="http://schemas.openxmlformats.org/drawingml/2006/main">
            <a:off x="6961118" y="4965684"/>
            <a:ext cx="179781" cy="150042"/>
          </a:xfrm>
          <a:custGeom xmlns:a="http://schemas.openxmlformats.org/drawingml/2006/main">
            <a:pathLst>
              <a:path w="179781" h="150042">
                <a:moveTo>
                  <a:pt x="13525" y="0"/>
                </a:moveTo>
                <a:lnTo>
                  <a:pt x="29375" y="11085"/>
                </a:lnTo>
                <a:lnTo>
                  <a:pt x="45084" y="22367"/>
                </a:lnTo>
                <a:lnTo>
                  <a:pt x="60652" y="33845"/>
                </a:lnTo>
                <a:lnTo>
                  <a:pt x="76074" y="45516"/>
                </a:lnTo>
                <a:lnTo>
                  <a:pt x="91350" y="57379"/>
                </a:lnTo>
                <a:lnTo>
                  <a:pt x="106476" y="69433"/>
                </a:lnTo>
                <a:lnTo>
                  <a:pt x="121450" y="81674"/>
                </a:lnTo>
                <a:lnTo>
                  <a:pt x="136270" y="94102"/>
                </a:lnTo>
                <a:lnTo>
                  <a:pt x="150933" y="106714"/>
                </a:lnTo>
                <a:lnTo>
                  <a:pt x="165438" y="119508"/>
                </a:lnTo>
                <a:lnTo>
                  <a:pt x="179781" y="132483"/>
                </a:lnTo>
                <a:lnTo>
                  <a:pt x="163697" y="150042"/>
                </a:lnTo>
                <a:lnTo>
                  <a:pt x="149574" y="137267"/>
                </a:lnTo>
                <a:lnTo>
                  <a:pt x="135293" y="124670"/>
                </a:lnTo>
                <a:lnTo>
                  <a:pt x="120855" y="112252"/>
                </a:lnTo>
                <a:lnTo>
                  <a:pt x="106264" y="100015"/>
                </a:lnTo>
                <a:lnTo>
                  <a:pt x="91520" y="87962"/>
                </a:lnTo>
                <a:lnTo>
                  <a:pt x="76627" y="76095"/>
                </a:lnTo>
                <a:lnTo>
                  <a:pt x="61586" y="64414"/>
                </a:lnTo>
                <a:lnTo>
                  <a:pt x="46401" y="52922"/>
                </a:lnTo>
                <a:lnTo>
                  <a:pt x="31073" y="41621"/>
                </a:lnTo>
                <a:lnTo>
                  <a:pt x="15606" y="30513"/>
                </a:lnTo>
                <a:lnTo>
                  <a:pt x="0" y="19599"/>
                </a:lnTo>
                <a:close/>
              </a:path>
            </a:pathLst>
          </a:custGeom>
          <a:solidFill xmlns:a="http://schemas.openxmlformats.org/drawingml/2006/main">
            <a:srgbClr val="218C8F"/>
          </a:solidFill>
          <a:ln xmlns:a="http://schemas.openxmlformats.org/drawingml/2006/main" w="0">
            <a:noFill/>
          </a:ln>
        </p:spPr>
      </p:sp>
      <p:sp>
        <p:nvSpPr>
          <p:cNvPr id="56" name="StochasticAcceleratedPrimalDual-inbar-tick-5000">
            <a:extLst xmlns:a="http://schemas.openxmlformats.org/drawingml/2006/main">
              <a:ext uri="{FF2B5EF4-FFF2-40B4-BE49-F238E27FC236}">
                <a16:creationId xmlns:a16="http://schemas.microsoft.com/office/drawing/2014/main" id="{B9CA5D87-FDC8-40B2-806E-44381FA235DA}"/>
              </a:ext>
            </a:extLst>
          </p:cNvPr>
          <p:cNvSpPr>
            <a:spLocks xmlns:a="http://schemas.openxmlformats.org/drawingml/2006/main" noGrp="1"/>
          </p:cNvSpPr>
          <p:nvPr/>
        </p:nvSpPr>
        <p:spPr>
          <a:xfrm xmlns:a="http://schemas.openxmlformats.org/drawingml/2006/main">
            <a:off x="7996832" y="3474300"/>
            <a:ext cx="368038" cy="296802"/>
          </a:xfrm>
          <a:custGeom xmlns:a="http://schemas.openxmlformats.org/drawingml/2006/main">
            <a:pathLst>
              <a:path w="368038" h="296802">
                <a:moveTo>
                  <a:pt x="7033" y="0"/>
                </a:moveTo>
                <a:lnTo>
                  <a:pt x="41448" y="24069"/>
                </a:lnTo>
                <a:lnTo>
                  <a:pt x="75560" y="48567"/>
                </a:lnTo>
                <a:lnTo>
                  <a:pt x="109363" y="73489"/>
                </a:lnTo>
                <a:lnTo>
                  <a:pt x="142851" y="98832"/>
                </a:lnTo>
                <a:lnTo>
                  <a:pt x="176020" y="124592"/>
                </a:lnTo>
                <a:lnTo>
                  <a:pt x="208864" y="150764"/>
                </a:lnTo>
                <a:lnTo>
                  <a:pt x="241379" y="177345"/>
                </a:lnTo>
                <a:lnTo>
                  <a:pt x="273558" y="204331"/>
                </a:lnTo>
                <a:lnTo>
                  <a:pt x="305398" y="231716"/>
                </a:lnTo>
                <a:lnTo>
                  <a:pt x="336893" y="259498"/>
                </a:lnTo>
                <a:lnTo>
                  <a:pt x="368038" y="287671"/>
                </a:lnTo>
                <a:lnTo>
                  <a:pt x="359674" y="296802"/>
                </a:lnTo>
                <a:lnTo>
                  <a:pt x="328644" y="268732"/>
                </a:lnTo>
                <a:lnTo>
                  <a:pt x="297265" y="241053"/>
                </a:lnTo>
                <a:lnTo>
                  <a:pt x="265543" y="213769"/>
                </a:lnTo>
                <a:lnTo>
                  <a:pt x="233482" y="186883"/>
                </a:lnTo>
                <a:lnTo>
                  <a:pt x="201087" y="160400"/>
                </a:lnTo>
                <a:lnTo>
                  <a:pt x="168364" y="134324"/>
                </a:lnTo>
                <a:lnTo>
                  <a:pt x="135317" y="108659"/>
                </a:lnTo>
                <a:lnTo>
                  <a:pt x="101952" y="83410"/>
                </a:lnTo>
                <a:lnTo>
                  <a:pt x="68274" y="58579"/>
                </a:lnTo>
                <a:lnTo>
                  <a:pt x="34288" y="34172"/>
                </a:lnTo>
                <a:lnTo>
                  <a:pt x="0" y="10191"/>
                </a:lnTo>
                <a:close/>
              </a:path>
            </a:pathLst>
          </a:custGeom>
          <a:solidFill xmlns:a="http://schemas.openxmlformats.org/drawingml/2006/main">
            <a:srgbClr val="B2D7D8"/>
          </a:solidFill>
          <a:ln xmlns:a="http://schemas.openxmlformats.org/drawingml/2006/main" w="0">
            <a:noFill/>
          </a:ln>
        </p:spPr>
      </p:sp>
      <p:sp>
        <p:nvSpPr>
          <p:cNvPr id="57" name="StochasticAcceleratedPrimalDual-baseline-gap">
            <a:extLst xmlns:a="http://schemas.openxmlformats.org/drawingml/2006/main">
              <a:ext uri="{FF2B5EF4-FFF2-40B4-BE49-F238E27FC236}">
                <a16:creationId xmlns:a16="http://schemas.microsoft.com/office/drawing/2014/main" id="{12289891-204C-4CE6-84C7-119CF3769829}"/>
              </a:ext>
            </a:extLst>
          </p:cNvPr>
          <p:cNvSpPr>
            <a:spLocks xmlns:a="http://schemas.openxmlformats.org/drawingml/2006/main" noGrp="1"/>
          </p:cNvSpPr>
          <p:nvPr/>
        </p:nvSpPr>
        <p:spPr>
          <a:xfrm xmlns:a="http://schemas.openxmlformats.org/drawingml/2006/main">
            <a:off x="7585926" y="4013414"/>
            <a:ext cx="339050" cy="287532"/>
          </a:xfrm>
          <a:custGeom xmlns:a="http://schemas.openxmlformats.org/drawingml/2006/main">
            <a:pathLst>
              <a:path w="339050" h="287532">
                <a:moveTo>
                  <a:pt x="34449" y="0"/>
                </a:moveTo>
                <a:lnTo>
                  <a:pt x="61139" y="18519"/>
                </a:lnTo>
                <a:lnTo>
                  <a:pt x="87603" y="37357"/>
                </a:lnTo>
                <a:lnTo>
                  <a:pt x="113839" y="56513"/>
                </a:lnTo>
                <a:lnTo>
                  <a:pt x="139842" y="75984"/>
                </a:lnTo>
                <a:lnTo>
                  <a:pt x="165609" y="95766"/>
                </a:lnTo>
                <a:lnTo>
                  <a:pt x="191136" y="115857"/>
                </a:lnTo>
                <a:lnTo>
                  <a:pt x="216419" y="136255"/>
                </a:lnTo>
                <a:lnTo>
                  <a:pt x="241454" y="156955"/>
                </a:lnTo>
                <a:lnTo>
                  <a:pt x="266239" y="177955"/>
                </a:lnTo>
                <a:lnTo>
                  <a:pt x="290769" y="199252"/>
                </a:lnTo>
                <a:lnTo>
                  <a:pt x="315040" y="220843"/>
                </a:lnTo>
                <a:lnTo>
                  <a:pt x="339050" y="242724"/>
                </a:lnTo>
                <a:lnTo>
                  <a:pt x="297717" y="287532"/>
                </a:lnTo>
                <a:lnTo>
                  <a:pt x="274250" y="266145"/>
                </a:lnTo>
                <a:lnTo>
                  <a:pt x="250527" y="245042"/>
                </a:lnTo>
                <a:lnTo>
                  <a:pt x="226551" y="224226"/>
                </a:lnTo>
                <a:lnTo>
                  <a:pt x="202327" y="203701"/>
                </a:lnTo>
                <a:lnTo>
                  <a:pt x="177857" y="183468"/>
                </a:lnTo>
                <a:lnTo>
                  <a:pt x="153146" y="163532"/>
                </a:lnTo>
                <a:lnTo>
                  <a:pt x="128196" y="143895"/>
                </a:lnTo>
                <a:lnTo>
                  <a:pt x="103011" y="124560"/>
                </a:lnTo>
                <a:lnTo>
                  <a:pt x="77596" y="105529"/>
                </a:lnTo>
                <a:lnTo>
                  <a:pt x="51953" y="86806"/>
                </a:lnTo>
                <a:lnTo>
                  <a:pt x="26086" y="68393"/>
                </a:lnTo>
                <a:lnTo>
                  <a:pt x="0" y="50293"/>
                </a:lnTo>
                <a:close/>
              </a:path>
            </a:pathLst>
          </a:custGeom>
          <a:solidFill xmlns:a="http://schemas.openxmlformats.org/drawingml/2006/main">
            <a:srgbClr val="FFFFFF"/>
          </a:solidFill>
          <a:ln xmlns:a="http://schemas.openxmlformats.org/drawingml/2006/main" w="0">
            <a:noFill/>
          </a:ln>
        </p:spPr>
      </p:sp>
      <p:sp>
        <p:nvSpPr>
          <p:cNvPr id="58" name="StochasticAcceleratedPrimalDual-label">
            <a:extLst xmlns:a="http://schemas.openxmlformats.org/drawingml/2006/main">
              <a:ext uri="{FF2B5EF4-FFF2-40B4-BE49-F238E27FC236}">
                <a16:creationId xmlns:a16="http://schemas.microsoft.com/office/drawing/2014/main" id="{E22B9E34-6E46-4BCB-BF63-84E313617DEE}"/>
              </a:ext>
            </a:extLst>
          </p:cNvPr>
          <p:cNvSpPr>
            <a:spLocks xmlns:a="http://schemas.openxmlformats.org/drawingml/2006/main" noGrp="1"/>
          </p:cNvSpPr>
          <p:nvPr/>
        </p:nvSpPr>
        <p:spPr>
          <a:xfrm xmlns:a="http://schemas.openxmlformats.org/drawingml/2006/main" rot="18513000">
            <a:off x="8328954" y="2658525"/>
            <a:ext cx="90621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SAPD</a:t>
            </a:r>
          </a:p>
        </p:txBody>
      </p:sp>
      <p:sp>
        <p:nvSpPr>
          <p:cNvPr id="59" name="StochasticBlockMirrorDescent-algorithm-3797">
            <a:extLst xmlns:a="http://schemas.openxmlformats.org/drawingml/2006/main">
              <a:ext uri="{FF2B5EF4-FFF2-40B4-BE49-F238E27FC236}">
                <a16:creationId xmlns:a16="http://schemas.microsoft.com/office/drawing/2014/main" id="{262DB147-576E-4717-AA02-513715D1933B}"/>
              </a:ext>
            </a:extLst>
          </p:cNvPr>
          <p:cNvSpPr>
            <a:spLocks xmlns:a="http://schemas.openxmlformats.org/drawingml/2006/main" noGrp="1"/>
          </p:cNvSpPr>
          <p:nvPr/>
        </p:nvSpPr>
        <p:spPr>
          <a:xfrm xmlns:a="http://schemas.openxmlformats.org/drawingml/2006/main">
            <a:off x="7945638" y="3886937"/>
            <a:ext cx="715542" cy="702277"/>
          </a:xfrm>
          <a:custGeom xmlns:a="http://schemas.openxmlformats.org/drawingml/2006/main">
            <a:pathLst>
              <a:path w="715542" h="702277">
                <a:moveTo>
                  <a:pt x="414473" y="0"/>
                </a:moveTo>
                <a:lnTo>
                  <a:pt x="443702" y="28491"/>
                </a:lnTo>
                <a:lnTo>
                  <a:pt x="472571" y="57345"/>
                </a:lnTo>
                <a:lnTo>
                  <a:pt x="501078" y="86558"/>
                </a:lnTo>
                <a:lnTo>
                  <a:pt x="529218" y="116125"/>
                </a:lnTo>
                <a:lnTo>
                  <a:pt x="556985" y="146042"/>
                </a:lnTo>
                <a:lnTo>
                  <a:pt x="584376" y="176303"/>
                </a:lnTo>
                <a:lnTo>
                  <a:pt x="611387" y="206905"/>
                </a:lnTo>
                <a:lnTo>
                  <a:pt x="638013" y="237842"/>
                </a:lnTo>
                <a:lnTo>
                  <a:pt x="664250" y="269109"/>
                </a:lnTo>
                <a:lnTo>
                  <a:pt x="690095" y="300702"/>
                </a:lnTo>
                <a:lnTo>
                  <a:pt x="715542" y="332615"/>
                </a:lnTo>
                <a:lnTo>
                  <a:pt x="245954" y="702277"/>
                </a:lnTo>
                <a:lnTo>
                  <a:pt x="225166" y="676206"/>
                </a:lnTo>
                <a:lnTo>
                  <a:pt x="204052" y="650396"/>
                </a:lnTo>
                <a:lnTo>
                  <a:pt x="182618" y="624853"/>
                </a:lnTo>
                <a:lnTo>
                  <a:pt x="160866" y="599579"/>
                </a:lnTo>
                <a:lnTo>
                  <a:pt x="138800" y="574580"/>
                </a:lnTo>
                <a:lnTo>
                  <a:pt x="116423" y="549858"/>
                </a:lnTo>
                <a:lnTo>
                  <a:pt x="93739" y="525418"/>
                </a:lnTo>
                <a:lnTo>
                  <a:pt x="70751" y="501264"/>
                </a:lnTo>
                <a:lnTo>
                  <a:pt x="47463" y="477399"/>
                </a:lnTo>
                <a:lnTo>
                  <a:pt x="23878" y="453826"/>
                </a:lnTo>
                <a:lnTo>
                  <a:pt x="0" y="430551"/>
                </a:lnTo>
                <a:close/>
              </a:path>
            </a:pathLst>
          </a:custGeom>
          <a:gradFill xmlns:a="http://schemas.openxmlformats.org/drawingml/2006/main">
            <a:gsLst>
              <a:gs pos="0">
                <a:srgbClr val="087479"/>
              </a:gs>
              <a:gs pos="50000">
                <a:srgbClr val="087F82"/>
              </a:gs>
              <a:gs pos="100000">
                <a:srgbClr val="289092"/>
              </a:gs>
            </a:gsLst>
            <a:lin ang="19071000"/>
          </a:gradFill>
          <a:ln xmlns:a="http://schemas.openxmlformats.org/drawingml/2006/main" w="0">
            <a:noFill/>
          </a:ln>
        </p:spPr>
      </p:sp>
      <p:sp>
        <p:nvSpPr>
          <p:cNvPr id="60" name="StochasticBlockMirrorDescent-algorithm-end">
            <a:extLst xmlns:a="http://schemas.openxmlformats.org/drawingml/2006/main">
              <a:ext uri="{FF2B5EF4-FFF2-40B4-BE49-F238E27FC236}">
                <a16:creationId xmlns:a16="http://schemas.microsoft.com/office/drawing/2014/main" id="{885B3AD5-EBC9-4B94-932D-CBD71C070B42}"/>
              </a:ext>
            </a:extLst>
          </p:cNvPr>
          <p:cNvSpPr>
            <a:spLocks xmlns:a="http://schemas.openxmlformats.org/drawingml/2006/main" noGrp="1"/>
          </p:cNvSpPr>
          <p:nvPr/>
        </p:nvSpPr>
        <p:spPr>
          <a:xfrm xmlns:a="http://schemas.openxmlformats.org/drawingml/2006/main">
            <a:off x="8342936" y="3886937"/>
            <a:ext cx="318244" cy="347934"/>
          </a:xfrm>
          <a:custGeom xmlns:a="http://schemas.openxmlformats.org/drawingml/2006/main">
            <a:pathLst>
              <a:path w="318244" h="347934">
                <a:moveTo>
                  <a:pt x="17175" y="0"/>
                </a:moveTo>
                <a:lnTo>
                  <a:pt x="46404" y="28491"/>
                </a:lnTo>
                <a:lnTo>
                  <a:pt x="75273" y="57345"/>
                </a:lnTo>
                <a:lnTo>
                  <a:pt x="103780" y="86558"/>
                </a:lnTo>
                <a:lnTo>
                  <a:pt x="131920" y="116125"/>
                </a:lnTo>
                <a:lnTo>
                  <a:pt x="159687" y="146042"/>
                </a:lnTo>
                <a:lnTo>
                  <a:pt x="187078" y="176303"/>
                </a:lnTo>
                <a:lnTo>
                  <a:pt x="214089" y="206905"/>
                </a:lnTo>
                <a:lnTo>
                  <a:pt x="240715" y="237842"/>
                </a:lnTo>
                <a:lnTo>
                  <a:pt x="266952" y="269109"/>
                </a:lnTo>
                <a:lnTo>
                  <a:pt x="292797" y="300702"/>
                </a:lnTo>
                <a:lnTo>
                  <a:pt x="318244" y="332615"/>
                </a:lnTo>
                <a:lnTo>
                  <a:pt x="298785" y="347934"/>
                </a:lnTo>
                <a:lnTo>
                  <a:pt x="273531" y="316262"/>
                </a:lnTo>
                <a:lnTo>
                  <a:pt x="247882" y="284909"/>
                </a:lnTo>
                <a:lnTo>
                  <a:pt x="221844" y="253879"/>
                </a:lnTo>
                <a:lnTo>
                  <a:pt x="195420" y="223177"/>
                </a:lnTo>
                <a:lnTo>
                  <a:pt x="168614" y="192807"/>
                </a:lnTo>
                <a:lnTo>
                  <a:pt x="141431" y="162776"/>
                </a:lnTo>
                <a:lnTo>
                  <a:pt x="113874" y="133086"/>
                </a:lnTo>
                <a:lnTo>
                  <a:pt x="85948" y="103743"/>
                </a:lnTo>
                <a:lnTo>
                  <a:pt x="57657" y="74752"/>
                </a:lnTo>
                <a:lnTo>
                  <a:pt x="29007" y="46116"/>
                </a:lnTo>
                <a:lnTo>
                  <a:pt x="0" y="17841"/>
                </a:lnTo>
                <a:close/>
              </a:path>
            </a:pathLst>
          </a:custGeom>
          <a:solidFill xmlns:a="http://schemas.openxmlformats.org/drawingml/2006/main">
            <a:srgbClr val="087378"/>
          </a:solidFill>
          <a:ln xmlns:a="http://schemas.openxmlformats.org/drawingml/2006/main" w="0">
            <a:noFill/>
          </a:ln>
        </p:spPr>
      </p:sp>
      <p:sp>
        <p:nvSpPr>
          <p:cNvPr id="61" name="StochasticBlockMirrorDescent-reuse-4174">
            <a:extLst xmlns:a="http://schemas.openxmlformats.org/drawingml/2006/main">
              <a:ext uri="{FF2B5EF4-FFF2-40B4-BE49-F238E27FC236}">
                <a16:creationId xmlns:a16="http://schemas.microsoft.com/office/drawing/2014/main" id="{4E93660B-1882-4910-A4CE-998C8D3F3EF4}"/>
              </a:ext>
            </a:extLst>
          </p:cNvPr>
          <p:cNvSpPr>
            <a:spLocks xmlns:a="http://schemas.openxmlformats.org/drawingml/2006/main" noGrp="1"/>
          </p:cNvSpPr>
          <p:nvPr/>
        </p:nvSpPr>
        <p:spPr>
          <a:xfrm xmlns:a="http://schemas.openxmlformats.org/drawingml/2006/main">
            <a:off x="7445891" y="4317488"/>
            <a:ext cx="745701" cy="717442"/>
          </a:xfrm>
          <a:custGeom xmlns:a="http://schemas.openxmlformats.org/drawingml/2006/main">
            <a:pathLst>
              <a:path w="745701" h="717442">
                <a:moveTo>
                  <a:pt x="499747" y="0"/>
                </a:moveTo>
                <a:lnTo>
                  <a:pt x="523625" y="23275"/>
                </a:lnTo>
                <a:lnTo>
                  <a:pt x="547210" y="46848"/>
                </a:lnTo>
                <a:lnTo>
                  <a:pt x="570498" y="70713"/>
                </a:lnTo>
                <a:lnTo>
                  <a:pt x="593486" y="94867"/>
                </a:lnTo>
                <a:lnTo>
                  <a:pt x="616170" y="119307"/>
                </a:lnTo>
                <a:lnTo>
                  <a:pt x="638547" y="144029"/>
                </a:lnTo>
                <a:lnTo>
                  <a:pt x="660614" y="169028"/>
                </a:lnTo>
                <a:lnTo>
                  <a:pt x="682365" y="194302"/>
                </a:lnTo>
                <a:lnTo>
                  <a:pt x="703800" y="219845"/>
                </a:lnTo>
                <a:lnTo>
                  <a:pt x="724913" y="245655"/>
                </a:lnTo>
                <a:lnTo>
                  <a:pt x="745701" y="271726"/>
                </a:lnTo>
                <a:lnTo>
                  <a:pt x="179501" y="717442"/>
                </a:lnTo>
                <a:lnTo>
                  <a:pt x="164329" y="698415"/>
                </a:lnTo>
                <a:lnTo>
                  <a:pt x="148920" y="679579"/>
                </a:lnTo>
                <a:lnTo>
                  <a:pt x="133277" y="660937"/>
                </a:lnTo>
                <a:lnTo>
                  <a:pt x="117402" y="642492"/>
                </a:lnTo>
                <a:lnTo>
                  <a:pt x="101298" y="624247"/>
                </a:lnTo>
                <a:lnTo>
                  <a:pt x="84967" y="606205"/>
                </a:lnTo>
                <a:lnTo>
                  <a:pt x="68412" y="588368"/>
                </a:lnTo>
                <a:lnTo>
                  <a:pt x="51635" y="570740"/>
                </a:lnTo>
                <a:lnTo>
                  <a:pt x="34639" y="553323"/>
                </a:lnTo>
                <a:lnTo>
                  <a:pt x="17426" y="536119"/>
                </a:lnTo>
                <a:lnTo>
                  <a:pt x="0" y="519133"/>
                </a:lnTo>
                <a:close/>
              </a:path>
            </a:pathLst>
          </a:custGeom>
          <a:gradFill xmlns:a="http://schemas.openxmlformats.org/drawingml/2006/main">
            <a:gsLst>
              <a:gs pos="0">
                <a:srgbClr val="7FBCBE"/>
              </a:gs>
              <a:gs pos="100000">
                <a:srgbClr val="39999B"/>
              </a:gs>
            </a:gsLst>
            <a:lin ang="19071000"/>
          </a:gradFill>
          <a:ln xmlns:a="http://schemas.openxmlformats.org/drawingml/2006/main" w="0">
            <a:noFill/>
          </a:ln>
        </p:spPr>
      </p:sp>
      <p:sp>
        <p:nvSpPr>
          <p:cNvPr id="62" name="StochasticBlockMirrorDescent-reuse-end">
            <a:extLst xmlns:a="http://schemas.openxmlformats.org/drawingml/2006/main">
              <a:ext uri="{FF2B5EF4-FFF2-40B4-BE49-F238E27FC236}">
                <a16:creationId xmlns:a16="http://schemas.microsoft.com/office/drawing/2014/main" id="{8C747C94-D4DB-4BC7-81C9-8E3778388215}"/>
              </a:ext>
            </a:extLst>
          </p:cNvPr>
          <p:cNvSpPr>
            <a:spLocks xmlns:a="http://schemas.openxmlformats.org/drawingml/2006/main" noGrp="1"/>
          </p:cNvSpPr>
          <p:nvPr/>
        </p:nvSpPr>
        <p:spPr>
          <a:xfrm xmlns:a="http://schemas.openxmlformats.org/drawingml/2006/main">
            <a:off x="7445891" y="4819465"/>
            <a:ext cx="198212" cy="215465"/>
          </a:xfrm>
          <a:custGeom xmlns:a="http://schemas.openxmlformats.org/drawingml/2006/main">
            <a:pathLst>
              <a:path w="198212" h="215465">
                <a:moveTo>
                  <a:pt x="16515" y="0"/>
                </a:moveTo>
                <a:lnTo>
                  <a:pt x="34154" y="17195"/>
                </a:lnTo>
                <a:lnTo>
                  <a:pt x="51577" y="34608"/>
                </a:lnTo>
                <a:lnTo>
                  <a:pt x="68781" y="52238"/>
                </a:lnTo>
                <a:lnTo>
                  <a:pt x="85764" y="70082"/>
                </a:lnTo>
                <a:lnTo>
                  <a:pt x="102521" y="88137"/>
                </a:lnTo>
                <a:lnTo>
                  <a:pt x="119052" y="106400"/>
                </a:lnTo>
                <a:lnTo>
                  <a:pt x="135353" y="124868"/>
                </a:lnTo>
                <a:lnTo>
                  <a:pt x="151422" y="143539"/>
                </a:lnTo>
                <a:lnTo>
                  <a:pt x="167257" y="162409"/>
                </a:lnTo>
                <a:lnTo>
                  <a:pt x="182854" y="181475"/>
                </a:lnTo>
                <a:lnTo>
                  <a:pt x="198212" y="200735"/>
                </a:lnTo>
                <a:lnTo>
                  <a:pt x="179501" y="215465"/>
                </a:lnTo>
                <a:lnTo>
                  <a:pt x="164329" y="196437"/>
                </a:lnTo>
                <a:lnTo>
                  <a:pt x="148920" y="177601"/>
                </a:lnTo>
                <a:lnTo>
                  <a:pt x="133277" y="158959"/>
                </a:lnTo>
                <a:lnTo>
                  <a:pt x="117402" y="140514"/>
                </a:lnTo>
                <a:lnTo>
                  <a:pt x="101298" y="122269"/>
                </a:lnTo>
                <a:lnTo>
                  <a:pt x="84967" y="104227"/>
                </a:lnTo>
                <a:lnTo>
                  <a:pt x="68412" y="86391"/>
                </a:lnTo>
                <a:lnTo>
                  <a:pt x="51635" y="68762"/>
                </a:lnTo>
                <a:lnTo>
                  <a:pt x="34639" y="51345"/>
                </a:lnTo>
                <a:lnTo>
                  <a:pt x="17426" y="34142"/>
                </a:lnTo>
                <a:lnTo>
                  <a:pt x="0" y="17155"/>
                </a:lnTo>
                <a:close/>
              </a:path>
            </a:pathLst>
          </a:custGeom>
          <a:solidFill xmlns:a="http://schemas.openxmlformats.org/drawingml/2006/main">
            <a:srgbClr val="218C8F"/>
          </a:solidFill>
          <a:ln xmlns:a="http://schemas.openxmlformats.org/drawingml/2006/main" w="0">
            <a:noFill/>
          </a:ln>
        </p:spPr>
      </p:sp>
      <p:sp>
        <p:nvSpPr>
          <p:cNvPr id="63" name="StochasticBlockMirrorDescent-baseline-gap">
            <a:extLst xmlns:a="http://schemas.openxmlformats.org/drawingml/2006/main">
              <a:ext uri="{FF2B5EF4-FFF2-40B4-BE49-F238E27FC236}">
                <a16:creationId xmlns:a16="http://schemas.microsoft.com/office/drawing/2014/main" id="{876DC8C3-E475-4479-8BB3-928194B714C4}"/>
              </a:ext>
            </a:extLst>
          </p:cNvPr>
          <p:cNvSpPr>
            <a:spLocks xmlns:a="http://schemas.openxmlformats.org/drawingml/2006/main" noGrp="1"/>
          </p:cNvSpPr>
          <p:nvPr/>
        </p:nvSpPr>
        <p:spPr>
          <a:xfrm xmlns:a="http://schemas.openxmlformats.org/drawingml/2006/main">
            <a:off x="7917858" y="4289011"/>
            <a:ext cx="303495" cy="326298"/>
          </a:xfrm>
          <a:custGeom xmlns:a="http://schemas.openxmlformats.org/drawingml/2006/main">
            <a:pathLst>
              <a:path w="303495" h="326298">
                <a:moveTo>
                  <a:pt x="42124" y="0"/>
                </a:moveTo>
                <a:lnTo>
                  <a:pt x="65470" y="22588"/>
                </a:lnTo>
                <a:lnTo>
                  <a:pt x="88542" y="45456"/>
                </a:lnTo>
                <a:lnTo>
                  <a:pt x="111338" y="68600"/>
                </a:lnTo>
                <a:lnTo>
                  <a:pt x="133852" y="92017"/>
                </a:lnTo>
                <a:lnTo>
                  <a:pt x="156084" y="115703"/>
                </a:lnTo>
                <a:lnTo>
                  <a:pt x="178028" y="139656"/>
                </a:lnTo>
                <a:lnTo>
                  <a:pt x="199682" y="163871"/>
                </a:lnTo>
                <a:lnTo>
                  <a:pt x="221044" y="188345"/>
                </a:lnTo>
                <a:lnTo>
                  <a:pt x="242109" y="213074"/>
                </a:lnTo>
                <a:lnTo>
                  <a:pt x="262874" y="238055"/>
                </a:lnTo>
                <a:lnTo>
                  <a:pt x="283337" y="263285"/>
                </a:lnTo>
                <a:lnTo>
                  <a:pt x="303495" y="288759"/>
                </a:lnTo>
                <a:lnTo>
                  <a:pt x="255465" y="326298"/>
                </a:lnTo>
                <a:lnTo>
                  <a:pt x="235762" y="301399"/>
                </a:lnTo>
                <a:lnTo>
                  <a:pt x="215762" y="276740"/>
                </a:lnTo>
                <a:lnTo>
                  <a:pt x="195465" y="252323"/>
                </a:lnTo>
                <a:lnTo>
                  <a:pt x="174876" y="228153"/>
                </a:lnTo>
                <a:lnTo>
                  <a:pt x="153998" y="204232"/>
                </a:lnTo>
                <a:lnTo>
                  <a:pt x="132833" y="180564"/>
                </a:lnTo>
                <a:lnTo>
                  <a:pt x="111384" y="157153"/>
                </a:lnTo>
                <a:lnTo>
                  <a:pt x="89656" y="134002"/>
                </a:lnTo>
                <a:lnTo>
                  <a:pt x="67649" y="111115"/>
                </a:lnTo>
                <a:lnTo>
                  <a:pt x="45369" y="88494"/>
                </a:lnTo>
                <a:lnTo>
                  <a:pt x="22818" y="66143"/>
                </a:lnTo>
                <a:lnTo>
                  <a:pt x="0" y="44065"/>
                </a:lnTo>
                <a:close/>
              </a:path>
            </a:pathLst>
          </a:custGeom>
          <a:solidFill xmlns:a="http://schemas.openxmlformats.org/drawingml/2006/main">
            <a:srgbClr val="FFFFFF"/>
          </a:solidFill>
          <a:ln xmlns:a="http://schemas.openxmlformats.org/drawingml/2006/main" w="0">
            <a:noFill/>
          </a:ln>
        </p:spPr>
      </p:sp>
      <p:sp>
        <p:nvSpPr>
          <p:cNvPr id="64" name="StochasticBlockMirrorDescent-label">
            <a:extLst xmlns:a="http://schemas.openxmlformats.org/drawingml/2006/main">
              <a:ext uri="{FF2B5EF4-FFF2-40B4-BE49-F238E27FC236}">
                <a16:creationId xmlns:a16="http://schemas.microsoft.com/office/drawing/2014/main" id="{217BE037-3DCF-4B0A-8A84-7542F4744828}"/>
              </a:ext>
            </a:extLst>
          </p:cNvPr>
          <p:cNvSpPr>
            <a:spLocks xmlns:a="http://schemas.openxmlformats.org/drawingml/2006/main" noGrp="1"/>
          </p:cNvSpPr>
          <p:nvPr/>
        </p:nvSpPr>
        <p:spPr>
          <a:xfrm xmlns:a="http://schemas.openxmlformats.org/drawingml/2006/main" rot="19071000">
            <a:off x="8477386" y="3440766"/>
            <a:ext cx="956816"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SBMD</a:t>
            </a:r>
          </a:p>
        </p:txBody>
      </p:sp>
      <p:sp>
        <p:nvSpPr>
          <p:cNvPr id="65" name="StochasticConvexConcaveSaddlePoint-algorithm-7877">
            <a:extLst xmlns:a="http://schemas.openxmlformats.org/drawingml/2006/main">
              <a:ext uri="{FF2B5EF4-FFF2-40B4-BE49-F238E27FC236}">
                <a16:creationId xmlns:a16="http://schemas.microsoft.com/office/drawing/2014/main" id="{38395AC0-E307-4054-83C2-C185CBA2D383}"/>
              </a:ext>
            </a:extLst>
          </p:cNvPr>
          <p:cNvSpPr>
            <a:spLocks xmlns:a="http://schemas.openxmlformats.org/drawingml/2006/main" noGrp="1"/>
          </p:cNvSpPr>
          <p:nvPr/>
        </p:nvSpPr>
        <p:spPr>
          <a:xfrm xmlns:a="http://schemas.openxmlformats.org/drawingml/2006/main">
            <a:off x="8231829" y="4126144"/>
            <a:ext cx="952321" cy="823410"/>
          </a:xfrm>
          <a:custGeom xmlns:a="http://schemas.openxmlformats.org/drawingml/2006/main">
            <a:pathLst>
              <a:path w="952321" h="823410">
                <a:moveTo>
                  <a:pt x="689345" y="0"/>
                </a:moveTo>
                <a:lnTo>
                  <a:pt x="715538" y="35487"/>
                </a:lnTo>
                <a:lnTo>
                  <a:pt x="741287" y="71299"/>
                </a:lnTo>
                <a:lnTo>
                  <a:pt x="766585" y="107430"/>
                </a:lnTo>
                <a:lnTo>
                  <a:pt x="791429" y="143874"/>
                </a:lnTo>
                <a:lnTo>
                  <a:pt x="815816" y="180626"/>
                </a:lnTo>
                <a:lnTo>
                  <a:pt x="839742" y="217681"/>
                </a:lnTo>
                <a:lnTo>
                  <a:pt x="863202" y="255031"/>
                </a:lnTo>
                <a:lnTo>
                  <a:pt x="886194" y="292672"/>
                </a:lnTo>
                <a:lnTo>
                  <a:pt x="908713" y="330597"/>
                </a:lnTo>
                <a:lnTo>
                  <a:pt x="930757" y="368801"/>
                </a:lnTo>
                <a:lnTo>
                  <a:pt x="952321" y="407278"/>
                </a:lnTo>
                <a:lnTo>
                  <a:pt x="198810" y="823410"/>
                </a:lnTo>
                <a:lnTo>
                  <a:pt x="182507" y="794321"/>
                </a:lnTo>
                <a:lnTo>
                  <a:pt x="165842" y="765439"/>
                </a:lnTo>
                <a:lnTo>
                  <a:pt x="148818" y="736768"/>
                </a:lnTo>
                <a:lnTo>
                  <a:pt x="131436" y="708311"/>
                </a:lnTo>
                <a:lnTo>
                  <a:pt x="113700" y="680074"/>
                </a:lnTo>
                <a:lnTo>
                  <a:pt x="95612" y="652062"/>
                </a:lnTo>
                <a:lnTo>
                  <a:pt x="77176" y="624277"/>
                </a:lnTo>
                <a:lnTo>
                  <a:pt x="58393" y="596725"/>
                </a:lnTo>
                <a:lnTo>
                  <a:pt x="39268" y="569410"/>
                </a:lnTo>
                <a:lnTo>
                  <a:pt x="19802" y="542336"/>
                </a:lnTo>
                <a:lnTo>
                  <a:pt x="0" y="515508"/>
                </a:lnTo>
                <a:close/>
              </a:path>
            </a:pathLst>
          </a:custGeom>
          <a:gradFill xmlns:a="http://schemas.openxmlformats.org/drawingml/2006/main">
            <a:gsLst>
              <a:gs pos="0">
                <a:srgbClr val="087479"/>
              </a:gs>
              <a:gs pos="50000">
                <a:srgbClr val="087F82"/>
              </a:gs>
              <a:gs pos="100000">
                <a:srgbClr val="289092"/>
              </a:gs>
            </a:gsLst>
            <a:lin ang="19629000"/>
          </a:gradFill>
          <a:ln xmlns:a="http://schemas.openxmlformats.org/drawingml/2006/main" w="0">
            <a:noFill/>
          </a:ln>
        </p:spPr>
      </p:sp>
      <p:sp>
        <p:nvSpPr>
          <p:cNvPr id="66" name="StochasticConvexConcaveSaddlePoint-algorithm-end">
            <a:extLst xmlns:a="http://schemas.openxmlformats.org/drawingml/2006/main">
              <a:ext uri="{FF2B5EF4-FFF2-40B4-BE49-F238E27FC236}">
                <a16:creationId xmlns:a16="http://schemas.microsoft.com/office/drawing/2014/main" id="{69055095-ED62-4BE8-84A5-AAA8A16F959C}"/>
              </a:ext>
            </a:extLst>
          </p:cNvPr>
          <p:cNvSpPr>
            <a:spLocks xmlns:a="http://schemas.openxmlformats.org/drawingml/2006/main" noGrp="1"/>
          </p:cNvSpPr>
          <p:nvPr/>
        </p:nvSpPr>
        <p:spPr>
          <a:xfrm xmlns:a="http://schemas.openxmlformats.org/drawingml/2006/main">
            <a:off x="8901341" y="4126144"/>
            <a:ext cx="282809" cy="419250"/>
          </a:xfrm>
          <a:custGeom xmlns:a="http://schemas.openxmlformats.org/drawingml/2006/main">
            <a:pathLst>
              <a:path w="282809" h="419250">
                <a:moveTo>
                  <a:pt x="19833" y="0"/>
                </a:moveTo>
                <a:lnTo>
                  <a:pt x="46026" y="35487"/>
                </a:lnTo>
                <a:lnTo>
                  <a:pt x="71775" y="71299"/>
                </a:lnTo>
                <a:lnTo>
                  <a:pt x="97073" y="107430"/>
                </a:lnTo>
                <a:lnTo>
                  <a:pt x="121917" y="143874"/>
                </a:lnTo>
                <a:lnTo>
                  <a:pt x="146304" y="180626"/>
                </a:lnTo>
                <a:lnTo>
                  <a:pt x="170230" y="217681"/>
                </a:lnTo>
                <a:lnTo>
                  <a:pt x="193690" y="255031"/>
                </a:lnTo>
                <a:lnTo>
                  <a:pt x="216682" y="292672"/>
                </a:lnTo>
                <a:lnTo>
                  <a:pt x="239201" y="330597"/>
                </a:lnTo>
                <a:lnTo>
                  <a:pt x="261245" y="368801"/>
                </a:lnTo>
                <a:lnTo>
                  <a:pt x="282809" y="407278"/>
                </a:lnTo>
                <a:lnTo>
                  <a:pt x="261130" y="419250"/>
                </a:lnTo>
                <a:lnTo>
                  <a:pt x="239717" y="381043"/>
                </a:lnTo>
                <a:lnTo>
                  <a:pt x="217829" y="343108"/>
                </a:lnTo>
                <a:lnTo>
                  <a:pt x="195467" y="305449"/>
                </a:lnTo>
                <a:lnTo>
                  <a:pt x="172637" y="268072"/>
                </a:lnTo>
                <a:lnTo>
                  <a:pt x="149341" y="230984"/>
                </a:lnTo>
                <a:lnTo>
                  <a:pt x="125584" y="194190"/>
                </a:lnTo>
                <a:lnTo>
                  <a:pt x="101368" y="157696"/>
                </a:lnTo>
                <a:lnTo>
                  <a:pt x="76698" y="121507"/>
                </a:lnTo>
                <a:lnTo>
                  <a:pt x="51577" y="85630"/>
                </a:lnTo>
                <a:lnTo>
                  <a:pt x="26010" y="50069"/>
                </a:lnTo>
                <a:lnTo>
                  <a:pt x="0" y="14831"/>
                </a:lnTo>
                <a:close/>
              </a:path>
            </a:pathLst>
          </a:custGeom>
          <a:solidFill xmlns:a="http://schemas.openxmlformats.org/drawingml/2006/main">
            <a:srgbClr val="087378"/>
          </a:solidFill>
          <a:ln xmlns:a="http://schemas.openxmlformats.org/drawingml/2006/main" w="0">
            <a:noFill/>
          </a:ln>
        </p:spPr>
      </p:sp>
      <p:sp>
        <p:nvSpPr>
          <p:cNvPr id="67" name="StochasticConvexConcaveSaddlePoint-reuse-4377">
            <a:extLst xmlns:a="http://schemas.openxmlformats.org/drawingml/2006/main">
              <a:ext uri="{FF2B5EF4-FFF2-40B4-BE49-F238E27FC236}">
                <a16:creationId xmlns:a16="http://schemas.microsoft.com/office/drawing/2014/main" id="{B5EBE636-FE3E-4B59-8A7E-42386B57BC86}"/>
              </a:ext>
            </a:extLst>
          </p:cNvPr>
          <p:cNvSpPr>
            <a:spLocks xmlns:a="http://schemas.openxmlformats.org/drawingml/2006/main" noGrp="1"/>
          </p:cNvSpPr>
          <p:nvPr/>
        </p:nvSpPr>
        <p:spPr>
          <a:xfrm xmlns:a="http://schemas.openxmlformats.org/drawingml/2006/main">
            <a:off x="7640891" y="4641652"/>
            <a:ext cx="789748" cy="664629"/>
          </a:xfrm>
          <a:custGeom xmlns:a="http://schemas.openxmlformats.org/drawingml/2006/main">
            <a:pathLst>
              <a:path w="789748" h="664629">
                <a:moveTo>
                  <a:pt x="590938" y="0"/>
                </a:moveTo>
                <a:lnTo>
                  <a:pt x="610741" y="26828"/>
                </a:lnTo>
                <a:lnTo>
                  <a:pt x="630206" y="53902"/>
                </a:lnTo>
                <a:lnTo>
                  <a:pt x="649332" y="81217"/>
                </a:lnTo>
                <a:lnTo>
                  <a:pt x="668114" y="108769"/>
                </a:lnTo>
                <a:lnTo>
                  <a:pt x="686551" y="136553"/>
                </a:lnTo>
                <a:lnTo>
                  <a:pt x="704639" y="164566"/>
                </a:lnTo>
                <a:lnTo>
                  <a:pt x="722375" y="192803"/>
                </a:lnTo>
                <a:lnTo>
                  <a:pt x="739756" y="221260"/>
                </a:lnTo>
                <a:lnTo>
                  <a:pt x="756781" y="249931"/>
                </a:lnTo>
                <a:lnTo>
                  <a:pt x="773446" y="278813"/>
                </a:lnTo>
                <a:lnTo>
                  <a:pt x="789748" y="307902"/>
                </a:lnTo>
                <a:lnTo>
                  <a:pt x="143803" y="664629"/>
                </a:lnTo>
                <a:lnTo>
                  <a:pt x="132011" y="643589"/>
                </a:lnTo>
                <a:lnTo>
                  <a:pt x="119957" y="622698"/>
                </a:lnTo>
                <a:lnTo>
                  <a:pt x="107643" y="601959"/>
                </a:lnTo>
                <a:lnTo>
                  <a:pt x="95071" y="581376"/>
                </a:lnTo>
                <a:lnTo>
                  <a:pt x="82242" y="560952"/>
                </a:lnTo>
                <a:lnTo>
                  <a:pt x="69159" y="540689"/>
                </a:lnTo>
                <a:lnTo>
                  <a:pt x="55823" y="520592"/>
                </a:lnTo>
                <a:lnTo>
                  <a:pt x="42237" y="500663"/>
                </a:lnTo>
                <a:lnTo>
                  <a:pt x="28403" y="480906"/>
                </a:lnTo>
                <a:lnTo>
                  <a:pt x="14324" y="461323"/>
                </a:lnTo>
                <a:lnTo>
                  <a:pt x="0" y="441917"/>
                </a:lnTo>
                <a:close/>
              </a:path>
            </a:pathLst>
          </a:custGeom>
          <a:gradFill xmlns:a="http://schemas.openxmlformats.org/drawingml/2006/main">
            <a:gsLst>
              <a:gs pos="0">
                <a:srgbClr val="7FBCBE"/>
              </a:gs>
              <a:gs pos="100000">
                <a:srgbClr val="39999B"/>
              </a:gs>
            </a:gsLst>
            <a:lin ang="19629000"/>
          </a:gradFill>
          <a:ln xmlns:a="http://schemas.openxmlformats.org/drawingml/2006/main" w="0">
            <a:noFill/>
          </a:ln>
        </p:spPr>
      </p:sp>
      <p:sp>
        <p:nvSpPr>
          <p:cNvPr id="68" name="StochasticConvexConcaveSaddlePoint-reuse-end">
            <a:extLst xmlns:a="http://schemas.openxmlformats.org/drawingml/2006/main">
              <a:ext uri="{FF2B5EF4-FFF2-40B4-BE49-F238E27FC236}">
                <a16:creationId xmlns:a16="http://schemas.microsoft.com/office/drawing/2014/main" id="{BC948426-8D7B-4A4D-A33A-0942A3E78EC5}"/>
              </a:ext>
            </a:extLst>
          </p:cNvPr>
          <p:cNvSpPr>
            <a:spLocks xmlns:a="http://schemas.openxmlformats.org/drawingml/2006/main" noGrp="1"/>
          </p:cNvSpPr>
          <p:nvPr/>
        </p:nvSpPr>
        <p:spPr>
          <a:xfrm xmlns:a="http://schemas.openxmlformats.org/drawingml/2006/main">
            <a:off x="7640891" y="5069308"/>
            <a:ext cx="164648" cy="236973"/>
          </a:xfrm>
          <a:custGeom xmlns:a="http://schemas.openxmlformats.org/drawingml/2006/main">
            <a:pathLst>
              <a:path w="164648" h="236973">
                <a:moveTo>
                  <a:pt x="19070" y="0"/>
                </a:moveTo>
                <a:lnTo>
                  <a:pt x="33570" y="19645"/>
                </a:lnTo>
                <a:lnTo>
                  <a:pt x="47824" y="39470"/>
                </a:lnTo>
                <a:lnTo>
                  <a:pt x="61829" y="59471"/>
                </a:lnTo>
                <a:lnTo>
                  <a:pt x="75582" y="79646"/>
                </a:lnTo>
                <a:lnTo>
                  <a:pt x="89082" y="99991"/>
                </a:lnTo>
                <a:lnTo>
                  <a:pt x="102327" y="120504"/>
                </a:lnTo>
                <a:lnTo>
                  <a:pt x="115314" y="141180"/>
                </a:lnTo>
                <a:lnTo>
                  <a:pt x="128042" y="162017"/>
                </a:lnTo>
                <a:lnTo>
                  <a:pt x="140508" y="183012"/>
                </a:lnTo>
                <a:lnTo>
                  <a:pt x="152711" y="204161"/>
                </a:lnTo>
                <a:lnTo>
                  <a:pt x="164648" y="225461"/>
                </a:lnTo>
                <a:lnTo>
                  <a:pt x="143803" y="236973"/>
                </a:lnTo>
                <a:lnTo>
                  <a:pt x="132011" y="215933"/>
                </a:lnTo>
                <a:lnTo>
                  <a:pt x="119957" y="195042"/>
                </a:lnTo>
                <a:lnTo>
                  <a:pt x="107643" y="174303"/>
                </a:lnTo>
                <a:lnTo>
                  <a:pt x="95071" y="153720"/>
                </a:lnTo>
                <a:lnTo>
                  <a:pt x="82242" y="133295"/>
                </a:lnTo>
                <a:lnTo>
                  <a:pt x="69159" y="113033"/>
                </a:lnTo>
                <a:lnTo>
                  <a:pt x="55823" y="92936"/>
                </a:lnTo>
                <a:lnTo>
                  <a:pt x="42237" y="73007"/>
                </a:lnTo>
                <a:lnTo>
                  <a:pt x="28403" y="53249"/>
                </a:lnTo>
                <a:lnTo>
                  <a:pt x="14324" y="33666"/>
                </a:lnTo>
                <a:lnTo>
                  <a:pt x="0" y="14261"/>
                </a:lnTo>
                <a:close/>
              </a:path>
            </a:pathLst>
          </a:custGeom>
          <a:solidFill xmlns:a="http://schemas.openxmlformats.org/drawingml/2006/main">
            <a:srgbClr val="218C8F"/>
          </a:solidFill>
          <a:ln xmlns:a="http://schemas.openxmlformats.org/drawingml/2006/main" w="0">
            <a:noFill/>
          </a:ln>
        </p:spPr>
      </p:sp>
      <p:sp>
        <p:nvSpPr>
          <p:cNvPr id="69" name="StochasticConvexConcaveSaddlePoint-inbar-tick-5000">
            <a:extLst xmlns:a="http://schemas.openxmlformats.org/drawingml/2006/main">
              <a:ext uri="{FF2B5EF4-FFF2-40B4-BE49-F238E27FC236}">
                <a16:creationId xmlns:a16="http://schemas.microsoft.com/office/drawing/2014/main" id="{CE59F82F-7B46-4DA6-978F-93B788E4E122}"/>
              </a:ext>
            </a:extLst>
          </p:cNvPr>
          <p:cNvSpPr>
            <a:spLocks xmlns:a="http://schemas.openxmlformats.org/drawingml/2006/main" noGrp="1"/>
          </p:cNvSpPr>
          <p:nvPr/>
        </p:nvSpPr>
        <p:spPr>
          <a:xfrm xmlns:a="http://schemas.openxmlformats.org/drawingml/2006/main">
            <a:off x="8776084" y="4227229"/>
            <a:ext cx="260310" cy="393777"/>
          </a:xfrm>
          <a:custGeom xmlns:a="http://schemas.openxmlformats.org/drawingml/2006/main">
            <a:pathLst>
              <a:path w="260310" h="393777">
                <a:moveTo>
                  <a:pt x="9916" y="0"/>
                </a:moveTo>
                <a:lnTo>
                  <a:pt x="34857" y="33789"/>
                </a:lnTo>
                <a:lnTo>
                  <a:pt x="59373" y="67888"/>
                </a:lnTo>
                <a:lnTo>
                  <a:pt x="83461" y="102290"/>
                </a:lnTo>
                <a:lnTo>
                  <a:pt x="107117" y="136990"/>
                </a:lnTo>
                <a:lnTo>
                  <a:pt x="130337" y="171984"/>
                </a:lnTo>
                <a:lnTo>
                  <a:pt x="153118" y="207265"/>
                </a:lnTo>
                <a:lnTo>
                  <a:pt x="175456" y="242829"/>
                </a:lnTo>
                <a:lnTo>
                  <a:pt x="197347" y="278669"/>
                </a:lnTo>
                <a:lnTo>
                  <a:pt x="218789" y="314779"/>
                </a:lnTo>
                <a:lnTo>
                  <a:pt x="239778" y="351155"/>
                </a:lnTo>
                <a:lnTo>
                  <a:pt x="260310" y="387791"/>
                </a:lnTo>
                <a:lnTo>
                  <a:pt x="249470" y="393777"/>
                </a:lnTo>
                <a:lnTo>
                  <a:pt x="229014" y="357277"/>
                </a:lnTo>
                <a:lnTo>
                  <a:pt x="208103" y="321035"/>
                </a:lnTo>
                <a:lnTo>
                  <a:pt x="186740" y="285057"/>
                </a:lnTo>
                <a:lnTo>
                  <a:pt x="164929" y="249349"/>
                </a:lnTo>
                <a:lnTo>
                  <a:pt x="142673" y="213917"/>
                </a:lnTo>
                <a:lnTo>
                  <a:pt x="119977" y="178766"/>
                </a:lnTo>
                <a:lnTo>
                  <a:pt x="96842" y="143901"/>
                </a:lnTo>
                <a:lnTo>
                  <a:pt x="73273" y="109328"/>
                </a:lnTo>
                <a:lnTo>
                  <a:pt x="49274" y="75053"/>
                </a:lnTo>
                <a:lnTo>
                  <a:pt x="24849" y="41080"/>
                </a:lnTo>
                <a:lnTo>
                  <a:pt x="0" y="7416"/>
                </a:lnTo>
                <a:close/>
              </a:path>
            </a:pathLst>
          </a:custGeom>
          <a:solidFill xmlns:a="http://schemas.openxmlformats.org/drawingml/2006/main">
            <a:srgbClr val="B2D7D8"/>
          </a:solidFill>
          <a:ln xmlns:a="http://schemas.openxmlformats.org/drawingml/2006/main" w="0">
            <a:noFill/>
          </a:ln>
        </p:spPr>
      </p:sp>
      <p:sp>
        <p:nvSpPr>
          <p:cNvPr id="70" name="StochasticConvexConcaveSaddlePoint-baseline-gap">
            <a:extLst xmlns:a="http://schemas.openxmlformats.org/drawingml/2006/main">
              <a:ext uri="{FF2B5EF4-FFF2-40B4-BE49-F238E27FC236}">
                <a16:creationId xmlns:a16="http://schemas.microsoft.com/office/drawing/2014/main" id="{58541BE9-295D-4AE0-9EFA-A57CFB151BB9}"/>
              </a:ext>
            </a:extLst>
          </p:cNvPr>
          <p:cNvSpPr>
            <a:spLocks xmlns:a="http://schemas.openxmlformats.org/drawingml/2006/main" noGrp="1"/>
          </p:cNvSpPr>
          <p:nvPr/>
        </p:nvSpPr>
        <p:spPr>
          <a:xfrm xmlns:a="http://schemas.openxmlformats.org/drawingml/2006/main">
            <a:off x="8201895" y="4615867"/>
            <a:ext cx="259963" cy="356486"/>
          </a:xfrm>
          <a:custGeom xmlns:a="http://schemas.openxmlformats.org/drawingml/2006/main">
            <a:pathLst>
              <a:path w="259963" h="356486">
                <a:moveTo>
                  <a:pt x="48691" y="0"/>
                </a:moveTo>
                <a:lnTo>
                  <a:pt x="68080" y="26064"/>
                </a:lnTo>
                <a:lnTo>
                  <a:pt x="87154" y="52360"/>
                </a:lnTo>
                <a:lnTo>
                  <a:pt x="105909" y="78884"/>
                </a:lnTo>
                <a:lnTo>
                  <a:pt x="124344" y="105631"/>
                </a:lnTo>
                <a:lnTo>
                  <a:pt x="142455" y="132599"/>
                </a:lnTo>
                <a:lnTo>
                  <a:pt x="160240" y="159783"/>
                </a:lnTo>
                <a:lnTo>
                  <a:pt x="177697" y="187179"/>
                </a:lnTo>
                <a:lnTo>
                  <a:pt x="194822" y="214783"/>
                </a:lnTo>
                <a:lnTo>
                  <a:pt x="211614" y="242591"/>
                </a:lnTo>
                <a:lnTo>
                  <a:pt x="228069" y="270600"/>
                </a:lnTo>
                <a:lnTo>
                  <a:pt x="244186" y="298805"/>
                </a:lnTo>
                <a:lnTo>
                  <a:pt x="259963" y="327202"/>
                </a:lnTo>
                <a:lnTo>
                  <a:pt x="206497" y="356486"/>
                </a:lnTo>
                <a:lnTo>
                  <a:pt x="191077" y="328730"/>
                </a:lnTo>
                <a:lnTo>
                  <a:pt x="175324" y="301163"/>
                </a:lnTo>
                <a:lnTo>
                  <a:pt x="159241" y="273787"/>
                </a:lnTo>
                <a:lnTo>
                  <a:pt x="142828" y="246607"/>
                </a:lnTo>
                <a:lnTo>
                  <a:pt x="126090" y="219627"/>
                </a:lnTo>
                <a:lnTo>
                  <a:pt x="109028" y="192850"/>
                </a:lnTo>
                <a:lnTo>
                  <a:pt x="91645" y="166281"/>
                </a:lnTo>
                <a:lnTo>
                  <a:pt x="73943" y="139922"/>
                </a:lnTo>
                <a:lnTo>
                  <a:pt x="55925" y="113779"/>
                </a:lnTo>
                <a:lnTo>
                  <a:pt x="37593" y="87855"/>
                </a:lnTo>
                <a:lnTo>
                  <a:pt x="18951" y="62153"/>
                </a:lnTo>
                <a:lnTo>
                  <a:pt x="0" y="36678"/>
                </a:lnTo>
                <a:close/>
              </a:path>
            </a:pathLst>
          </a:custGeom>
          <a:solidFill xmlns:a="http://schemas.openxmlformats.org/drawingml/2006/main">
            <a:srgbClr val="FFFFFF"/>
          </a:solidFill>
          <a:ln xmlns:a="http://schemas.openxmlformats.org/drawingml/2006/main" w="0">
            <a:noFill/>
          </a:ln>
        </p:spPr>
      </p:sp>
      <p:sp>
        <p:nvSpPr>
          <p:cNvPr id="71" name="StochasticConvexConcaveSaddlePoint-label">
            <a:extLst xmlns:a="http://schemas.openxmlformats.org/drawingml/2006/main">
              <a:ext uri="{FF2B5EF4-FFF2-40B4-BE49-F238E27FC236}">
                <a16:creationId xmlns:a16="http://schemas.microsoft.com/office/drawing/2014/main" id="{61DD3ABC-7FDE-4BC0-A0EC-929097546EC0}"/>
              </a:ext>
            </a:extLst>
          </p:cNvPr>
          <p:cNvSpPr>
            <a:spLocks xmlns:a="http://schemas.openxmlformats.org/drawingml/2006/main" noGrp="1"/>
          </p:cNvSpPr>
          <p:nvPr/>
        </p:nvSpPr>
        <p:spPr>
          <a:xfrm xmlns:a="http://schemas.openxmlformats.org/drawingml/2006/main" rot="19629000">
            <a:off x="9054819" y="3711532"/>
            <a:ext cx="1261616"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7076"/>
                </a:solidFill>
                <a:latin typeface="Arial"/>
                <a:ea typeface="Arial"/>
                <a:cs typeface="Arial"/>
              </a:defRPr>
            </a:pPr>
            <a:r>
              <a:rPr sz="2400" b="0">
                <a:solidFill>
                  <a:srgbClr val="087076"/>
                </a:solidFill>
                <a:latin typeface="Arial"/>
                <a:ea typeface="Arial"/>
                <a:cs typeface="Arial"/>
              </a:rPr>
              <a:t>SMD-SP</a:t>
            </a:r>
          </a:p>
        </p:txBody>
      </p:sp>
      <p:sp>
        <p:nvSpPr>
          <p:cNvPr id="72" name="RandomPrimalDualGradient-algorithm-13879">
            <a:extLst xmlns:a="http://schemas.openxmlformats.org/drawingml/2006/main">
              <a:ext uri="{FF2B5EF4-FFF2-40B4-BE49-F238E27FC236}">
                <a16:creationId xmlns:a16="http://schemas.microsoft.com/office/drawing/2014/main" id="{32D18B01-69B1-4819-AB18-B7558BD7BCA1}"/>
              </a:ext>
            </a:extLst>
          </p:cNvPr>
          <p:cNvSpPr>
            <a:spLocks xmlns:a="http://schemas.openxmlformats.org/drawingml/2006/main" noGrp="1"/>
          </p:cNvSpPr>
          <p:nvPr/>
        </p:nvSpPr>
        <p:spPr>
          <a:xfrm xmlns:a="http://schemas.openxmlformats.org/drawingml/2006/main">
            <a:off x="8503395" y="4599403"/>
            <a:ext cx="1223672" cy="832608"/>
          </a:xfrm>
          <a:custGeom xmlns:a="http://schemas.openxmlformats.org/drawingml/2006/main">
            <a:pathLst>
              <a:path w="1223672" h="832608">
                <a:moveTo>
                  <a:pt x="1031373" y="0"/>
                </a:moveTo>
                <a:lnTo>
                  <a:pt x="1051602" y="43122"/>
                </a:lnTo>
                <a:lnTo>
                  <a:pt x="1071290" y="86493"/>
                </a:lnTo>
                <a:lnTo>
                  <a:pt x="1090435" y="130107"/>
                </a:lnTo>
                <a:lnTo>
                  <a:pt x="1109032" y="173957"/>
                </a:lnTo>
                <a:lnTo>
                  <a:pt x="1127080" y="218036"/>
                </a:lnTo>
                <a:lnTo>
                  <a:pt x="1144576" y="262337"/>
                </a:lnTo>
                <a:lnTo>
                  <a:pt x="1161516" y="306853"/>
                </a:lnTo>
                <a:lnTo>
                  <a:pt x="1177898" y="351578"/>
                </a:lnTo>
                <a:lnTo>
                  <a:pt x="1193720" y="396504"/>
                </a:lnTo>
                <a:lnTo>
                  <a:pt x="1208979" y="441624"/>
                </a:lnTo>
                <a:lnTo>
                  <a:pt x="1223672" y="486932"/>
                </a:lnTo>
                <a:lnTo>
                  <a:pt x="134623" y="832608"/>
                </a:lnTo>
                <a:lnTo>
                  <a:pt x="124337" y="800889"/>
                </a:lnTo>
                <a:lnTo>
                  <a:pt x="113655" y="769301"/>
                </a:lnTo>
                <a:lnTo>
                  <a:pt x="102578" y="737850"/>
                </a:lnTo>
                <a:lnTo>
                  <a:pt x="91109" y="706539"/>
                </a:lnTo>
                <a:lnTo>
                  <a:pt x="79250" y="675374"/>
                </a:lnTo>
                <a:lnTo>
                  <a:pt x="67002" y="644360"/>
                </a:lnTo>
                <a:lnTo>
                  <a:pt x="54367" y="613502"/>
                </a:lnTo>
                <a:lnTo>
                  <a:pt x="41347" y="582803"/>
                </a:lnTo>
                <a:lnTo>
                  <a:pt x="27945" y="552270"/>
                </a:lnTo>
                <a:lnTo>
                  <a:pt x="14162" y="521907"/>
                </a:lnTo>
                <a:lnTo>
                  <a:pt x="0" y="491719"/>
                </a:lnTo>
                <a:close/>
              </a:path>
            </a:pathLst>
          </a:custGeom>
          <a:gradFill xmlns:a="http://schemas.openxmlformats.org/drawingml/2006/main">
            <a:gsLst>
              <a:gs pos="0">
                <a:srgbClr val="096156"/>
              </a:gs>
              <a:gs pos="50000">
                <a:srgbClr val="09695B"/>
              </a:gs>
              <a:gs pos="100000">
                <a:srgbClr val="297D70"/>
              </a:gs>
            </a:gsLst>
            <a:lin ang="20307000"/>
          </a:gradFill>
          <a:ln xmlns:a="http://schemas.openxmlformats.org/drawingml/2006/main" w="0">
            <a:noFill/>
          </a:ln>
        </p:spPr>
      </p:sp>
      <p:sp>
        <p:nvSpPr>
          <p:cNvPr id="73" name="RandomPrimalDualGradient-algorithm-end">
            <a:extLst xmlns:a="http://schemas.openxmlformats.org/drawingml/2006/main">
              <a:ext uri="{FF2B5EF4-FFF2-40B4-BE49-F238E27FC236}">
                <a16:creationId xmlns:a16="http://schemas.microsoft.com/office/drawing/2014/main" id="{03906B57-8AD8-44EE-AAEA-28341C04633C}"/>
              </a:ext>
            </a:extLst>
          </p:cNvPr>
          <p:cNvSpPr>
            <a:spLocks xmlns:a="http://schemas.openxmlformats.org/drawingml/2006/main" noGrp="1"/>
          </p:cNvSpPr>
          <p:nvPr/>
        </p:nvSpPr>
        <p:spPr>
          <a:xfrm xmlns:a="http://schemas.openxmlformats.org/drawingml/2006/main">
            <a:off x="9512414" y="4599403"/>
            <a:ext cx="214653" cy="494424"/>
          </a:xfrm>
          <a:custGeom xmlns:a="http://schemas.openxmlformats.org/drawingml/2006/main">
            <a:pathLst>
              <a:path w="214653" h="494424">
                <a:moveTo>
                  <a:pt x="22354" y="0"/>
                </a:moveTo>
                <a:lnTo>
                  <a:pt x="42583" y="43122"/>
                </a:lnTo>
                <a:lnTo>
                  <a:pt x="62271" y="86493"/>
                </a:lnTo>
                <a:lnTo>
                  <a:pt x="81416" y="130107"/>
                </a:lnTo>
                <a:lnTo>
                  <a:pt x="100013" y="173957"/>
                </a:lnTo>
                <a:lnTo>
                  <a:pt x="118061" y="218036"/>
                </a:lnTo>
                <a:lnTo>
                  <a:pt x="135557" y="262337"/>
                </a:lnTo>
                <a:lnTo>
                  <a:pt x="152497" y="306853"/>
                </a:lnTo>
                <a:lnTo>
                  <a:pt x="168879" y="351578"/>
                </a:lnTo>
                <a:lnTo>
                  <a:pt x="184701" y="396504"/>
                </a:lnTo>
                <a:lnTo>
                  <a:pt x="199959" y="441624"/>
                </a:lnTo>
                <a:lnTo>
                  <a:pt x="214653" y="486932"/>
                </a:lnTo>
                <a:lnTo>
                  <a:pt x="191049" y="494424"/>
                </a:lnTo>
                <a:lnTo>
                  <a:pt x="176451" y="449411"/>
                </a:lnTo>
                <a:lnTo>
                  <a:pt x="161291" y="404584"/>
                </a:lnTo>
                <a:lnTo>
                  <a:pt x="145572" y="359950"/>
                </a:lnTo>
                <a:lnTo>
                  <a:pt x="129296" y="315516"/>
                </a:lnTo>
                <a:lnTo>
                  <a:pt x="112466" y="271289"/>
                </a:lnTo>
                <a:lnTo>
                  <a:pt x="95085" y="227276"/>
                </a:lnTo>
                <a:lnTo>
                  <a:pt x="77154" y="183483"/>
                </a:lnTo>
                <a:lnTo>
                  <a:pt x="58677" y="139919"/>
                </a:lnTo>
                <a:lnTo>
                  <a:pt x="39658" y="96588"/>
                </a:lnTo>
                <a:lnTo>
                  <a:pt x="20097" y="53499"/>
                </a:lnTo>
                <a:lnTo>
                  <a:pt x="0" y="10658"/>
                </a:lnTo>
                <a:close/>
              </a:path>
            </a:pathLst>
          </a:custGeom>
          <a:solidFill xmlns:a="http://schemas.openxmlformats.org/drawingml/2006/main">
            <a:srgbClr val="096056"/>
          </a:solidFill>
          <a:ln xmlns:a="http://schemas.openxmlformats.org/drawingml/2006/main" w="0">
            <a:noFill/>
          </a:ln>
        </p:spPr>
      </p:sp>
      <p:sp>
        <p:nvSpPr>
          <p:cNvPr id="74" name="RandomPrimalDualGradient-reuse-3799">
            <a:extLst xmlns:a="http://schemas.openxmlformats.org/drawingml/2006/main">
              <a:ext uri="{FF2B5EF4-FFF2-40B4-BE49-F238E27FC236}">
                <a16:creationId xmlns:a16="http://schemas.microsoft.com/office/drawing/2014/main" id="{7F333D83-949C-4447-820F-49BF752D34DD}"/>
              </a:ext>
            </a:extLst>
          </p:cNvPr>
          <p:cNvSpPr>
            <a:spLocks xmlns:a="http://schemas.openxmlformats.org/drawingml/2006/main" noGrp="1"/>
          </p:cNvSpPr>
          <p:nvPr/>
        </p:nvSpPr>
        <p:spPr>
          <a:xfrm xmlns:a="http://schemas.openxmlformats.org/drawingml/2006/main">
            <a:off x="7882856" y="5091122"/>
            <a:ext cx="755163" cy="548869"/>
          </a:xfrm>
          <a:custGeom xmlns:a="http://schemas.openxmlformats.org/drawingml/2006/main">
            <a:pathLst>
              <a:path w="755163" h="548869">
                <a:moveTo>
                  <a:pt x="620539" y="0"/>
                </a:moveTo>
                <a:lnTo>
                  <a:pt x="634701" y="30188"/>
                </a:lnTo>
                <a:lnTo>
                  <a:pt x="648484" y="60551"/>
                </a:lnTo>
                <a:lnTo>
                  <a:pt x="661887" y="91084"/>
                </a:lnTo>
                <a:lnTo>
                  <a:pt x="674906" y="121783"/>
                </a:lnTo>
                <a:lnTo>
                  <a:pt x="687541" y="152641"/>
                </a:lnTo>
                <a:lnTo>
                  <a:pt x="699789" y="183655"/>
                </a:lnTo>
                <a:lnTo>
                  <a:pt x="711649" y="214820"/>
                </a:lnTo>
                <a:lnTo>
                  <a:pt x="723117" y="246131"/>
                </a:lnTo>
                <a:lnTo>
                  <a:pt x="734194" y="277582"/>
                </a:lnTo>
                <a:lnTo>
                  <a:pt x="744876" y="309170"/>
                </a:lnTo>
                <a:lnTo>
                  <a:pt x="755163" y="340889"/>
                </a:lnTo>
                <a:lnTo>
                  <a:pt x="99922" y="548869"/>
                </a:lnTo>
                <a:lnTo>
                  <a:pt x="92287" y="525326"/>
                </a:lnTo>
                <a:lnTo>
                  <a:pt x="84358" y="501881"/>
                </a:lnTo>
                <a:lnTo>
                  <a:pt x="76137" y="478536"/>
                </a:lnTo>
                <a:lnTo>
                  <a:pt x="67625" y="455296"/>
                </a:lnTo>
                <a:lnTo>
                  <a:pt x="58822" y="432165"/>
                </a:lnTo>
                <a:lnTo>
                  <a:pt x="49731" y="409145"/>
                </a:lnTo>
                <a:lnTo>
                  <a:pt x="40353" y="386241"/>
                </a:lnTo>
                <a:lnTo>
                  <a:pt x="30690" y="363455"/>
                </a:lnTo>
                <a:lnTo>
                  <a:pt x="20742" y="340793"/>
                </a:lnTo>
                <a:lnTo>
                  <a:pt x="10511" y="318256"/>
                </a:lnTo>
                <a:lnTo>
                  <a:pt x="0" y="295849"/>
                </a:lnTo>
                <a:close/>
              </a:path>
            </a:pathLst>
          </a:custGeom>
          <a:gradFill xmlns:a="http://schemas.openxmlformats.org/drawingml/2006/main">
            <a:gsLst>
              <a:gs pos="0">
                <a:srgbClr val="7FB1AA"/>
              </a:gs>
              <a:gs pos="100000">
                <a:srgbClr val="3A877C"/>
              </a:gs>
            </a:gsLst>
            <a:lin ang="20307000"/>
          </a:gradFill>
          <a:ln xmlns:a="http://schemas.openxmlformats.org/drawingml/2006/main" w="0">
            <a:noFill/>
          </a:ln>
        </p:spPr>
      </p:sp>
      <p:sp>
        <p:nvSpPr>
          <p:cNvPr id="75" name="RandomPrimalDualGradient-reuse-end">
            <a:extLst xmlns:a="http://schemas.openxmlformats.org/drawingml/2006/main">
              <a:ext uri="{FF2B5EF4-FFF2-40B4-BE49-F238E27FC236}">
                <a16:creationId xmlns:a16="http://schemas.microsoft.com/office/drawing/2014/main" id="{ABEA4EEB-4EA9-4748-BD05-BE329CDF691D}"/>
              </a:ext>
            </a:extLst>
          </p:cNvPr>
          <p:cNvSpPr>
            <a:spLocks xmlns:a="http://schemas.openxmlformats.org/drawingml/2006/main" noGrp="1"/>
          </p:cNvSpPr>
          <p:nvPr/>
        </p:nvSpPr>
        <p:spPr>
          <a:xfrm xmlns:a="http://schemas.openxmlformats.org/drawingml/2006/main">
            <a:off x="7882856" y="5376723"/>
            <a:ext cx="122619" cy="263268"/>
          </a:xfrm>
          <a:custGeom xmlns:a="http://schemas.openxmlformats.org/drawingml/2006/main">
            <a:pathLst>
              <a:path w="122619" h="263268">
                <a:moveTo>
                  <a:pt x="21495" y="0"/>
                </a:moveTo>
                <a:lnTo>
                  <a:pt x="32132" y="22676"/>
                </a:lnTo>
                <a:lnTo>
                  <a:pt x="42486" y="45484"/>
                </a:lnTo>
                <a:lnTo>
                  <a:pt x="52553" y="68419"/>
                </a:lnTo>
                <a:lnTo>
                  <a:pt x="62333" y="91479"/>
                </a:lnTo>
                <a:lnTo>
                  <a:pt x="71824" y="114659"/>
                </a:lnTo>
                <a:lnTo>
                  <a:pt x="81024" y="137955"/>
                </a:lnTo>
                <a:lnTo>
                  <a:pt x="89933" y="161365"/>
                </a:lnTo>
                <a:lnTo>
                  <a:pt x="98548" y="184885"/>
                </a:lnTo>
                <a:lnTo>
                  <a:pt x="106868" y="208510"/>
                </a:lnTo>
                <a:lnTo>
                  <a:pt x="114892" y="232238"/>
                </a:lnTo>
                <a:lnTo>
                  <a:pt x="122619" y="256064"/>
                </a:lnTo>
                <a:lnTo>
                  <a:pt x="99922" y="263268"/>
                </a:lnTo>
                <a:lnTo>
                  <a:pt x="92287" y="239725"/>
                </a:lnTo>
                <a:lnTo>
                  <a:pt x="84358" y="216280"/>
                </a:lnTo>
                <a:lnTo>
                  <a:pt x="76137" y="192935"/>
                </a:lnTo>
                <a:lnTo>
                  <a:pt x="67625" y="169695"/>
                </a:lnTo>
                <a:lnTo>
                  <a:pt x="58822" y="146563"/>
                </a:lnTo>
                <a:lnTo>
                  <a:pt x="49731" y="123544"/>
                </a:lnTo>
                <a:lnTo>
                  <a:pt x="40353" y="100639"/>
                </a:lnTo>
                <a:lnTo>
                  <a:pt x="30690" y="77854"/>
                </a:lnTo>
                <a:lnTo>
                  <a:pt x="20742" y="55191"/>
                </a:lnTo>
                <a:lnTo>
                  <a:pt x="10511" y="32655"/>
                </a:lnTo>
                <a:lnTo>
                  <a:pt x="0" y="10248"/>
                </a:lnTo>
                <a:close/>
              </a:path>
            </a:pathLst>
          </a:custGeom>
          <a:solidFill xmlns:a="http://schemas.openxmlformats.org/drawingml/2006/main">
            <a:srgbClr val="22786B"/>
          </a:solidFill>
          <a:ln xmlns:a="http://schemas.openxmlformats.org/drawingml/2006/main" w="0">
            <a:noFill/>
          </a:ln>
        </p:spPr>
      </p:sp>
      <p:sp>
        <p:nvSpPr>
          <p:cNvPr id="76" name="RandomPrimalDualGradient-inbar-tick-5000">
            <a:extLst xmlns:a="http://schemas.openxmlformats.org/drawingml/2006/main">
              <a:ext uri="{FF2B5EF4-FFF2-40B4-BE49-F238E27FC236}">
                <a16:creationId xmlns:a16="http://schemas.microsoft.com/office/drawing/2014/main" id="{8B5B7B0C-EFDC-4206-BA99-4C6A4E6FF867}"/>
              </a:ext>
            </a:extLst>
          </p:cNvPr>
          <p:cNvSpPr>
            <a:spLocks xmlns:a="http://schemas.openxmlformats.org/drawingml/2006/main" noGrp="1"/>
          </p:cNvSpPr>
          <p:nvPr/>
        </p:nvSpPr>
        <p:spPr>
          <a:xfrm xmlns:a="http://schemas.openxmlformats.org/drawingml/2006/main">
            <a:off x="9116851" y="4793321"/>
            <a:ext cx="180731" cy="433083"/>
          </a:xfrm>
          <a:custGeom xmlns:a="http://schemas.openxmlformats.org/drawingml/2006/main">
            <a:pathLst>
              <a:path w="180731" h="433083">
                <a:moveTo>
                  <a:pt x="11177" y="0"/>
                </a:moveTo>
                <a:lnTo>
                  <a:pt x="29013" y="38021"/>
                </a:lnTo>
                <a:lnTo>
                  <a:pt x="46373" y="76262"/>
                </a:lnTo>
                <a:lnTo>
                  <a:pt x="63253" y="114718"/>
                </a:lnTo>
                <a:lnTo>
                  <a:pt x="79651" y="153381"/>
                </a:lnTo>
                <a:lnTo>
                  <a:pt x="95564" y="192246"/>
                </a:lnTo>
                <a:lnTo>
                  <a:pt x="110990" y="231307"/>
                </a:lnTo>
                <a:lnTo>
                  <a:pt x="125926" y="270558"/>
                </a:lnTo>
                <a:lnTo>
                  <a:pt x="140371" y="309993"/>
                </a:lnTo>
                <a:lnTo>
                  <a:pt x="154321" y="349605"/>
                </a:lnTo>
                <a:lnTo>
                  <a:pt x="167775" y="389389"/>
                </a:lnTo>
                <a:lnTo>
                  <a:pt x="180731" y="429337"/>
                </a:lnTo>
                <a:lnTo>
                  <a:pt x="168928" y="433083"/>
                </a:lnTo>
                <a:lnTo>
                  <a:pt x="156021" y="393282"/>
                </a:lnTo>
                <a:lnTo>
                  <a:pt x="142616" y="353645"/>
                </a:lnTo>
                <a:lnTo>
                  <a:pt x="128717" y="314179"/>
                </a:lnTo>
                <a:lnTo>
                  <a:pt x="114326" y="274890"/>
                </a:lnTo>
                <a:lnTo>
                  <a:pt x="99445" y="235783"/>
                </a:lnTo>
                <a:lnTo>
                  <a:pt x="84075" y="196866"/>
                </a:lnTo>
                <a:lnTo>
                  <a:pt x="68221" y="158144"/>
                </a:lnTo>
                <a:lnTo>
                  <a:pt x="51884" y="119624"/>
                </a:lnTo>
                <a:lnTo>
                  <a:pt x="35066" y="81310"/>
                </a:lnTo>
                <a:lnTo>
                  <a:pt x="17770" y="43210"/>
                </a:lnTo>
                <a:lnTo>
                  <a:pt x="0" y="5329"/>
                </a:lnTo>
                <a:close/>
              </a:path>
            </a:pathLst>
          </a:custGeom>
          <a:solidFill xmlns:a="http://schemas.openxmlformats.org/drawingml/2006/main">
            <a:srgbClr val="B3D1CC"/>
          </a:solidFill>
          <a:ln xmlns:a="http://schemas.openxmlformats.org/drawingml/2006/main" w="0">
            <a:noFill/>
          </a:ln>
        </p:spPr>
      </p:sp>
      <p:sp>
        <p:nvSpPr>
          <p:cNvPr id="77" name="RandomPrimalDualGradient-baseline-gap">
            <a:extLst xmlns:a="http://schemas.openxmlformats.org/drawingml/2006/main">
              <a:ext uri="{FF2B5EF4-FFF2-40B4-BE49-F238E27FC236}">
                <a16:creationId xmlns:a16="http://schemas.microsoft.com/office/drawing/2014/main" id="{F5EBCE59-25E2-426A-9197-9AE1AFCF832A}"/>
              </a:ext>
            </a:extLst>
          </p:cNvPr>
          <p:cNvSpPr>
            <a:spLocks xmlns:a="http://schemas.openxmlformats.org/drawingml/2006/main" noGrp="1"/>
          </p:cNvSpPr>
          <p:nvPr/>
        </p:nvSpPr>
        <p:spPr>
          <a:xfrm xmlns:a="http://schemas.openxmlformats.org/drawingml/2006/main">
            <a:off x="8471907" y="5069513"/>
            <a:ext cx="197996" cy="380496"/>
          </a:xfrm>
          <a:custGeom xmlns:a="http://schemas.openxmlformats.org/drawingml/2006/main">
            <a:pathLst>
              <a:path w="197996" h="380496">
                <a:moveTo>
                  <a:pt x="54934" y="0"/>
                </a:moveTo>
                <a:lnTo>
                  <a:pt x="68840" y="29358"/>
                </a:lnTo>
                <a:lnTo>
                  <a:pt x="82391" y="58882"/>
                </a:lnTo>
                <a:lnTo>
                  <a:pt x="95586" y="88566"/>
                </a:lnTo>
                <a:lnTo>
                  <a:pt x="108422" y="118407"/>
                </a:lnTo>
                <a:lnTo>
                  <a:pt x="120898" y="148401"/>
                </a:lnTo>
                <a:lnTo>
                  <a:pt x="133012" y="178543"/>
                </a:lnTo>
                <a:lnTo>
                  <a:pt x="144762" y="208828"/>
                </a:lnTo>
                <a:lnTo>
                  <a:pt x="156146" y="239253"/>
                </a:lnTo>
                <a:lnTo>
                  <a:pt x="167164" y="269813"/>
                </a:lnTo>
                <a:lnTo>
                  <a:pt x="177812" y="300503"/>
                </a:lnTo>
                <a:lnTo>
                  <a:pt x="188090" y="331319"/>
                </a:lnTo>
                <a:lnTo>
                  <a:pt x="197996" y="362257"/>
                </a:lnTo>
                <a:lnTo>
                  <a:pt x="139829" y="380496"/>
                </a:lnTo>
                <a:lnTo>
                  <a:pt x="130147" y="350258"/>
                </a:lnTo>
                <a:lnTo>
                  <a:pt x="120101" y="320138"/>
                </a:lnTo>
                <a:lnTo>
                  <a:pt x="109693" y="290142"/>
                </a:lnTo>
                <a:lnTo>
                  <a:pt x="98925" y="260273"/>
                </a:lnTo>
                <a:lnTo>
                  <a:pt x="87798" y="230535"/>
                </a:lnTo>
                <a:lnTo>
                  <a:pt x="76313" y="200934"/>
                </a:lnTo>
                <a:lnTo>
                  <a:pt x="64473" y="171474"/>
                </a:lnTo>
                <a:lnTo>
                  <a:pt x="52279" y="142158"/>
                </a:lnTo>
                <a:lnTo>
                  <a:pt x="39733" y="112991"/>
                </a:lnTo>
                <a:lnTo>
                  <a:pt x="26836" y="83977"/>
                </a:lnTo>
                <a:lnTo>
                  <a:pt x="13592" y="55121"/>
                </a:lnTo>
                <a:lnTo>
                  <a:pt x="0" y="26426"/>
                </a:lnTo>
                <a:close/>
              </a:path>
            </a:pathLst>
          </a:custGeom>
          <a:solidFill xmlns:a="http://schemas.openxmlformats.org/drawingml/2006/main">
            <a:srgbClr val="FFFFFF"/>
          </a:solidFill>
          <a:ln xmlns:a="http://schemas.openxmlformats.org/drawingml/2006/main" w="0">
            <a:noFill/>
          </a:ln>
        </p:spPr>
      </p:sp>
      <p:sp>
        <p:nvSpPr>
          <p:cNvPr id="78" name="RandomPrimalDualGradient-label">
            <a:extLst xmlns:a="http://schemas.openxmlformats.org/drawingml/2006/main">
              <a:ext uri="{FF2B5EF4-FFF2-40B4-BE49-F238E27FC236}">
                <a16:creationId xmlns:a16="http://schemas.microsoft.com/office/drawing/2014/main" id="{AB992557-29FB-4751-B0A4-B02B5C570737}"/>
              </a:ext>
            </a:extLst>
          </p:cNvPr>
          <p:cNvSpPr>
            <a:spLocks xmlns:a="http://schemas.openxmlformats.org/drawingml/2006/main" noGrp="1"/>
          </p:cNvSpPr>
          <p:nvPr/>
        </p:nvSpPr>
        <p:spPr>
          <a:xfrm xmlns:a="http://schemas.openxmlformats.org/drawingml/2006/main" rot="20307000">
            <a:off x="9712161" y="4412302"/>
            <a:ext cx="956816"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95E55"/>
                </a:solidFill>
                <a:latin typeface="Arial"/>
                <a:ea typeface="Arial"/>
                <a:cs typeface="Arial"/>
              </a:defRPr>
            </a:pPr>
            <a:r>
              <a:rPr sz="2400" b="0">
                <a:solidFill>
                  <a:srgbClr val="095E55"/>
                </a:solidFill>
                <a:latin typeface="Arial"/>
                <a:ea typeface="Arial"/>
                <a:cs typeface="Arial"/>
              </a:rPr>
              <a:t>RPDG</a:t>
            </a:r>
          </a:p>
        </p:txBody>
      </p:sp>
      <p:sp>
        <p:nvSpPr>
          <p:cNvPr id="79" name="RandomGradientExtrapolation-algorithm-11663">
            <a:extLst xmlns:a="http://schemas.openxmlformats.org/drawingml/2006/main">
              <a:ext uri="{FF2B5EF4-FFF2-40B4-BE49-F238E27FC236}">
                <a16:creationId xmlns:a16="http://schemas.microsoft.com/office/drawing/2014/main" id="{752B0D65-8A91-4195-8754-8C09ABCEC422}"/>
              </a:ext>
            </a:extLst>
          </p:cNvPr>
          <p:cNvSpPr>
            <a:spLocks xmlns:a="http://schemas.openxmlformats.org/drawingml/2006/main" noGrp="1"/>
          </p:cNvSpPr>
          <p:nvPr/>
        </p:nvSpPr>
        <p:spPr>
          <a:xfrm xmlns:a="http://schemas.openxmlformats.org/drawingml/2006/main">
            <a:off x="8657233" y="5203210"/>
            <a:ext cx="1114180" cy="650207"/>
          </a:xfrm>
          <a:custGeom xmlns:a="http://schemas.openxmlformats.org/drawingml/2006/main">
            <a:pathLst>
              <a:path w="1114180" h="650207">
                <a:moveTo>
                  <a:pt x="1005874" y="0"/>
                </a:moveTo>
                <a:lnTo>
                  <a:pt x="1018544" y="44679"/>
                </a:lnTo>
                <a:lnTo>
                  <a:pt x="1030654" y="89513"/>
                </a:lnTo>
                <a:lnTo>
                  <a:pt x="1042203" y="134495"/>
                </a:lnTo>
                <a:lnTo>
                  <a:pt x="1053188" y="179617"/>
                </a:lnTo>
                <a:lnTo>
                  <a:pt x="1063608" y="224874"/>
                </a:lnTo>
                <a:lnTo>
                  <a:pt x="1073462" y="270257"/>
                </a:lnTo>
                <a:lnTo>
                  <a:pt x="1082747" y="315760"/>
                </a:lnTo>
                <a:lnTo>
                  <a:pt x="1091463" y="361375"/>
                </a:lnTo>
                <a:lnTo>
                  <a:pt x="1099608" y="407096"/>
                </a:lnTo>
                <a:lnTo>
                  <a:pt x="1107181" y="452915"/>
                </a:lnTo>
                <a:lnTo>
                  <a:pt x="1114180" y="498825"/>
                </a:lnTo>
                <a:lnTo>
                  <a:pt x="77765" y="650207"/>
                </a:lnTo>
                <a:lnTo>
                  <a:pt x="72739" y="617243"/>
                </a:lnTo>
                <a:lnTo>
                  <a:pt x="67302" y="584344"/>
                </a:lnTo>
                <a:lnTo>
                  <a:pt x="61454" y="551516"/>
                </a:lnTo>
                <a:lnTo>
                  <a:pt x="55196" y="518763"/>
                </a:lnTo>
                <a:lnTo>
                  <a:pt x="48529" y="486092"/>
                </a:lnTo>
                <a:lnTo>
                  <a:pt x="41454" y="453506"/>
                </a:lnTo>
                <a:lnTo>
                  <a:pt x="33972" y="421011"/>
                </a:lnTo>
                <a:lnTo>
                  <a:pt x="26084" y="388612"/>
                </a:lnTo>
                <a:lnTo>
                  <a:pt x="17792" y="356315"/>
                </a:lnTo>
                <a:lnTo>
                  <a:pt x="9097" y="324123"/>
                </a:lnTo>
                <a:lnTo>
                  <a:pt x="0" y="292043"/>
                </a:lnTo>
                <a:close/>
              </a:path>
            </a:pathLst>
          </a:custGeom>
          <a:gradFill xmlns:a="http://schemas.openxmlformats.org/drawingml/2006/main">
            <a:gsLst>
              <a:gs pos="0">
                <a:srgbClr val="096156"/>
              </a:gs>
              <a:gs pos="50000">
                <a:srgbClr val="09695B"/>
              </a:gs>
              <a:gs pos="100000">
                <a:srgbClr val="297D70"/>
              </a:gs>
            </a:gsLst>
            <a:lin ang="20865000"/>
          </a:gradFill>
          <a:ln xmlns:a="http://schemas.openxmlformats.org/drawingml/2006/main" w="0">
            <a:noFill/>
          </a:ln>
        </p:spPr>
      </p:sp>
      <p:sp>
        <p:nvSpPr>
          <p:cNvPr id="80" name="RandomGradientExtrapolation-algorithm-end">
            <a:extLst xmlns:a="http://schemas.openxmlformats.org/drawingml/2006/main">
              <a:ext uri="{FF2B5EF4-FFF2-40B4-BE49-F238E27FC236}">
                <a16:creationId xmlns:a16="http://schemas.microsoft.com/office/drawing/2014/main" id="{A053C218-80E4-43A9-9DE1-062A661ECE67}"/>
              </a:ext>
            </a:extLst>
          </p:cNvPr>
          <p:cNvSpPr>
            <a:spLocks xmlns:a="http://schemas.openxmlformats.org/drawingml/2006/main" noGrp="1"/>
          </p:cNvSpPr>
          <p:nvPr/>
        </p:nvSpPr>
        <p:spPr>
          <a:xfrm xmlns:a="http://schemas.openxmlformats.org/drawingml/2006/main">
            <a:off x="9639324" y="5203210"/>
            <a:ext cx="132089" cy="502405"/>
          </a:xfrm>
          <a:custGeom xmlns:a="http://schemas.openxmlformats.org/drawingml/2006/main">
            <a:pathLst>
              <a:path w="132089" h="502405">
                <a:moveTo>
                  <a:pt x="23783" y="0"/>
                </a:moveTo>
                <a:lnTo>
                  <a:pt x="36453" y="44679"/>
                </a:lnTo>
                <a:lnTo>
                  <a:pt x="48563" y="89513"/>
                </a:lnTo>
                <a:lnTo>
                  <a:pt x="60111" y="134495"/>
                </a:lnTo>
                <a:lnTo>
                  <a:pt x="71097" y="179617"/>
                </a:lnTo>
                <a:lnTo>
                  <a:pt x="81517" y="224874"/>
                </a:lnTo>
                <a:lnTo>
                  <a:pt x="91371" y="270257"/>
                </a:lnTo>
                <a:lnTo>
                  <a:pt x="100656" y="315760"/>
                </a:lnTo>
                <a:lnTo>
                  <a:pt x="109372" y="361375"/>
                </a:lnTo>
                <a:lnTo>
                  <a:pt x="117517" y="407096"/>
                </a:lnTo>
                <a:lnTo>
                  <a:pt x="125089" y="452915"/>
                </a:lnTo>
                <a:lnTo>
                  <a:pt x="132089" y="498825"/>
                </a:lnTo>
                <a:lnTo>
                  <a:pt x="107584" y="502405"/>
                </a:lnTo>
                <a:lnTo>
                  <a:pt x="100631" y="456801"/>
                </a:lnTo>
                <a:lnTo>
                  <a:pt x="93109" y="411287"/>
                </a:lnTo>
                <a:lnTo>
                  <a:pt x="85018" y="365871"/>
                </a:lnTo>
                <a:lnTo>
                  <a:pt x="76361" y="320560"/>
                </a:lnTo>
                <a:lnTo>
                  <a:pt x="67137" y="275360"/>
                </a:lnTo>
                <a:lnTo>
                  <a:pt x="57349" y="230280"/>
                </a:lnTo>
                <a:lnTo>
                  <a:pt x="46998" y="185325"/>
                </a:lnTo>
                <a:lnTo>
                  <a:pt x="36086" y="140503"/>
                </a:lnTo>
                <a:lnTo>
                  <a:pt x="24615" y="95821"/>
                </a:lnTo>
                <a:lnTo>
                  <a:pt x="12585" y="51286"/>
                </a:lnTo>
                <a:lnTo>
                  <a:pt x="0" y="6905"/>
                </a:lnTo>
                <a:close/>
              </a:path>
            </a:pathLst>
          </a:custGeom>
          <a:solidFill xmlns:a="http://schemas.openxmlformats.org/drawingml/2006/main">
            <a:srgbClr val="096056"/>
          </a:solidFill>
          <a:ln xmlns:a="http://schemas.openxmlformats.org/drawingml/2006/main" w="0">
            <a:noFill/>
          </a:ln>
        </p:spPr>
      </p:sp>
      <p:sp>
        <p:nvSpPr>
          <p:cNvPr id="81" name="RandomGradientExtrapolation-reuse-4170">
            <a:extLst xmlns:a="http://schemas.openxmlformats.org/drawingml/2006/main">
              <a:ext uri="{FF2B5EF4-FFF2-40B4-BE49-F238E27FC236}">
                <a16:creationId xmlns:a16="http://schemas.microsoft.com/office/drawing/2014/main" id="{8E9464BE-715E-4907-B72C-67718CEB03F9}"/>
              </a:ext>
            </a:extLst>
          </p:cNvPr>
          <p:cNvSpPr>
            <a:spLocks xmlns:a="http://schemas.openxmlformats.org/drawingml/2006/main" noGrp="1"/>
          </p:cNvSpPr>
          <p:nvPr/>
        </p:nvSpPr>
        <p:spPr>
          <a:xfrm xmlns:a="http://schemas.openxmlformats.org/drawingml/2006/main">
            <a:off x="7965554" y="5495253"/>
            <a:ext cx="769444" cy="462259"/>
          </a:xfrm>
          <a:custGeom xmlns:a="http://schemas.openxmlformats.org/drawingml/2006/main">
            <a:pathLst>
              <a:path w="769444" h="462259">
                <a:moveTo>
                  <a:pt x="691679" y="0"/>
                </a:moveTo>
                <a:lnTo>
                  <a:pt x="700776" y="32080"/>
                </a:lnTo>
                <a:lnTo>
                  <a:pt x="709471" y="64272"/>
                </a:lnTo>
                <a:lnTo>
                  <a:pt x="717763" y="96569"/>
                </a:lnTo>
                <a:lnTo>
                  <a:pt x="725651" y="128968"/>
                </a:lnTo>
                <a:lnTo>
                  <a:pt x="733133" y="161463"/>
                </a:lnTo>
                <a:lnTo>
                  <a:pt x="740208" y="194048"/>
                </a:lnTo>
                <a:lnTo>
                  <a:pt x="746875" y="226720"/>
                </a:lnTo>
                <a:lnTo>
                  <a:pt x="753133" y="259473"/>
                </a:lnTo>
                <a:lnTo>
                  <a:pt x="758981" y="292301"/>
                </a:lnTo>
                <a:lnTo>
                  <a:pt x="764418" y="325200"/>
                </a:lnTo>
                <a:lnTo>
                  <a:pt x="769444" y="358164"/>
                </a:lnTo>
                <a:lnTo>
                  <a:pt x="56764" y="462259"/>
                </a:lnTo>
                <a:lnTo>
                  <a:pt x="53096" y="438197"/>
                </a:lnTo>
                <a:lnTo>
                  <a:pt x="49127" y="414183"/>
                </a:lnTo>
                <a:lnTo>
                  <a:pt x="44858" y="390221"/>
                </a:lnTo>
                <a:lnTo>
                  <a:pt x="40290" y="366313"/>
                </a:lnTo>
                <a:lnTo>
                  <a:pt x="35423" y="342465"/>
                </a:lnTo>
                <a:lnTo>
                  <a:pt x="30259" y="318679"/>
                </a:lnTo>
                <a:lnTo>
                  <a:pt x="24798" y="294959"/>
                </a:lnTo>
                <a:lnTo>
                  <a:pt x="19040" y="271310"/>
                </a:lnTo>
                <a:lnTo>
                  <a:pt x="12987" y="247735"/>
                </a:lnTo>
                <a:lnTo>
                  <a:pt x="6640" y="224237"/>
                </a:lnTo>
                <a:lnTo>
                  <a:pt x="0" y="200820"/>
                </a:lnTo>
                <a:close/>
              </a:path>
            </a:pathLst>
          </a:custGeom>
          <a:gradFill xmlns:a="http://schemas.openxmlformats.org/drawingml/2006/main">
            <a:gsLst>
              <a:gs pos="0">
                <a:srgbClr val="7FB1AA"/>
              </a:gs>
              <a:gs pos="100000">
                <a:srgbClr val="3A877C"/>
              </a:gs>
            </a:gsLst>
            <a:lin ang="20865000"/>
          </a:gradFill>
          <a:ln xmlns:a="http://schemas.openxmlformats.org/drawingml/2006/main" w="0">
            <a:noFill/>
          </a:ln>
        </p:spPr>
      </p:sp>
      <p:sp>
        <p:nvSpPr>
          <p:cNvPr id="82" name="RandomGradientExtrapolation-reuse-end">
            <a:extLst xmlns:a="http://schemas.openxmlformats.org/drawingml/2006/main">
              <a:ext uri="{FF2B5EF4-FFF2-40B4-BE49-F238E27FC236}">
                <a16:creationId xmlns:a16="http://schemas.microsoft.com/office/drawing/2014/main" id="{D422EDDC-242B-49B6-8A33-7C5B0BEDEB27}"/>
              </a:ext>
            </a:extLst>
          </p:cNvPr>
          <p:cNvSpPr>
            <a:spLocks xmlns:a="http://schemas.openxmlformats.org/drawingml/2006/main" noGrp="1"/>
          </p:cNvSpPr>
          <p:nvPr/>
        </p:nvSpPr>
        <p:spPr>
          <a:xfrm xmlns:a="http://schemas.openxmlformats.org/drawingml/2006/main">
            <a:off x="7965554" y="5689434"/>
            <a:ext cx="80326" cy="268079"/>
          </a:xfrm>
          <a:custGeom xmlns:a="http://schemas.openxmlformats.org/drawingml/2006/main">
            <a:pathLst>
              <a:path w="80326" h="268079">
                <a:moveTo>
                  <a:pt x="22868" y="0"/>
                </a:moveTo>
                <a:lnTo>
                  <a:pt x="29590" y="23703"/>
                </a:lnTo>
                <a:lnTo>
                  <a:pt x="36014" y="47488"/>
                </a:lnTo>
                <a:lnTo>
                  <a:pt x="42141" y="71352"/>
                </a:lnTo>
                <a:lnTo>
                  <a:pt x="47969" y="95291"/>
                </a:lnTo>
                <a:lnTo>
                  <a:pt x="53497" y="119300"/>
                </a:lnTo>
                <a:lnTo>
                  <a:pt x="58725" y="143377"/>
                </a:lnTo>
                <a:lnTo>
                  <a:pt x="63651" y="167517"/>
                </a:lnTo>
                <a:lnTo>
                  <a:pt x="68275" y="191717"/>
                </a:lnTo>
                <a:lnTo>
                  <a:pt x="72596" y="215973"/>
                </a:lnTo>
                <a:lnTo>
                  <a:pt x="76613" y="240281"/>
                </a:lnTo>
                <a:lnTo>
                  <a:pt x="80326" y="264637"/>
                </a:lnTo>
                <a:lnTo>
                  <a:pt x="56764" y="268079"/>
                </a:lnTo>
                <a:lnTo>
                  <a:pt x="53096" y="244017"/>
                </a:lnTo>
                <a:lnTo>
                  <a:pt x="49127" y="220002"/>
                </a:lnTo>
                <a:lnTo>
                  <a:pt x="44858" y="196040"/>
                </a:lnTo>
                <a:lnTo>
                  <a:pt x="40290" y="172132"/>
                </a:lnTo>
                <a:lnTo>
                  <a:pt x="35423" y="148284"/>
                </a:lnTo>
                <a:lnTo>
                  <a:pt x="30259" y="124498"/>
                </a:lnTo>
                <a:lnTo>
                  <a:pt x="24798" y="100779"/>
                </a:lnTo>
                <a:lnTo>
                  <a:pt x="19040" y="77129"/>
                </a:lnTo>
                <a:lnTo>
                  <a:pt x="12987" y="53554"/>
                </a:lnTo>
                <a:lnTo>
                  <a:pt x="6640" y="30056"/>
                </a:lnTo>
                <a:lnTo>
                  <a:pt x="0" y="6639"/>
                </a:lnTo>
                <a:close/>
              </a:path>
            </a:pathLst>
          </a:custGeom>
          <a:solidFill xmlns:a="http://schemas.openxmlformats.org/drawingml/2006/main">
            <a:srgbClr val="22786B"/>
          </a:solidFill>
          <a:ln xmlns:a="http://schemas.openxmlformats.org/drawingml/2006/main" w="0">
            <a:noFill/>
          </a:ln>
        </p:spPr>
      </p:sp>
      <p:sp>
        <p:nvSpPr>
          <p:cNvPr id="83" name="RandomGradientExtrapolation-inbar-tick-5000">
            <a:extLst xmlns:a="http://schemas.openxmlformats.org/drawingml/2006/main">
              <a:ext uri="{FF2B5EF4-FFF2-40B4-BE49-F238E27FC236}">
                <a16:creationId xmlns:a16="http://schemas.microsoft.com/office/drawing/2014/main" id="{35CA7802-EDC8-40BD-9D72-DA483D3B2D94}"/>
              </a:ext>
            </a:extLst>
          </p:cNvPr>
          <p:cNvSpPr>
            <a:spLocks xmlns:a="http://schemas.openxmlformats.org/drawingml/2006/main" noGrp="1"/>
          </p:cNvSpPr>
          <p:nvPr/>
        </p:nvSpPr>
        <p:spPr>
          <a:xfrm xmlns:a="http://schemas.openxmlformats.org/drawingml/2006/main">
            <a:off x="9309890" y="5302309"/>
            <a:ext cx="109834" cy="452884"/>
          </a:xfrm>
          <a:custGeom xmlns:a="http://schemas.openxmlformats.org/drawingml/2006/main">
            <a:pathLst>
              <a:path w="109834" h="452884">
                <a:moveTo>
                  <a:pt x="11891" y="0"/>
                </a:moveTo>
                <a:lnTo>
                  <a:pt x="23349" y="40404"/>
                </a:lnTo>
                <a:lnTo>
                  <a:pt x="34300" y="80948"/>
                </a:lnTo>
                <a:lnTo>
                  <a:pt x="44744" y="121625"/>
                </a:lnTo>
                <a:lnTo>
                  <a:pt x="54678" y="162430"/>
                </a:lnTo>
                <a:lnTo>
                  <a:pt x="64101" y="203356"/>
                </a:lnTo>
                <a:lnTo>
                  <a:pt x="73012" y="244397"/>
                </a:lnTo>
                <a:lnTo>
                  <a:pt x="81409" y="285546"/>
                </a:lnTo>
                <a:lnTo>
                  <a:pt x="89291" y="326796"/>
                </a:lnTo>
                <a:lnTo>
                  <a:pt x="96656" y="368142"/>
                </a:lnTo>
                <a:lnTo>
                  <a:pt x="103504" y="409577"/>
                </a:lnTo>
                <a:lnTo>
                  <a:pt x="109834" y="451094"/>
                </a:lnTo>
                <a:lnTo>
                  <a:pt x="97581" y="452884"/>
                </a:lnTo>
                <a:lnTo>
                  <a:pt x="91275" y="411520"/>
                </a:lnTo>
                <a:lnTo>
                  <a:pt x="84452" y="370238"/>
                </a:lnTo>
                <a:lnTo>
                  <a:pt x="77114" y="329044"/>
                </a:lnTo>
                <a:lnTo>
                  <a:pt x="69261" y="287946"/>
                </a:lnTo>
                <a:lnTo>
                  <a:pt x="60895" y="246949"/>
                </a:lnTo>
                <a:lnTo>
                  <a:pt x="52017" y="206059"/>
                </a:lnTo>
                <a:lnTo>
                  <a:pt x="42629" y="165284"/>
                </a:lnTo>
                <a:lnTo>
                  <a:pt x="32731" y="124629"/>
                </a:lnTo>
                <a:lnTo>
                  <a:pt x="22326" y="84102"/>
                </a:lnTo>
                <a:lnTo>
                  <a:pt x="11415" y="43707"/>
                </a:lnTo>
                <a:lnTo>
                  <a:pt x="0" y="3453"/>
                </a:lnTo>
                <a:close/>
              </a:path>
            </a:pathLst>
          </a:custGeom>
          <a:solidFill xmlns:a="http://schemas.openxmlformats.org/drawingml/2006/main">
            <a:srgbClr val="B3D1CC"/>
          </a:solidFill>
          <a:ln xmlns:a="http://schemas.openxmlformats.org/drawingml/2006/main" w="0">
            <a:noFill/>
          </a:ln>
        </p:spPr>
      </p:sp>
      <p:sp>
        <p:nvSpPr>
          <p:cNvPr id="84" name="RandomGradientExtrapolation-baseline-gap">
            <a:extLst xmlns:a="http://schemas.openxmlformats.org/drawingml/2006/main">
              <a:ext uri="{FF2B5EF4-FFF2-40B4-BE49-F238E27FC236}">
                <a16:creationId xmlns:a16="http://schemas.microsoft.com/office/drawing/2014/main" id="{612C2923-C64D-48B1-AA75-14BC9BBDB043}"/>
              </a:ext>
            </a:extLst>
          </p:cNvPr>
          <p:cNvSpPr>
            <a:spLocks xmlns:a="http://schemas.openxmlformats.org/drawingml/2006/main" noGrp="1"/>
          </p:cNvSpPr>
          <p:nvPr/>
        </p:nvSpPr>
        <p:spPr>
          <a:xfrm xmlns:a="http://schemas.openxmlformats.org/drawingml/2006/main">
            <a:off x="8625380" y="5477716"/>
            <a:ext cx="141122" cy="389214"/>
          </a:xfrm>
          <a:custGeom xmlns:a="http://schemas.openxmlformats.org/drawingml/2006/main">
            <a:pathLst>
              <a:path w="141122" h="389214">
                <a:moveTo>
                  <a:pt x="58483" y="0"/>
                </a:moveTo>
                <a:lnTo>
                  <a:pt x="67461" y="31219"/>
                </a:lnTo>
                <a:lnTo>
                  <a:pt x="76063" y="62545"/>
                </a:lnTo>
                <a:lnTo>
                  <a:pt x="84287" y="93971"/>
                </a:lnTo>
                <a:lnTo>
                  <a:pt x="92133" y="125495"/>
                </a:lnTo>
                <a:lnTo>
                  <a:pt x="99597" y="157111"/>
                </a:lnTo>
                <a:lnTo>
                  <a:pt x="106681" y="188814"/>
                </a:lnTo>
                <a:lnTo>
                  <a:pt x="113382" y="220600"/>
                </a:lnTo>
                <a:lnTo>
                  <a:pt x="119700" y="252465"/>
                </a:lnTo>
                <a:lnTo>
                  <a:pt x="125634" y="284403"/>
                </a:lnTo>
                <a:lnTo>
                  <a:pt x="131183" y="316411"/>
                </a:lnTo>
                <a:lnTo>
                  <a:pt x="136346" y="348483"/>
                </a:lnTo>
                <a:lnTo>
                  <a:pt x="141122" y="380614"/>
                </a:lnTo>
                <a:lnTo>
                  <a:pt x="80772" y="389214"/>
                </a:lnTo>
                <a:lnTo>
                  <a:pt x="76104" y="357809"/>
                </a:lnTo>
                <a:lnTo>
                  <a:pt x="71057" y="326461"/>
                </a:lnTo>
                <a:lnTo>
                  <a:pt x="65634" y="295177"/>
                </a:lnTo>
                <a:lnTo>
                  <a:pt x="59834" y="263961"/>
                </a:lnTo>
                <a:lnTo>
                  <a:pt x="53659" y="232816"/>
                </a:lnTo>
                <a:lnTo>
                  <a:pt x="47109" y="201748"/>
                </a:lnTo>
                <a:lnTo>
                  <a:pt x="40185" y="170761"/>
                </a:lnTo>
                <a:lnTo>
                  <a:pt x="32889" y="139860"/>
                </a:lnTo>
                <a:lnTo>
                  <a:pt x="25222" y="109049"/>
                </a:lnTo>
                <a:lnTo>
                  <a:pt x="17183" y="78333"/>
                </a:lnTo>
                <a:lnTo>
                  <a:pt x="8776" y="47715"/>
                </a:lnTo>
                <a:lnTo>
                  <a:pt x="0" y="17201"/>
                </a:lnTo>
                <a:close/>
              </a:path>
            </a:pathLst>
          </a:custGeom>
          <a:solidFill xmlns:a="http://schemas.openxmlformats.org/drawingml/2006/main">
            <a:srgbClr val="FFFFFF"/>
          </a:solidFill>
          <a:ln xmlns:a="http://schemas.openxmlformats.org/drawingml/2006/main" w="0">
            <a:noFill/>
          </a:ln>
        </p:spPr>
      </p:sp>
      <p:sp>
        <p:nvSpPr>
          <p:cNvPr id="85" name="RandomGradientExtrapolation-label">
            <a:extLst xmlns:a="http://schemas.openxmlformats.org/drawingml/2006/main">
              <a:ext uri="{FF2B5EF4-FFF2-40B4-BE49-F238E27FC236}">
                <a16:creationId xmlns:a16="http://schemas.microsoft.com/office/drawing/2014/main" id="{628D37B7-742C-4003-980E-297319357511}"/>
              </a:ext>
            </a:extLst>
          </p:cNvPr>
          <p:cNvSpPr>
            <a:spLocks xmlns:a="http://schemas.openxmlformats.org/drawingml/2006/main" noGrp="1"/>
          </p:cNvSpPr>
          <p:nvPr/>
        </p:nvSpPr>
        <p:spPr>
          <a:xfrm xmlns:a="http://schemas.openxmlformats.org/drawingml/2006/main" rot="20865000">
            <a:off x="9826259" y="5111866"/>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95E55"/>
                </a:solidFill>
                <a:latin typeface="Arial"/>
                <a:ea typeface="Arial"/>
                <a:cs typeface="Arial"/>
              </a:defRPr>
            </a:pPr>
            <a:r>
              <a:rPr sz="2400" b="0">
                <a:solidFill>
                  <a:srgbClr val="095E55"/>
                </a:solidFill>
                <a:latin typeface="Arial"/>
                <a:ea typeface="Arial"/>
                <a:cs typeface="Arial"/>
              </a:rPr>
              <a:t>RGEM</a:t>
            </a:r>
          </a:p>
        </p:txBody>
      </p:sp>
      <p:sp>
        <p:nvSpPr>
          <p:cNvPr id="86" name="VarianceReducedAcceleratedGradientDescent-algorithm-26257">
            <a:extLst xmlns:a="http://schemas.openxmlformats.org/drawingml/2006/main">
              <a:ext uri="{FF2B5EF4-FFF2-40B4-BE49-F238E27FC236}">
                <a16:creationId xmlns:a16="http://schemas.microsoft.com/office/drawing/2014/main" id="{39B1E970-002A-4A0E-BFED-543DCA272E79}"/>
              </a:ext>
            </a:extLst>
          </p:cNvPr>
          <p:cNvSpPr>
            <a:spLocks xmlns:a="http://schemas.openxmlformats.org/drawingml/2006/main" noGrp="1"/>
          </p:cNvSpPr>
          <p:nvPr/>
        </p:nvSpPr>
        <p:spPr>
          <a:xfrm xmlns:a="http://schemas.openxmlformats.org/drawingml/2006/main">
            <a:off x="8743740" y="5730400"/>
            <a:ext cx="1590787" cy="581708"/>
          </a:xfrm>
          <a:custGeom xmlns:a="http://schemas.openxmlformats.org/drawingml/2006/main">
            <a:pathLst>
              <a:path w="1590787" h="581708">
                <a:moveTo>
                  <a:pt x="1560225" y="0"/>
                </a:moveTo>
                <a:lnTo>
                  <a:pt x="1566254" y="52650"/>
                </a:lnTo>
                <a:lnTo>
                  <a:pt x="1571623" y="105372"/>
                </a:lnTo>
                <a:lnTo>
                  <a:pt x="1576333" y="158156"/>
                </a:lnTo>
                <a:lnTo>
                  <a:pt x="1580383" y="210995"/>
                </a:lnTo>
                <a:lnTo>
                  <a:pt x="1583772" y="263881"/>
                </a:lnTo>
                <a:lnTo>
                  <a:pt x="1586499" y="316805"/>
                </a:lnTo>
                <a:lnTo>
                  <a:pt x="1588565" y="369759"/>
                </a:lnTo>
                <a:lnTo>
                  <a:pt x="1589968" y="422734"/>
                </a:lnTo>
                <a:lnTo>
                  <a:pt x="1590708" y="475723"/>
                </a:lnTo>
                <a:lnTo>
                  <a:pt x="1590787" y="528717"/>
                </a:lnTo>
                <a:lnTo>
                  <a:pt x="1590202" y="581708"/>
                </a:lnTo>
                <a:lnTo>
                  <a:pt x="18862" y="554555"/>
                </a:lnTo>
                <a:lnTo>
                  <a:pt x="19230" y="521212"/>
                </a:lnTo>
                <a:lnTo>
                  <a:pt x="19181" y="487867"/>
                </a:lnTo>
                <a:lnTo>
                  <a:pt x="18715" y="454525"/>
                </a:lnTo>
                <a:lnTo>
                  <a:pt x="17832" y="421192"/>
                </a:lnTo>
                <a:lnTo>
                  <a:pt x="16532" y="387872"/>
                </a:lnTo>
                <a:lnTo>
                  <a:pt x="14816" y="354571"/>
                </a:lnTo>
                <a:lnTo>
                  <a:pt x="12684" y="321294"/>
                </a:lnTo>
                <a:lnTo>
                  <a:pt x="10135" y="288047"/>
                </a:lnTo>
                <a:lnTo>
                  <a:pt x="7172" y="254834"/>
                </a:lnTo>
                <a:lnTo>
                  <a:pt x="3793" y="221660"/>
                </a:lnTo>
                <a:lnTo>
                  <a:pt x="0" y="188532"/>
                </a:lnTo>
                <a:close/>
              </a:path>
            </a:pathLst>
          </a:custGeom>
          <a:gradFill xmlns:a="http://schemas.openxmlformats.org/drawingml/2006/main">
            <a:gsLst>
              <a:gs pos="0">
                <a:srgbClr val="096156"/>
              </a:gs>
              <a:gs pos="50000">
                <a:srgbClr val="09695B"/>
              </a:gs>
              <a:gs pos="100000">
                <a:srgbClr val="297D70"/>
              </a:gs>
            </a:gsLst>
            <a:lin ang="21422999"/>
          </a:gradFill>
          <a:ln xmlns:a="http://schemas.openxmlformats.org/drawingml/2006/main" w="0">
            <a:noFill/>
          </a:ln>
        </p:spPr>
      </p:sp>
      <p:sp>
        <p:nvSpPr>
          <p:cNvPr id="87" name="VarianceReducedAcceleratedGradientDescent-algorithm-end">
            <a:extLst xmlns:a="http://schemas.openxmlformats.org/drawingml/2006/main">
              <a:ext uri="{FF2B5EF4-FFF2-40B4-BE49-F238E27FC236}">
                <a16:creationId xmlns:a16="http://schemas.microsoft.com/office/drawing/2014/main" id="{A400F6CB-C93A-4E73-9C53-43E9E7DA6F73}"/>
              </a:ext>
            </a:extLst>
          </p:cNvPr>
          <p:cNvSpPr>
            <a:spLocks xmlns:a="http://schemas.openxmlformats.org/drawingml/2006/main" noGrp="1"/>
          </p:cNvSpPr>
          <p:nvPr/>
        </p:nvSpPr>
        <p:spPr>
          <a:xfrm xmlns:a="http://schemas.openxmlformats.org/drawingml/2006/main">
            <a:off x="10279379" y="5730400"/>
            <a:ext cx="55148" cy="581708"/>
          </a:xfrm>
          <a:custGeom xmlns:a="http://schemas.openxmlformats.org/drawingml/2006/main">
            <a:pathLst>
              <a:path w="55148" h="581708">
                <a:moveTo>
                  <a:pt x="24586" y="0"/>
                </a:moveTo>
                <a:lnTo>
                  <a:pt x="30615" y="52650"/>
                </a:lnTo>
                <a:lnTo>
                  <a:pt x="35984" y="105372"/>
                </a:lnTo>
                <a:lnTo>
                  <a:pt x="40694" y="158156"/>
                </a:lnTo>
                <a:lnTo>
                  <a:pt x="44744" y="210995"/>
                </a:lnTo>
                <a:lnTo>
                  <a:pt x="48133" y="263881"/>
                </a:lnTo>
                <a:lnTo>
                  <a:pt x="50860" y="316805"/>
                </a:lnTo>
                <a:lnTo>
                  <a:pt x="52925" y="369759"/>
                </a:lnTo>
                <a:lnTo>
                  <a:pt x="54329" y="422734"/>
                </a:lnTo>
                <a:lnTo>
                  <a:pt x="55069" y="475723"/>
                </a:lnTo>
                <a:lnTo>
                  <a:pt x="55148" y="528717"/>
                </a:lnTo>
                <a:lnTo>
                  <a:pt x="54563" y="581708"/>
                </a:lnTo>
                <a:lnTo>
                  <a:pt x="29802" y="581280"/>
                </a:lnTo>
                <a:lnTo>
                  <a:pt x="30383" y="528599"/>
                </a:lnTo>
                <a:lnTo>
                  <a:pt x="30305" y="475915"/>
                </a:lnTo>
                <a:lnTo>
                  <a:pt x="29569" y="423235"/>
                </a:lnTo>
                <a:lnTo>
                  <a:pt x="28174" y="370569"/>
                </a:lnTo>
                <a:lnTo>
                  <a:pt x="26120" y="317925"/>
                </a:lnTo>
                <a:lnTo>
                  <a:pt x="23409" y="265310"/>
                </a:lnTo>
                <a:lnTo>
                  <a:pt x="20040" y="212733"/>
                </a:lnTo>
                <a:lnTo>
                  <a:pt x="16014" y="160203"/>
                </a:lnTo>
                <a:lnTo>
                  <a:pt x="11331" y="107727"/>
                </a:lnTo>
                <a:lnTo>
                  <a:pt x="5993" y="55313"/>
                </a:lnTo>
                <a:lnTo>
                  <a:pt x="0" y="2971"/>
                </a:lnTo>
                <a:close/>
              </a:path>
            </a:pathLst>
          </a:custGeom>
          <a:solidFill xmlns:a="http://schemas.openxmlformats.org/drawingml/2006/main">
            <a:srgbClr val="096056"/>
          </a:solidFill>
          <a:ln xmlns:a="http://schemas.openxmlformats.org/drawingml/2006/main" w="0">
            <a:noFill/>
          </a:ln>
        </p:spPr>
      </p:sp>
      <p:sp>
        <p:nvSpPr>
          <p:cNvPr id="88" name="VarianceReducedAcceleratedGradientDescent-reuse-6904">
            <a:extLst xmlns:a="http://schemas.openxmlformats.org/drawingml/2006/main">
              <a:ext uri="{FF2B5EF4-FFF2-40B4-BE49-F238E27FC236}">
                <a16:creationId xmlns:a16="http://schemas.microsoft.com/office/drawing/2014/main" id="{B684F32A-F531-4EDF-BC2A-2C47FB114A77}"/>
              </a:ext>
            </a:extLst>
          </p:cNvPr>
          <p:cNvSpPr>
            <a:spLocks xmlns:a="http://schemas.openxmlformats.org/drawingml/2006/main" noGrp="1"/>
          </p:cNvSpPr>
          <p:nvPr/>
        </p:nvSpPr>
        <p:spPr>
          <a:xfrm xmlns:a="http://schemas.openxmlformats.org/drawingml/2006/main">
            <a:off x="7823686" y="5918932"/>
            <a:ext cx="939283" cy="366023"/>
          </a:xfrm>
          <a:custGeom xmlns:a="http://schemas.openxmlformats.org/drawingml/2006/main">
            <a:pathLst>
              <a:path w="939283" h="366023">
                <a:moveTo>
                  <a:pt x="920053" y="0"/>
                </a:moveTo>
                <a:lnTo>
                  <a:pt x="923846" y="33129"/>
                </a:lnTo>
                <a:lnTo>
                  <a:pt x="927225" y="66302"/>
                </a:lnTo>
                <a:lnTo>
                  <a:pt x="930189" y="99515"/>
                </a:lnTo>
                <a:lnTo>
                  <a:pt x="932737" y="132763"/>
                </a:lnTo>
                <a:lnTo>
                  <a:pt x="934869" y="166039"/>
                </a:lnTo>
                <a:lnTo>
                  <a:pt x="936585" y="199340"/>
                </a:lnTo>
                <a:lnTo>
                  <a:pt x="937885" y="232660"/>
                </a:lnTo>
                <a:lnTo>
                  <a:pt x="938768" y="265993"/>
                </a:lnTo>
                <a:lnTo>
                  <a:pt x="939234" y="299335"/>
                </a:lnTo>
                <a:lnTo>
                  <a:pt x="939283" y="332680"/>
                </a:lnTo>
                <a:lnTo>
                  <a:pt x="938915" y="366023"/>
                </a:lnTo>
                <a:lnTo>
                  <a:pt x="12308" y="350011"/>
                </a:lnTo>
                <a:lnTo>
                  <a:pt x="12548" y="328254"/>
                </a:lnTo>
                <a:lnTo>
                  <a:pt x="12516" y="306496"/>
                </a:lnTo>
                <a:lnTo>
                  <a:pt x="12212" y="284740"/>
                </a:lnTo>
                <a:lnTo>
                  <a:pt x="11635" y="262990"/>
                </a:lnTo>
                <a:lnTo>
                  <a:pt x="10787" y="241248"/>
                </a:lnTo>
                <a:lnTo>
                  <a:pt x="9668" y="219519"/>
                </a:lnTo>
                <a:lnTo>
                  <a:pt x="8276" y="197805"/>
                </a:lnTo>
                <a:lnTo>
                  <a:pt x="6614" y="176111"/>
                </a:lnTo>
                <a:lnTo>
                  <a:pt x="4680" y="154439"/>
                </a:lnTo>
                <a:lnTo>
                  <a:pt x="2475" y="132793"/>
                </a:lnTo>
                <a:lnTo>
                  <a:pt x="0" y="111176"/>
                </a:lnTo>
                <a:close/>
              </a:path>
            </a:pathLst>
          </a:custGeom>
          <a:gradFill xmlns:a="http://schemas.openxmlformats.org/drawingml/2006/main">
            <a:gsLst>
              <a:gs pos="0">
                <a:srgbClr val="7FB1AA"/>
              </a:gs>
              <a:gs pos="100000">
                <a:srgbClr val="3A877C"/>
              </a:gs>
            </a:gsLst>
            <a:lin ang="21422999"/>
          </a:gradFill>
          <a:ln xmlns:a="http://schemas.openxmlformats.org/drawingml/2006/main" w="0">
            <a:noFill/>
          </a:ln>
        </p:spPr>
      </p:sp>
      <p:sp>
        <p:nvSpPr>
          <p:cNvPr id="89" name="VarianceReducedAcceleratedGradientDescent-reuse-end">
            <a:extLst xmlns:a="http://schemas.openxmlformats.org/drawingml/2006/main">
              <a:ext uri="{FF2B5EF4-FFF2-40B4-BE49-F238E27FC236}">
                <a16:creationId xmlns:a16="http://schemas.microsoft.com/office/drawing/2014/main" id="{05F6F6D4-469F-445B-9DC8-029E74AE5684}"/>
              </a:ext>
            </a:extLst>
          </p:cNvPr>
          <p:cNvSpPr>
            <a:spLocks xmlns:a="http://schemas.openxmlformats.org/drawingml/2006/main" noGrp="1"/>
          </p:cNvSpPr>
          <p:nvPr/>
        </p:nvSpPr>
        <p:spPr>
          <a:xfrm xmlns:a="http://schemas.openxmlformats.org/drawingml/2006/main">
            <a:off x="7823686" y="6027251"/>
            <a:ext cx="36360" cy="242103"/>
          </a:xfrm>
          <a:custGeom xmlns:a="http://schemas.openxmlformats.org/drawingml/2006/main">
            <a:pathLst>
              <a:path w="36360" h="242103">
                <a:moveTo>
                  <a:pt x="23641" y="0"/>
                </a:moveTo>
                <a:lnTo>
                  <a:pt x="26149" y="21913"/>
                </a:lnTo>
                <a:lnTo>
                  <a:pt x="28384" y="43855"/>
                </a:lnTo>
                <a:lnTo>
                  <a:pt x="30345" y="65823"/>
                </a:lnTo>
                <a:lnTo>
                  <a:pt x="32030" y="87815"/>
                </a:lnTo>
                <a:lnTo>
                  <a:pt x="33440" y="109825"/>
                </a:lnTo>
                <a:lnTo>
                  <a:pt x="34576" y="131852"/>
                </a:lnTo>
                <a:lnTo>
                  <a:pt x="35435" y="153891"/>
                </a:lnTo>
                <a:lnTo>
                  <a:pt x="36019" y="175939"/>
                </a:lnTo>
                <a:lnTo>
                  <a:pt x="36327" y="197993"/>
                </a:lnTo>
                <a:lnTo>
                  <a:pt x="36360" y="220049"/>
                </a:lnTo>
                <a:lnTo>
                  <a:pt x="36117" y="242103"/>
                </a:lnTo>
                <a:lnTo>
                  <a:pt x="12308" y="241692"/>
                </a:lnTo>
                <a:lnTo>
                  <a:pt x="12548" y="219935"/>
                </a:lnTo>
                <a:lnTo>
                  <a:pt x="12516" y="198177"/>
                </a:lnTo>
                <a:lnTo>
                  <a:pt x="12212" y="176421"/>
                </a:lnTo>
                <a:lnTo>
                  <a:pt x="11635" y="154670"/>
                </a:lnTo>
                <a:lnTo>
                  <a:pt x="10787" y="132929"/>
                </a:lnTo>
                <a:lnTo>
                  <a:pt x="9668" y="111200"/>
                </a:lnTo>
                <a:lnTo>
                  <a:pt x="8276" y="89486"/>
                </a:lnTo>
                <a:lnTo>
                  <a:pt x="6614" y="67792"/>
                </a:lnTo>
                <a:lnTo>
                  <a:pt x="4680" y="46120"/>
                </a:lnTo>
                <a:lnTo>
                  <a:pt x="2475" y="24473"/>
                </a:lnTo>
                <a:lnTo>
                  <a:pt x="0" y="2857"/>
                </a:lnTo>
                <a:close/>
              </a:path>
            </a:pathLst>
          </a:custGeom>
          <a:solidFill xmlns:a="http://schemas.openxmlformats.org/drawingml/2006/main">
            <a:srgbClr val="22786B"/>
          </a:solidFill>
          <a:ln xmlns:a="http://schemas.openxmlformats.org/drawingml/2006/main" w="0">
            <a:noFill/>
          </a:ln>
        </p:spPr>
      </p:sp>
      <p:sp>
        <p:nvSpPr>
          <p:cNvPr id="90" name="VarianceReducedAcceleratedGradientDescent-inbar-tick-5000">
            <a:extLst xmlns:a="http://schemas.openxmlformats.org/drawingml/2006/main">
              <a:ext uri="{FF2B5EF4-FFF2-40B4-BE49-F238E27FC236}">
                <a16:creationId xmlns:a16="http://schemas.microsoft.com/office/drawing/2014/main" id="{8825EEED-7C71-4F87-BAAB-FDB02245D926}"/>
              </a:ext>
            </a:extLst>
          </p:cNvPr>
          <p:cNvSpPr>
            <a:spLocks xmlns:a="http://schemas.openxmlformats.org/drawingml/2006/main" noGrp="1"/>
          </p:cNvSpPr>
          <p:nvPr/>
        </p:nvSpPr>
        <p:spPr>
          <a:xfrm xmlns:a="http://schemas.openxmlformats.org/drawingml/2006/main">
            <a:off x="9418441" y="5835918"/>
            <a:ext cx="36512" cy="460993"/>
          </a:xfrm>
          <a:custGeom xmlns:a="http://schemas.openxmlformats.org/drawingml/2006/main">
            <a:pathLst>
              <a:path w="36512" h="460993">
                <a:moveTo>
                  <a:pt x="12293" y="0"/>
                </a:moveTo>
                <a:lnTo>
                  <a:pt x="17070" y="41724"/>
                </a:lnTo>
                <a:lnTo>
                  <a:pt x="21326" y="83505"/>
                </a:lnTo>
                <a:lnTo>
                  <a:pt x="25058" y="125336"/>
                </a:lnTo>
                <a:lnTo>
                  <a:pt x="28268" y="167210"/>
                </a:lnTo>
                <a:lnTo>
                  <a:pt x="30953" y="209121"/>
                </a:lnTo>
                <a:lnTo>
                  <a:pt x="33115" y="251062"/>
                </a:lnTo>
                <a:lnTo>
                  <a:pt x="34751" y="293027"/>
                </a:lnTo>
                <a:lnTo>
                  <a:pt x="35863" y="335009"/>
                </a:lnTo>
                <a:lnTo>
                  <a:pt x="36450" y="377002"/>
                </a:lnTo>
                <a:lnTo>
                  <a:pt x="36512" y="418999"/>
                </a:lnTo>
                <a:lnTo>
                  <a:pt x="36049" y="460993"/>
                </a:lnTo>
                <a:lnTo>
                  <a:pt x="23669" y="460779"/>
                </a:lnTo>
                <a:lnTo>
                  <a:pt x="24130" y="418939"/>
                </a:lnTo>
                <a:lnTo>
                  <a:pt x="24068" y="377097"/>
                </a:lnTo>
                <a:lnTo>
                  <a:pt x="23483" y="335259"/>
                </a:lnTo>
                <a:lnTo>
                  <a:pt x="22376" y="293432"/>
                </a:lnTo>
                <a:lnTo>
                  <a:pt x="20745" y="251622"/>
                </a:lnTo>
                <a:lnTo>
                  <a:pt x="18591" y="209835"/>
                </a:lnTo>
                <a:lnTo>
                  <a:pt x="15916" y="168079"/>
                </a:lnTo>
                <a:lnTo>
                  <a:pt x="12718" y="126359"/>
                </a:lnTo>
                <a:lnTo>
                  <a:pt x="8999" y="84683"/>
                </a:lnTo>
                <a:lnTo>
                  <a:pt x="4760" y="43056"/>
                </a:lnTo>
                <a:lnTo>
                  <a:pt x="0" y="1485"/>
                </a:lnTo>
                <a:close/>
              </a:path>
            </a:pathLst>
          </a:custGeom>
          <a:solidFill xmlns:a="http://schemas.openxmlformats.org/drawingml/2006/main">
            <a:srgbClr val="B3D1CC"/>
          </a:solidFill>
          <a:ln xmlns:a="http://schemas.openxmlformats.org/drawingml/2006/main" w="0">
            <a:noFill/>
          </a:ln>
        </p:spPr>
      </p:sp>
      <p:sp>
        <p:nvSpPr>
          <p:cNvPr id="91" name="VarianceReducedAcceleratedGradientDescent-inbar-tick-20000">
            <a:extLst xmlns:a="http://schemas.openxmlformats.org/drawingml/2006/main">
              <a:ext uri="{FF2B5EF4-FFF2-40B4-BE49-F238E27FC236}">
                <a16:creationId xmlns:a16="http://schemas.microsoft.com/office/drawing/2014/main" id="{33947561-DCF5-46CC-B79C-C7D844E8DA53}"/>
              </a:ext>
            </a:extLst>
          </p:cNvPr>
          <p:cNvSpPr>
            <a:spLocks xmlns:a="http://schemas.openxmlformats.org/drawingml/2006/main" noGrp="1"/>
          </p:cNvSpPr>
          <p:nvPr/>
        </p:nvSpPr>
        <p:spPr>
          <a:xfrm xmlns:a="http://schemas.openxmlformats.org/drawingml/2006/main">
            <a:off x="10099288" y="5753647"/>
            <a:ext cx="41457" cy="555113"/>
          </a:xfrm>
          <a:custGeom xmlns:a="http://schemas.openxmlformats.org/drawingml/2006/main">
            <a:pathLst>
              <a:path w="41457" h="555113">
                <a:moveTo>
                  <a:pt x="12293" y="0"/>
                </a:moveTo>
                <a:lnTo>
                  <a:pt x="18046" y="50243"/>
                </a:lnTo>
                <a:lnTo>
                  <a:pt x="23170" y="100554"/>
                </a:lnTo>
                <a:lnTo>
                  <a:pt x="27665" y="150925"/>
                </a:lnTo>
                <a:lnTo>
                  <a:pt x="31529" y="201349"/>
                </a:lnTo>
                <a:lnTo>
                  <a:pt x="34763" y="251816"/>
                </a:lnTo>
                <a:lnTo>
                  <a:pt x="37366" y="302321"/>
                </a:lnTo>
                <a:lnTo>
                  <a:pt x="39337" y="352854"/>
                </a:lnTo>
                <a:lnTo>
                  <a:pt x="40676" y="403407"/>
                </a:lnTo>
                <a:lnTo>
                  <a:pt x="41383" y="453974"/>
                </a:lnTo>
                <a:lnTo>
                  <a:pt x="41457" y="504545"/>
                </a:lnTo>
                <a:lnTo>
                  <a:pt x="40900" y="555113"/>
                </a:lnTo>
                <a:lnTo>
                  <a:pt x="28519" y="554899"/>
                </a:lnTo>
                <a:lnTo>
                  <a:pt x="29075" y="504486"/>
                </a:lnTo>
                <a:lnTo>
                  <a:pt x="29000" y="454069"/>
                </a:lnTo>
                <a:lnTo>
                  <a:pt x="28296" y="403658"/>
                </a:lnTo>
                <a:lnTo>
                  <a:pt x="26961" y="353259"/>
                </a:lnTo>
                <a:lnTo>
                  <a:pt x="24996" y="302881"/>
                </a:lnTo>
                <a:lnTo>
                  <a:pt x="22401" y="252531"/>
                </a:lnTo>
                <a:lnTo>
                  <a:pt x="19177" y="202218"/>
                </a:lnTo>
                <a:lnTo>
                  <a:pt x="15325" y="151949"/>
                </a:lnTo>
                <a:lnTo>
                  <a:pt x="10844" y="101732"/>
                </a:lnTo>
                <a:lnTo>
                  <a:pt x="5735" y="51575"/>
                </a:lnTo>
                <a:lnTo>
                  <a:pt x="0" y="1485"/>
                </a:lnTo>
                <a:close/>
              </a:path>
            </a:pathLst>
          </a:custGeom>
          <a:solidFill xmlns:a="http://schemas.openxmlformats.org/drawingml/2006/main">
            <a:srgbClr val="B3D1CC"/>
          </a:solidFill>
          <a:ln xmlns:a="http://schemas.openxmlformats.org/drawingml/2006/main" w="0">
            <a:noFill/>
          </a:ln>
        </p:spPr>
      </p:sp>
      <p:sp>
        <p:nvSpPr>
          <p:cNvPr id="92" name="VarianceReducedAcceleratedGradientDescent-baseline-gap">
            <a:extLst xmlns:a="http://schemas.openxmlformats.org/drawingml/2006/main">
              <a:ext uri="{FF2B5EF4-FFF2-40B4-BE49-F238E27FC236}">
                <a16:creationId xmlns:a16="http://schemas.microsoft.com/office/drawing/2014/main" id="{C1F5C67A-5522-440A-9A84-718E90334114}"/>
              </a:ext>
            </a:extLst>
          </p:cNvPr>
          <p:cNvSpPr>
            <a:spLocks xmlns:a="http://schemas.openxmlformats.org/drawingml/2006/main" noGrp="1"/>
          </p:cNvSpPr>
          <p:nvPr/>
        </p:nvSpPr>
        <p:spPr>
          <a:xfrm xmlns:a="http://schemas.openxmlformats.org/drawingml/2006/main">
            <a:off x="8712360" y="5905930"/>
            <a:ext cx="81105" cy="388966"/>
          </a:xfrm>
          <a:custGeom xmlns:a="http://schemas.openxmlformats.org/drawingml/2006/main">
            <a:pathLst>
              <a:path w="81105" h="388966">
                <a:moveTo>
                  <a:pt x="60494" y="0"/>
                </a:moveTo>
                <a:lnTo>
                  <a:pt x="64309" y="32260"/>
                </a:lnTo>
                <a:lnTo>
                  <a:pt x="67736" y="64564"/>
                </a:lnTo>
                <a:lnTo>
                  <a:pt x="70773" y="96906"/>
                </a:lnTo>
                <a:lnTo>
                  <a:pt x="73421" y="129283"/>
                </a:lnTo>
                <a:lnTo>
                  <a:pt x="75678" y="161690"/>
                </a:lnTo>
                <a:lnTo>
                  <a:pt x="77546" y="194121"/>
                </a:lnTo>
                <a:lnTo>
                  <a:pt x="79022" y="226572"/>
                </a:lnTo>
                <a:lnTo>
                  <a:pt x="80108" y="259039"/>
                </a:lnTo>
                <a:lnTo>
                  <a:pt x="80802" y="291517"/>
                </a:lnTo>
                <a:lnTo>
                  <a:pt x="81105" y="324000"/>
                </a:lnTo>
                <a:lnTo>
                  <a:pt x="81017" y="356485"/>
                </a:lnTo>
                <a:lnTo>
                  <a:pt x="80538" y="388966"/>
                </a:lnTo>
                <a:lnTo>
                  <a:pt x="19592" y="387700"/>
                </a:lnTo>
                <a:lnTo>
                  <a:pt x="20060" y="355953"/>
                </a:lnTo>
                <a:lnTo>
                  <a:pt x="20146" y="324202"/>
                </a:lnTo>
                <a:lnTo>
                  <a:pt x="19849" y="292453"/>
                </a:lnTo>
                <a:lnTo>
                  <a:pt x="19170" y="260709"/>
                </a:lnTo>
                <a:lnTo>
                  <a:pt x="18109" y="228976"/>
                </a:lnTo>
                <a:lnTo>
                  <a:pt x="16666" y="197258"/>
                </a:lnTo>
                <a:lnTo>
                  <a:pt x="14841" y="165560"/>
                </a:lnTo>
                <a:lnTo>
                  <a:pt x="12635" y="133886"/>
                </a:lnTo>
                <a:lnTo>
                  <a:pt x="10047" y="102241"/>
                </a:lnTo>
                <a:lnTo>
                  <a:pt x="7078" y="70629"/>
                </a:lnTo>
                <a:lnTo>
                  <a:pt x="3729" y="39055"/>
                </a:lnTo>
                <a:lnTo>
                  <a:pt x="0" y="7524"/>
                </a:lnTo>
                <a:close/>
              </a:path>
            </a:pathLst>
          </a:custGeom>
          <a:solidFill xmlns:a="http://schemas.openxmlformats.org/drawingml/2006/main">
            <a:srgbClr val="FFFFFF"/>
          </a:solidFill>
          <a:ln xmlns:a="http://schemas.openxmlformats.org/drawingml/2006/main" w="0">
            <a:noFill/>
          </a:ln>
        </p:spPr>
      </p:sp>
      <p:sp>
        <p:nvSpPr>
          <p:cNvPr id="93" name="VarianceReducedAcceleratedGradientDescent-label">
            <a:extLst xmlns:a="http://schemas.openxmlformats.org/drawingml/2006/main">
              <a:ext uri="{FF2B5EF4-FFF2-40B4-BE49-F238E27FC236}">
                <a16:creationId xmlns:a16="http://schemas.microsoft.com/office/drawing/2014/main" id="{BCEACA5E-7DCD-405F-95FE-87004D2E3A42}"/>
              </a:ext>
            </a:extLst>
          </p:cNvPr>
          <p:cNvSpPr>
            <a:spLocks xmlns:a="http://schemas.openxmlformats.org/drawingml/2006/main" noGrp="1"/>
          </p:cNvSpPr>
          <p:nvPr/>
        </p:nvSpPr>
        <p:spPr>
          <a:xfrm xmlns:a="http://schemas.openxmlformats.org/drawingml/2006/main" rot="21423000">
            <a:off x="10442338" y="5775454"/>
            <a:ext cx="116011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95E55"/>
                </a:solidFill>
                <a:latin typeface="Arial"/>
                <a:ea typeface="Arial"/>
                <a:cs typeface="Arial"/>
              </a:defRPr>
            </a:pPr>
            <a:r>
              <a:rPr sz="2400" b="0">
                <a:solidFill>
                  <a:srgbClr val="095E55"/>
                </a:solidFill>
                <a:latin typeface="Arial"/>
                <a:ea typeface="Arial"/>
                <a:cs typeface="Arial"/>
              </a:rPr>
              <a:t>VRAGD</a:t>
            </a:r>
          </a:p>
        </p:txBody>
      </p:sp>
      <p:sp>
        <p:nvSpPr>
          <p:cNvPr id="94" name="VarianceReducedMirrorDescent-algorithm-29001">
            <a:extLst xmlns:a="http://schemas.openxmlformats.org/drawingml/2006/main">
              <a:ext uri="{FF2B5EF4-FFF2-40B4-BE49-F238E27FC236}">
                <a16:creationId xmlns:a16="http://schemas.microsoft.com/office/drawing/2014/main" id="{A01BBBBC-98B0-416B-8D3F-EC77D53F1EC2}"/>
              </a:ext>
            </a:extLst>
          </p:cNvPr>
          <p:cNvSpPr>
            <a:spLocks xmlns:a="http://schemas.openxmlformats.org/drawingml/2006/main" noGrp="1"/>
          </p:cNvSpPr>
          <p:nvPr/>
        </p:nvSpPr>
        <p:spPr>
          <a:xfrm xmlns:a="http://schemas.openxmlformats.org/drawingml/2006/main">
            <a:off x="8720105" y="6351022"/>
            <a:ext cx="1690729" cy="659296"/>
          </a:xfrm>
          <a:custGeom xmlns:a="http://schemas.openxmlformats.org/drawingml/2006/main">
            <a:pathLst>
              <a:path w="1690729" h="659296">
                <a:moveTo>
                  <a:pt x="1690729" y="69452"/>
                </a:moveTo>
                <a:lnTo>
                  <a:pt x="1688121" y="123384"/>
                </a:lnTo>
                <a:lnTo>
                  <a:pt x="1684840" y="177280"/>
                </a:lnTo>
                <a:lnTo>
                  <a:pt x="1680884" y="231130"/>
                </a:lnTo>
                <a:lnTo>
                  <a:pt x="1676256" y="284927"/>
                </a:lnTo>
                <a:lnTo>
                  <a:pt x="1670955" y="338661"/>
                </a:lnTo>
                <a:lnTo>
                  <a:pt x="1664983" y="392326"/>
                </a:lnTo>
                <a:lnTo>
                  <a:pt x="1658341" y="445911"/>
                </a:lnTo>
                <a:lnTo>
                  <a:pt x="1651029" y="499409"/>
                </a:lnTo>
                <a:lnTo>
                  <a:pt x="1643049" y="552811"/>
                </a:lnTo>
                <a:lnTo>
                  <a:pt x="1634402" y="606110"/>
                </a:lnTo>
                <a:lnTo>
                  <a:pt x="1625089" y="659296"/>
                </a:lnTo>
                <a:lnTo>
                  <a:pt x="0" y="364260"/>
                </a:lnTo>
                <a:lnTo>
                  <a:pt x="5751" y="331415"/>
                </a:lnTo>
                <a:lnTo>
                  <a:pt x="11091" y="298500"/>
                </a:lnTo>
                <a:lnTo>
                  <a:pt x="16020" y="265521"/>
                </a:lnTo>
                <a:lnTo>
                  <a:pt x="20535" y="232483"/>
                </a:lnTo>
                <a:lnTo>
                  <a:pt x="24637" y="199392"/>
                </a:lnTo>
                <a:lnTo>
                  <a:pt x="28325" y="166251"/>
                </a:lnTo>
                <a:lnTo>
                  <a:pt x="31598" y="133067"/>
                </a:lnTo>
                <a:lnTo>
                  <a:pt x="34457" y="99845"/>
                </a:lnTo>
                <a:lnTo>
                  <a:pt x="36899" y="66589"/>
                </a:lnTo>
                <a:lnTo>
                  <a:pt x="38926" y="33306"/>
                </a:lnTo>
                <a:lnTo>
                  <a:pt x="40536" y="0"/>
                </a:lnTo>
                <a:close/>
              </a:path>
            </a:pathLst>
          </a:custGeom>
          <a:gradFill xmlns:a="http://schemas.openxmlformats.org/drawingml/2006/main">
            <a:gsLst>
              <a:gs pos="0">
                <a:srgbClr val="096156"/>
              </a:gs>
              <a:gs pos="50000">
                <a:srgbClr val="09695B"/>
              </a:gs>
              <a:gs pos="100000">
                <a:srgbClr val="297D70"/>
              </a:gs>
            </a:gsLst>
            <a:lin ang="381000"/>
          </a:gradFill>
          <a:ln xmlns:a="http://schemas.openxmlformats.org/drawingml/2006/main" w="0">
            <a:noFill/>
          </a:ln>
        </p:spPr>
      </p:sp>
      <p:sp>
        <p:nvSpPr>
          <p:cNvPr id="95" name="VarianceReducedMirrorDescent-algorithm-end">
            <a:extLst xmlns:a="http://schemas.openxmlformats.org/drawingml/2006/main">
              <a:ext uri="{FF2B5EF4-FFF2-40B4-BE49-F238E27FC236}">
                <a16:creationId xmlns:a16="http://schemas.microsoft.com/office/drawing/2014/main" id="{C9E990F2-9720-4361-9C3D-FC81420DD2A2}"/>
              </a:ext>
            </a:extLst>
          </p:cNvPr>
          <p:cNvSpPr>
            <a:spLocks xmlns:a="http://schemas.openxmlformats.org/drawingml/2006/main" noGrp="1"/>
          </p:cNvSpPr>
          <p:nvPr/>
        </p:nvSpPr>
        <p:spPr>
          <a:xfrm xmlns:a="http://schemas.openxmlformats.org/drawingml/2006/main">
            <a:off x="10320827" y="6419433"/>
            <a:ext cx="90007" cy="590885"/>
          </a:xfrm>
          <a:custGeom xmlns:a="http://schemas.openxmlformats.org/drawingml/2006/main">
            <a:pathLst>
              <a:path w="90007" h="590885">
                <a:moveTo>
                  <a:pt x="90007" y="1041"/>
                </a:moveTo>
                <a:lnTo>
                  <a:pt x="87399" y="54974"/>
                </a:lnTo>
                <a:lnTo>
                  <a:pt x="84118" y="108869"/>
                </a:lnTo>
                <a:lnTo>
                  <a:pt x="80162" y="162720"/>
                </a:lnTo>
                <a:lnTo>
                  <a:pt x="75534" y="216516"/>
                </a:lnTo>
                <a:lnTo>
                  <a:pt x="70233" y="270251"/>
                </a:lnTo>
                <a:lnTo>
                  <a:pt x="64261" y="323915"/>
                </a:lnTo>
                <a:lnTo>
                  <a:pt x="57619" y="377500"/>
                </a:lnTo>
                <a:lnTo>
                  <a:pt x="50307" y="430998"/>
                </a:lnTo>
                <a:lnTo>
                  <a:pt x="42327" y="484400"/>
                </a:lnTo>
                <a:lnTo>
                  <a:pt x="33680" y="537699"/>
                </a:lnTo>
                <a:lnTo>
                  <a:pt x="24367" y="590885"/>
                </a:lnTo>
                <a:lnTo>
                  <a:pt x="0" y="586461"/>
                </a:lnTo>
                <a:lnTo>
                  <a:pt x="9260" y="533580"/>
                </a:lnTo>
                <a:lnTo>
                  <a:pt x="17857" y="480587"/>
                </a:lnTo>
                <a:lnTo>
                  <a:pt x="25792" y="427491"/>
                </a:lnTo>
                <a:lnTo>
                  <a:pt x="33062" y="374300"/>
                </a:lnTo>
                <a:lnTo>
                  <a:pt x="39666" y="321022"/>
                </a:lnTo>
                <a:lnTo>
                  <a:pt x="45604" y="267666"/>
                </a:lnTo>
                <a:lnTo>
                  <a:pt x="50874" y="214239"/>
                </a:lnTo>
                <a:lnTo>
                  <a:pt x="55476" y="160751"/>
                </a:lnTo>
                <a:lnTo>
                  <a:pt x="59408" y="107210"/>
                </a:lnTo>
                <a:lnTo>
                  <a:pt x="62671" y="53623"/>
                </a:lnTo>
                <a:lnTo>
                  <a:pt x="65264" y="0"/>
                </a:lnTo>
                <a:close/>
              </a:path>
            </a:pathLst>
          </a:custGeom>
          <a:solidFill xmlns:a="http://schemas.openxmlformats.org/drawingml/2006/main">
            <a:srgbClr val="096056"/>
          </a:solidFill>
          <a:ln xmlns:a="http://schemas.openxmlformats.org/drawingml/2006/main" w="0">
            <a:noFill/>
          </a:ln>
        </p:spPr>
      </p:sp>
      <p:sp>
        <p:nvSpPr>
          <p:cNvPr id="96" name="VarianceReducedMirrorDescent-reuse-1170">
            <a:extLst xmlns:a="http://schemas.openxmlformats.org/drawingml/2006/main">
              <a:ext uri="{FF2B5EF4-FFF2-40B4-BE49-F238E27FC236}">
                <a16:creationId xmlns:a16="http://schemas.microsoft.com/office/drawing/2014/main" id="{D8BDE593-9FB5-4755-9526-DB4D729437E2}"/>
              </a:ext>
            </a:extLst>
          </p:cNvPr>
          <p:cNvSpPr>
            <a:spLocks xmlns:a="http://schemas.openxmlformats.org/drawingml/2006/main" noGrp="1"/>
          </p:cNvSpPr>
          <p:nvPr/>
        </p:nvSpPr>
        <p:spPr>
          <a:xfrm xmlns:a="http://schemas.openxmlformats.org/drawingml/2006/main">
            <a:off x="8344733" y="6334980"/>
            <a:ext cx="415908" cy="380302"/>
          </a:xfrm>
          <a:custGeom xmlns:a="http://schemas.openxmlformats.org/drawingml/2006/main">
            <a:pathLst>
              <a:path w="415908" h="380302">
                <a:moveTo>
                  <a:pt x="415908" y="16042"/>
                </a:moveTo>
                <a:lnTo>
                  <a:pt x="414298" y="49349"/>
                </a:lnTo>
                <a:lnTo>
                  <a:pt x="412271" y="82632"/>
                </a:lnTo>
                <a:lnTo>
                  <a:pt x="409828" y="115887"/>
                </a:lnTo>
                <a:lnTo>
                  <a:pt x="406970" y="149110"/>
                </a:lnTo>
                <a:lnTo>
                  <a:pt x="403697" y="182294"/>
                </a:lnTo>
                <a:lnTo>
                  <a:pt x="400009" y="215434"/>
                </a:lnTo>
                <a:lnTo>
                  <a:pt x="395907" y="248526"/>
                </a:lnTo>
                <a:lnTo>
                  <a:pt x="391391" y="281564"/>
                </a:lnTo>
                <a:lnTo>
                  <a:pt x="386463" y="314543"/>
                </a:lnTo>
                <a:lnTo>
                  <a:pt x="381123" y="347457"/>
                </a:lnTo>
                <a:lnTo>
                  <a:pt x="375372" y="380302"/>
                </a:lnTo>
                <a:lnTo>
                  <a:pt x="0" y="312154"/>
                </a:lnTo>
                <a:lnTo>
                  <a:pt x="4929" y="284007"/>
                </a:lnTo>
                <a:lnTo>
                  <a:pt x="9505" y="255800"/>
                </a:lnTo>
                <a:lnTo>
                  <a:pt x="13728" y="227539"/>
                </a:lnTo>
                <a:lnTo>
                  <a:pt x="17598" y="199227"/>
                </a:lnTo>
                <a:lnTo>
                  <a:pt x="21113" y="170869"/>
                </a:lnTo>
                <a:lnTo>
                  <a:pt x="24273" y="142469"/>
                </a:lnTo>
                <a:lnTo>
                  <a:pt x="27078" y="114032"/>
                </a:lnTo>
                <a:lnTo>
                  <a:pt x="29528" y="85562"/>
                </a:lnTo>
                <a:lnTo>
                  <a:pt x="31621" y="57064"/>
                </a:lnTo>
                <a:lnTo>
                  <a:pt x="33358" y="28542"/>
                </a:lnTo>
                <a:lnTo>
                  <a:pt x="34738" y="0"/>
                </a:lnTo>
                <a:close/>
              </a:path>
            </a:pathLst>
          </a:custGeom>
          <a:gradFill xmlns:a="http://schemas.openxmlformats.org/drawingml/2006/main">
            <a:gsLst>
              <a:gs pos="0">
                <a:srgbClr val="7FB1AA"/>
              </a:gs>
              <a:gs pos="100000">
                <a:srgbClr val="3A877C"/>
              </a:gs>
            </a:gsLst>
            <a:lin ang="381000"/>
          </a:gradFill>
          <a:ln xmlns:a="http://schemas.openxmlformats.org/drawingml/2006/main" w="0">
            <a:noFill/>
          </a:ln>
        </p:spPr>
      </p:sp>
      <p:sp>
        <p:nvSpPr>
          <p:cNvPr id="97" name="VarianceReducedMirrorDescent-reuse-end">
            <a:extLst xmlns:a="http://schemas.openxmlformats.org/drawingml/2006/main">
              <a:ext uri="{FF2B5EF4-FFF2-40B4-BE49-F238E27FC236}">
                <a16:creationId xmlns:a16="http://schemas.microsoft.com/office/drawing/2014/main" id="{1C3864D8-0D43-4BDC-A86C-C6940E093BA2}"/>
              </a:ext>
            </a:extLst>
          </p:cNvPr>
          <p:cNvSpPr>
            <a:spLocks xmlns:a="http://schemas.openxmlformats.org/drawingml/2006/main" noGrp="1"/>
          </p:cNvSpPr>
          <p:nvPr/>
        </p:nvSpPr>
        <p:spPr>
          <a:xfrm xmlns:a="http://schemas.openxmlformats.org/drawingml/2006/main">
            <a:off x="8344733" y="6334980"/>
            <a:ext cx="58529" cy="316407"/>
          </a:xfrm>
          <a:custGeom xmlns:a="http://schemas.openxmlformats.org/drawingml/2006/main">
            <a:pathLst>
              <a:path w="58529" h="316407">
                <a:moveTo>
                  <a:pt x="58529" y="1001"/>
                </a:moveTo>
                <a:lnTo>
                  <a:pt x="57135" y="29840"/>
                </a:lnTo>
                <a:lnTo>
                  <a:pt x="55380" y="58660"/>
                </a:lnTo>
                <a:lnTo>
                  <a:pt x="53265" y="87455"/>
                </a:lnTo>
                <a:lnTo>
                  <a:pt x="50790" y="116222"/>
                </a:lnTo>
                <a:lnTo>
                  <a:pt x="47956" y="144955"/>
                </a:lnTo>
                <a:lnTo>
                  <a:pt x="44762" y="173651"/>
                </a:lnTo>
                <a:lnTo>
                  <a:pt x="41210" y="202304"/>
                </a:lnTo>
                <a:lnTo>
                  <a:pt x="37301" y="230911"/>
                </a:lnTo>
                <a:lnTo>
                  <a:pt x="33033" y="259467"/>
                </a:lnTo>
                <a:lnTo>
                  <a:pt x="28409" y="287967"/>
                </a:lnTo>
                <a:lnTo>
                  <a:pt x="23430" y="316407"/>
                </a:lnTo>
                <a:lnTo>
                  <a:pt x="0" y="312154"/>
                </a:lnTo>
                <a:lnTo>
                  <a:pt x="4929" y="284007"/>
                </a:lnTo>
                <a:lnTo>
                  <a:pt x="9505" y="255800"/>
                </a:lnTo>
                <a:lnTo>
                  <a:pt x="13728" y="227539"/>
                </a:lnTo>
                <a:lnTo>
                  <a:pt x="17598" y="199227"/>
                </a:lnTo>
                <a:lnTo>
                  <a:pt x="21113" y="170869"/>
                </a:lnTo>
                <a:lnTo>
                  <a:pt x="24273" y="142469"/>
                </a:lnTo>
                <a:lnTo>
                  <a:pt x="27078" y="114032"/>
                </a:lnTo>
                <a:lnTo>
                  <a:pt x="29528" y="85562"/>
                </a:lnTo>
                <a:lnTo>
                  <a:pt x="31621" y="57064"/>
                </a:lnTo>
                <a:lnTo>
                  <a:pt x="33358" y="28542"/>
                </a:lnTo>
                <a:lnTo>
                  <a:pt x="34738" y="0"/>
                </a:lnTo>
                <a:close/>
              </a:path>
            </a:pathLst>
          </a:custGeom>
          <a:solidFill xmlns:a="http://schemas.openxmlformats.org/drawingml/2006/main">
            <a:srgbClr val="22786B"/>
          </a:solidFill>
          <a:ln xmlns:a="http://schemas.openxmlformats.org/drawingml/2006/main" w="0">
            <a:noFill/>
          </a:ln>
        </p:spPr>
      </p:sp>
      <p:sp>
        <p:nvSpPr>
          <p:cNvPr id="98" name="VarianceReducedMirrorDescent-inbar-tick-5000">
            <a:extLst xmlns:a="http://schemas.openxmlformats.org/drawingml/2006/main">
              <a:ext uri="{FF2B5EF4-FFF2-40B4-BE49-F238E27FC236}">
                <a16:creationId xmlns:a16="http://schemas.microsoft.com/office/drawing/2014/main" id="{42EC7921-54C9-45EB-8C97-90FE70056CA9}"/>
              </a:ext>
            </a:extLst>
          </p:cNvPr>
          <p:cNvSpPr>
            <a:spLocks xmlns:a="http://schemas.openxmlformats.org/drawingml/2006/main" noGrp="1"/>
          </p:cNvSpPr>
          <p:nvPr/>
        </p:nvSpPr>
        <p:spPr>
          <a:xfrm xmlns:a="http://schemas.openxmlformats.org/drawingml/2006/main">
            <a:off x="9388783" y="6379600"/>
            <a:ext cx="63238" cy="459293"/>
          </a:xfrm>
          <a:custGeom xmlns:a="http://schemas.openxmlformats.org/drawingml/2006/main">
            <a:pathLst>
              <a:path w="63238" h="459293">
                <a:moveTo>
                  <a:pt x="63238" y="521"/>
                </a:moveTo>
                <a:lnTo>
                  <a:pt x="61209" y="42469"/>
                </a:lnTo>
                <a:lnTo>
                  <a:pt x="58657" y="84388"/>
                </a:lnTo>
                <a:lnTo>
                  <a:pt x="55580" y="126272"/>
                </a:lnTo>
                <a:lnTo>
                  <a:pt x="51980" y="168114"/>
                </a:lnTo>
                <a:lnTo>
                  <a:pt x="47858" y="209908"/>
                </a:lnTo>
                <a:lnTo>
                  <a:pt x="43213" y="251647"/>
                </a:lnTo>
                <a:lnTo>
                  <a:pt x="38046" y="293325"/>
                </a:lnTo>
                <a:lnTo>
                  <a:pt x="32359" y="334935"/>
                </a:lnTo>
                <a:lnTo>
                  <a:pt x="26152" y="376471"/>
                </a:lnTo>
                <a:lnTo>
                  <a:pt x="19427" y="417926"/>
                </a:lnTo>
                <a:lnTo>
                  <a:pt x="12183" y="459293"/>
                </a:lnTo>
                <a:lnTo>
                  <a:pt x="0" y="457081"/>
                </a:lnTo>
                <a:lnTo>
                  <a:pt x="7217" y="415866"/>
                </a:lnTo>
                <a:lnTo>
                  <a:pt x="13918" y="374564"/>
                </a:lnTo>
                <a:lnTo>
                  <a:pt x="20102" y="333182"/>
                </a:lnTo>
                <a:lnTo>
                  <a:pt x="25768" y="291725"/>
                </a:lnTo>
                <a:lnTo>
                  <a:pt x="30915" y="250201"/>
                </a:lnTo>
                <a:lnTo>
                  <a:pt x="35543" y="208616"/>
                </a:lnTo>
                <a:lnTo>
                  <a:pt x="39650" y="166976"/>
                </a:lnTo>
                <a:lnTo>
                  <a:pt x="43237" y="125288"/>
                </a:lnTo>
                <a:lnTo>
                  <a:pt x="46302" y="83558"/>
                </a:lnTo>
                <a:lnTo>
                  <a:pt x="48845" y="41793"/>
                </a:lnTo>
                <a:lnTo>
                  <a:pt x="50866" y="0"/>
                </a:lnTo>
                <a:close/>
              </a:path>
            </a:pathLst>
          </a:custGeom>
          <a:solidFill xmlns:a="http://schemas.openxmlformats.org/drawingml/2006/main">
            <a:srgbClr val="B3D1CC"/>
          </a:solidFill>
          <a:ln xmlns:a="http://schemas.openxmlformats.org/drawingml/2006/main" w="0">
            <a:noFill/>
          </a:ln>
        </p:spPr>
      </p:sp>
      <p:sp>
        <p:nvSpPr>
          <p:cNvPr id="99" name="VarianceReducedMirrorDescent-inbar-tick-20000">
            <a:extLst xmlns:a="http://schemas.openxmlformats.org/drawingml/2006/main">
              <a:ext uri="{FF2B5EF4-FFF2-40B4-BE49-F238E27FC236}">
                <a16:creationId xmlns:a16="http://schemas.microsoft.com/office/drawing/2014/main" id="{376C6454-624E-4DF6-8E56-9142140936B8}"/>
              </a:ext>
            </a:extLst>
          </p:cNvPr>
          <p:cNvSpPr>
            <a:spLocks xmlns:a="http://schemas.openxmlformats.org/drawingml/2006/main" noGrp="1"/>
          </p:cNvSpPr>
          <p:nvPr/>
        </p:nvSpPr>
        <p:spPr>
          <a:xfrm xmlns:a="http://schemas.openxmlformats.org/drawingml/2006/main">
            <a:off x="10063552" y="6408438"/>
            <a:ext cx="73661" cy="552960"/>
          </a:xfrm>
          <a:custGeom xmlns:a="http://schemas.openxmlformats.org/drawingml/2006/main">
            <a:pathLst>
              <a:path w="73661" h="552960">
                <a:moveTo>
                  <a:pt x="73661" y="521"/>
                </a:moveTo>
                <a:lnTo>
                  <a:pt x="71219" y="51033"/>
                </a:lnTo>
                <a:lnTo>
                  <a:pt x="68145" y="101511"/>
                </a:lnTo>
                <a:lnTo>
                  <a:pt x="64441" y="151946"/>
                </a:lnTo>
                <a:lnTo>
                  <a:pt x="60106" y="202331"/>
                </a:lnTo>
                <a:lnTo>
                  <a:pt x="55141" y="252658"/>
                </a:lnTo>
                <a:lnTo>
                  <a:pt x="49548" y="302920"/>
                </a:lnTo>
                <a:lnTo>
                  <a:pt x="43327" y="353107"/>
                </a:lnTo>
                <a:lnTo>
                  <a:pt x="36479" y="403212"/>
                </a:lnTo>
                <a:lnTo>
                  <a:pt x="29005" y="453228"/>
                </a:lnTo>
                <a:lnTo>
                  <a:pt x="20906" y="503147"/>
                </a:lnTo>
                <a:lnTo>
                  <a:pt x="12183" y="552960"/>
                </a:lnTo>
                <a:lnTo>
                  <a:pt x="0" y="550748"/>
                </a:lnTo>
                <a:lnTo>
                  <a:pt x="8696" y="501087"/>
                </a:lnTo>
                <a:lnTo>
                  <a:pt x="16770" y="451322"/>
                </a:lnTo>
                <a:lnTo>
                  <a:pt x="24221" y="401459"/>
                </a:lnTo>
                <a:lnTo>
                  <a:pt x="31048" y="351507"/>
                </a:lnTo>
                <a:lnTo>
                  <a:pt x="37250" y="301473"/>
                </a:lnTo>
                <a:lnTo>
                  <a:pt x="42827" y="251366"/>
                </a:lnTo>
                <a:lnTo>
                  <a:pt x="47776" y="201193"/>
                </a:lnTo>
                <a:lnTo>
                  <a:pt x="52097" y="150962"/>
                </a:lnTo>
                <a:lnTo>
                  <a:pt x="55791" y="100681"/>
                </a:lnTo>
                <a:lnTo>
                  <a:pt x="58855" y="50358"/>
                </a:lnTo>
                <a:lnTo>
                  <a:pt x="61290" y="0"/>
                </a:lnTo>
                <a:close/>
              </a:path>
            </a:pathLst>
          </a:custGeom>
          <a:solidFill xmlns:a="http://schemas.openxmlformats.org/drawingml/2006/main">
            <a:srgbClr val="B3D1CC"/>
          </a:solidFill>
          <a:ln xmlns:a="http://schemas.openxmlformats.org/drawingml/2006/main" w="0">
            <a:noFill/>
          </a:ln>
        </p:spPr>
      </p:sp>
      <p:sp>
        <p:nvSpPr>
          <p:cNvPr id="100" name="VarianceReducedMirrorDescent-baseline-gap">
            <a:extLst xmlns:a="http://schemas.openxmlformats.org/drawingml/2006/main">
              <a:ext uri="{FF2B5EF4-FFF2-40B4-BE49-F238E27FC236}">
                <a16:creationId xmlns:a16="http://schemas.microsoft.com/office/drawing/2014/main" id="{30272358-6B99-4AB3-A3AB-4A37AE034F41}"/>
              </a:ext>
            </a:extLst>
          </p:cNvPr>
          <p:cNvSpPr>
            <a:spLocks xmlns:a="http://schemas.openxmlformats.org/drawingml/2006/main" noGrp="1"/>
          </p:cNvSpPr>
          <p:nvPr/>
        </p:nvSpPr>
        <p:spPr>
          <a:xfrm xmlns:a="http://schemas.openxmlformats.org/drawingml/2006/main">
            <a:off x="8688455" y="6340545"/>
            <a:ext cx="103019" cy="389444"/>
          </a:xfrm>
          <a:custGeom xmlns:a="http://schemas.openxmlformats.org/drawingml/2006/main">
            <a:pathLst>
              <a:path w="103019" h="389444">
                <a:moveTo>
                  <a:pt x="103019" y="2351"/>
                </a:moveTo>
                <a:lnTo>
                  <a:pt x="101570" y="34803"/>
                </a:lnTo>
                <a:lnTo>
                  <a:pt x="99732" y="67236"/>
                </a:lnTo>
                <a:lnTo>
                  <a:pt x="97502" y="99645"/>
                </a:lnTo>
                <a:lnTo>
                  <a:pt x="94883" y="132024"/>
                </a:lnTo>
                <a:lnTo>
                  <a:pt x="91874" y="164369"/>
                </a:lnTo>
                <a:lnTo>
                  <a:pt x="88475" y="196676"/>
                </a:lnTo>
                <a:lnTo>
                  <a:pt x="84688" y="228939"/>
                </a:lnTo>
                <a:lnTo>
                  <a:pt x="80513" y="261155"/>
                </a:lnTo>
                <a:lnTo>
                  <a:pt x="75950" y="293317"/>
                </a:lnTo>
                <a:lnTo>
                  <a:pt x="70999" y="325423"/>
                </a:lnTo>
                <a:lnTo>
                  <a:pt x="65663" y="357467"/>
                </a:lnTo>
                <a:lnTo>
                  <a:pt x="59941" y="389444"/>
                </a:lnTo>
                <a:lnTo>
                  <a:pt x="0" y="378345"/>
                </a:lnTo>
                <a:lnTo>
                  <a:pt x="5593" y="347091"/>
                </a:lnTo>
                <a:lnTo>
                  <a:pt x="10808" y="315771"/>
                </a:lnTo>
                <a:lnTo>
                  <a:pt x="15647" y="284391"/>
                </a:lnTo>
                <a:lnTo>
                  <a:pt x="20107" y="252955"/>
                </a:lnTo>
                <a:lnTo>
                  <a:pt x="24188" y="221468"/>
                </a:lnTo>
                <a:lnTo>
                  <a:pt x="27889" y="189933"/>
                </a:lnTo>
                <a:lnTo>
                  <a:pt x="31211" y="158357"/>
                </a:lnTo>
                <a:lnTo>
                  <a:pt x="34152" y="126743"/>
                </a:lnTo>
                <a:lnTo>
                  <a:pt x="36712" y="95095"/>
                </a:lnTo>
                <a:lnTo>
                  <a:pt x="38891" y="63419"/>
                </a:lnTo>
                <a:lnTo>
                  <a:pt x="40689" y="31719"/>
                </a:lnTo>
                <a:lnTo>
                  <a:pt x="42104" y="0"/>
                </a:lnTo>
                <a:close/>
              </a:path>
            </a:pathLst>
          </a:custGeom>
          <a:solidFill xmlns:a="http://schemas.openxmlformats.org/drawingml/2006/main">
            <a:srgbClr val="FFFFFF"/>
          </a:solidFill>
          <a:ln xmlns:a="http://schemas.openxmlformats.org/drawingml/2006/main" w="0">
            <a:noFill/>
          </a:ln>
        </p:spPr>
      </p:sp>
      <p:sp>
        <p:nvSpPr>
          <p:cNvPr id="101" name="VarianceReducedMirrorDescent-label">
            <a:extLst xmlns:a="http://schemas.openxmlformats.org/drawingml/2006/main">
              <a:ext uri="{FF2B5EF4-FFF2-40B4-BE49-F238E27FC236}">
                <a16:creationId xmlns:a16="http://schemas.microsoft.com/office/drawing/2014/main" id="{9256815A-1F94-4910-8B5A-5F4DE8188D99}"/>
              </a:ext>
            </a:extLst>
          </p:cNvPr>
          <p:cNvSpPr>
            <a:spLocks xmlns:a="http://schemas.openxmlformats.org/drawingml/2006/main" noGrp="1"/>
          </p:cNvSpPr>
          <p:nvPr/>
        </p:nvSpPr>
        <p:spPr>
          <a:xfrm xmlns:a="http://schemas.openxmlformats.org/drawingml/2006/main" rot="381000">
            <a:off x="10498770" y="6573460"/>
            <a:ext cx="97363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95E55"/>
                </a:solidFill>
                <a:latin typeface="Arial"/>
                <a:ea typeface="Arial"/>
                <a:cs typeface="Arial"/>
              </a:defRPr>
            </a:pPr>
            <a:r>
              <a:rPr sz="2400" b="0">
                <a:solidFill>
                  <a:srgbClr val="095E55"/>
                </a:solidFill>
                <a:latin typeface="Arial"/>
                <a:ea typeface="Arial"/>
                <a:cs typeface="Arial"/>
              </a:rPr>
              <a:t>VRMD</a:t>
            </a:r>
          </a:p>
        </p:txBody>
      </p:sp>
      <p:sp>
        <p:nvSpPr>
          <p:cNvPr id="102" name="NonconvexStochasticFirstOrder-algorithm-3783">
            <a:extLst xmlns:a="http://schemas.openxmlformats.org/drawingml/2006/main">
              <a:ext uri="{FF2B5EF4-FFF2-40B4-BE49-F238E27FC236}">
                <a16:creationId xmlns:a16="http://schemas.microsoft.com/office/drawing/2014/main" id="{3235641C-0C9A-4DFD-811E-F5E576CC3BF7}"/>
              </a:ext>
            </a:extLst>
          </p:cNvPr>
          <p:cNvSpPr>
            <a:spLocks xmlns:a="http://schemas.openxmlformats.org/drawingml/2006/main" noGrp="1"/>
          </p:cNvSpPr>
          <p:nvPr/>
        </p:nvSpPr>
        <p:spPr>
          <a:xfrm xmlns:a="http://schemas.openxmlformats.org/drawingml/2006/main">
            <a:off x="8575885" y="6870975"/>
            <a:ext cx="690657" cy="568756"/>
          </a:xfrm>
          <a:custGeom xmlns:a="http://schemas.openxmlformats.org/drawingml/2006/main">
            <a:pathLst>
              <a:path w="690657" h="568756">
                <a:moveTo>
                  <a:pt x="690657" y="141382"/>
                </a:moveTo>
                <a:lnTo>
                  <a:pt x="680739" y="180961"/>
                </a:lnTo>
                <a:lnTo>
                  <a:pt x="670327" y="220414"/>
                </a:lnTo>
                <a:lnTo>
                  <a:pt x="659422" y="259733"/>
                </a:lnTo>
                <a:lnTo>
                  <a:pt x="648026" y="298912"/>
                </a:lnTo>
                <a:lnTo>
                  <a:pt x="636142" y="337947"/>
                </a:lnTo>
                <a:lnTo>
                  <a:pt x="623770" y="376829"/>
                </a:lnTo>
                <a:lnTo>
                  <a:pt x="610913" y="415554"/>
                </a:lnTo>
                <a:lnTo>
                  <a:pt x="597573" y="454115"/>
                </a:lnTo>
                <a:lnTo>
                  <a:pt x="583752" y="492506"/>
                </a:lnTo>
                <a:lnTo>
                  <a:pt x="569452" y="530722"/>
                </a:lnTo>
                <a:lnTo>
                  <a:pt x="554676" y="568756"/>
                </a:lnTo>
                <a:lnTo>
                  <a:pt x="0" y="349256"/>
                </a:lnTo>
                <a:lnTo>
                  <a:pt x="12076" y="318174"/>
                </a:lnTo>
                <a:lnTo>
                  <a:pt x="23762" y="286944"/>
                </a:lnTo>
                <a:lnTo>
                  <a:pt x="35056" y="255570"/>
                </a:lnTo>
                <a:lnTo>
                  <a:pt x="45958" y="224057"/>
                </a:lnTo>
                <a:lnTo>
                  <a:pt x="56465" y="192411"/>
                </a:lnTo>
                <a:lnTo>
                  <a:pt x="66575" y="160636"/>
                </a:lnTo>
                <a:lnTo>
                  <a:pt x="76287" y="128736"/>
                </a:lnTo>
                <a:lnTo>
                  <a:pt x="85600" y="96718"/>
                </a:lnTo>
                <a:lnTo>
                  <a:pt x="94511" y="64586"/>
                </a:lnTo>
                <a:lnTo>
                  <a:pt x="103021" y="32345"/>
                </a:lnTo>
                <a:lnTo>
                  <a:pt x="111126" y="0"/>
                </a:lnTo>
                <a:close/>
              </a:path>
            </a:pathLst>
          </a:custGeom>
          <a:gradFill xmlns:a="http://schemas.openxmlformats.org/drawingml/2006/main">
            <a:gsLst>
              <a:gs pos="0">
                <a:srgbClr val="20774E"/>
              </a:gs>
              <a:gs pos="50000">
                <a:srgbClr val="238351"/>
              </a:gs>
              <a:gs pos="100000">
                <a:srgbClr val="409368"/>
              </a:gs>
            </a:gsLst>
            <a:lin ang="1058999"/>
          </a:gradFill>
          <a:ln xmlns:a="http://schemas.openxmlformats.org/drawingml/2006/main" w="0">
            <a:noFill/>
          </a:ln>
        </p:spPr>
      </p:sp>
      <p:sp>
        <p:nvSpPr>
          <p:cNvPr id="103" name="NonconvexStochasticFirstOrder-algorithm-end">
            <a:extLst xmlns:a="http://schemas.openxmlformats.org/drawingml/2006/main">
              <a:ext uri="{FF2B5EF4-FFF2-40B4-BE49-F238E27FC236}">
                <a16:creationId xmlns:a16="http://schemas.microsoft.com/office/drawing/2014/main" id="{9B355D88-4711-4B67-B9A7-E82FC9BF2D6B}"/>
              </a:ext>
            </a:extLst>
          </p:cNvPr>
          <p:cNvSpPr>
            <a:spLocks xmlns:a="http://schemas.openxmlformats.org/drawingml/2006/main" noGrp="1"/>
          </p:cNvSpPr>
          <p:nvPr/>
        </p:nvSpPr>
        <p:spPr>
          <a:xfrm xmlns:a="http://schemas.openxmlformats.org/drawingml/2006/main">
            <a:off x="9107533" y="7006487"/>
            <a:ext cx="159009" cy="433243"/>
          </a:xfrm>
          <a:custGeom xmlns:a="http://schemas.openxmlformats.org/drawingml/2006/main">
            <a:pathLst>
              <a:path w="159009" h="433243">
                <a:moveTo>
                  <a:pt x="159009" y="5869"/>
                </a:moveTo>
                <a:lnTo>
                  <a:pt x="149091" y="45449"/>
                </a:lnTo>
                <a:lnTo>
                  <a:pt x="138678" y="84901"/>
                </a:lnTo>
                <a:lnTo>
                  <a:pt x="127774" y="124221"/>
                </a:lnTo>
                <a:lnTo>
                  <a:pt x="116378" y="163400"/>
                </a:lnTo>
                <a:lnTo>
                  <a:pt x="104493" y="202434"/>
                </a:lnTo>
                <a:lnTo>
                  <a:pt x="92122" y="241317"/>
                </a:lnTo>
                <a:lnTo>
                  <a:pt x="79265" y="280042"/>
                </a:lnTo>
                <a:lnTo>
                  <a:pt x="65925" y="318603"/>
                </a:lnTo>
                <a:lnTo>
                  <a:pt x="52104" y="356994"/>
                </a:lnTo>
                <a:lnTo>
                  <a:pt x="37804" y="395210"/>
                </a:lnTo>
                <a:lnTo>
                  <a:pt x="23028" y="433243"/>
                </a:lnTo>
                <a:lnTo>
                  <a:pt x="0" y="424131"/>
                </a:lnTo>
                <a:lnTo>
                  <a:pt x="14664" y="386386"/>
                </a:lnTo>
                <a:lnTo>
                  <a:pt x="28856" y="348460"/>
                </a:lnTo>
                <a:lnTo>
                  <a:pt x="42572" y="310360"/>
                </a:lnTo>
                <a:lnTo>
                  <a:pt x="55811" y="272092"/>
                </a:lnTo>
                <a:lnTo>
                  <a:pt x="68570" y="233661"/>
                </a:lnTo>
                <a:lnTo>
                  <a:pt x="80848" y="195073"/>
                </a:lnTo>
                <a:lnTo>
                  <a:pt x="92642" y="156335"/>
                </a:lnTo>
                <a:lnTo>
                  <a:pt x="103951" y="117453"/>
                </a:lnTo>
                <a:lnTo>
                  <a:pt x="114773" y="78432"/>
                </a:lnTo>
                <a:lnTo>
                  <a:pt x="125107" y="39279"/>
                </a:lnTo>
                <a:lnTo>
                  <a:pt x="134950" y="0"/>
                </a:lnTo>
                <a:close/>
              </a:path>
            </a:pathLst>
          </a:custGeom>
          <a:solidFill xmlns:a="http://schemas.openxmlformats.org/drawingml/2006/main">
            <a:srgbClr val="20774D"/>
          </a:solidFill>
          <a:ln xmlns:a="http://schemas.openxmlformats.org/drawingml/2006/main" w="0">
            <a:noFill/>
          </a:ln>
        </p:spPr>
      </p:sp>
      <p:sp>
        <p:nvSpPr>
          <p:cNvPr id="104" name="NonconvexStochasticFirstOrder-reuse-845">
            <a:extLst xmlns:a="http://schemas.openxmlformats.org/drawingml/2006/main">
              <a:ext uri="{FF2B5EF4-FFF2-40B4-BE49-F238E27FC236}">
                <a16:creationId xmlns:a16="http://schemas.microsoft.com/office/drawing/2014/main" id="{E0537FAB-0763-416C-8B48-0C3FE30FD5EB}"/>
              </a:ext>
            </a:extLst>
          </p:cNvPr>
          <p:cNvSpPr>
            <a:spLocks xmlns:a="http://schemas.openxmlformats.org/drawingml/2006/main" noGrp="1"/>
          </p:cNvSpPr>
          <p:nvPr/>
        </p:nvSpPr>
        <p:spPr>
          <a:xfrm xmlns:a="http://schemas.openxmlformats.org/drawingml/2006/main">
            <a:off x="8274413" y="6794132"/>
            <a:ext cx="412598" cy="426098"/>
          </a:xfrm>
          <a:custGeom xmlns:a="http://schemas.openxmlformats.org/drawingml/2006/main">
            <a:pathLst>
              <a:path w="412598" h="426098">
                <a:moveTo>
                  <a:pt x="412598" y="76842"/>
                </a:moveTo>
                <a:lnTo>
                  <a:pt x="404493" y="109187"/>
                </a:lnTo>
                <a:lnTo>
                  <a:pt x="395984" y="141428"/>
                </a:lnTo>
                <a:lnTo>
                  <a:pt x="387072" y="173561"/>
                </a:lnTo>
                <a:lnTo>
                  <a:pt x="377759" y="205579"/>
                </a:lnTo>
                <a:lnTo>
                  <a:pt x="368047" y="237478"/>
                </a:lnTo>
                <a:lnTo>
                  <a:pt x="357937" y="269253"/>
                </a:lnTo>
                <a:lnTo>
                  <a:pt x="347430" y="300900"/>
                </a:lnTo>
                <a:lnTo>
                  <a:pt x="336529" y="332413"/>
                </a:lnTo>
                <a:lnTo>
                  <a:pt x="325234" y="363786"/>
                </a:lnTo>
                <a:lnTo>
                  <a:pt x="313548" y="395017"/>
                </a:lnTo>
                <a:lnTo>
                  <a:pt x="301472" y="426098"/>
                </a:lnTo>
                <a:lnTo>
                  <a:pt x="0" y="306798"/>
                </a:lnTo>
                <a:lnTo>
                  <a:pt x="10608" y="279495"/>
                </a:lnTo>
                <a:lnTo>
                  <a:pt x="20873" y="252061"/>
                </a:lnTo>
                <a:lnTo>
                  <a:pt x="30795" y="224501"/>
                </a:lnTo>
                <a:lnTo>
                  <a:pt x="40371" y="196819"/>
                </a:lnTo>
                <a:lnTo>
                  <a:pt x="49601" y="169020"/>
                </a:lnTo>
                <a:lnTo>
                  <a:pt x="58482" y="141108"/>
                </a:lnTo>
                <a:lnTo>
                  <a:pt x="67013" y="113086"/>
                </a:lnTo>
                <a:lnTo>
                  <a:pt x="75194" y="84960"/>
                </a:lnTo>
                <a:lnTo>
                  <a:pt x="83022" y="56734"/>
                </a:lnTo>
                <a:lnTo>
                  <a:pt x="90497" y="28413"/>
                </a:lnTo>
                <a:lnTo>
                  <a:pt x="97617" y="0"/>
                </a:lnTo>
                <a:close/>
              </a:path>
            </a:pathLst>
          </a:custGeom>
          <a:gradFill xmlns:a="http://schemas.openxmlformats.org/drawingml/2006/main">
            <a:gsLst>
              <a:gs pos="0">
                <a:srgbClr val="8DBFA5"/>
              </a:gs>
              <a:gs pos="100000">
                <a:srgbClr val="4F9C74"/>
              </a:gs>
            </a:gsLst>
            <a:lin ang="1058999"/>
          </a:gradFill>
          <a:ln xmlns:a="http://schemas.openxmlformats.org/drawingml/2006/main" w="0">
            <a:noFill/>
          </a:ln>
        </p:spPr>
      </p:sp>
      <p:sp>
        <p:nvSpPr>
          <p:cNvPr id="105" name="NonconvexStochasticFirstOrder-reuse-end">
            <a:extLst xmlns:a="http://schemas.openxmlformats.org/drawingml/2006/main">
              <a:ext uri="{FF2B5EF4-FFF2-40B4-BE49-F238E27FC236}">
                <a16:creationId xmlns:a16="http://schemas.microsoft.com/office/drawing/2014/main" id="{AA1DC880-2A11-4960-9AA4-2C41216D6170}"/>
              </a:ext>
            </a:extLst>
          </p:cNvPr>
          <p:cNvSpPr>
            <a:spLocks xmlns:a="http://schemas.openxmlformats.org/drawingml/2006/main" noGrp="1"/>
          </p:cNvSpPr>
          <p:nvPr/>
        </p:nvSpPr>
        <p:spPr>
          <a:xfrm xmlns:a="http://schemas.openxmlformats.org/drawingml/2006/main">
            <a:off x="8274413" y="6794132"/>
            <a:ext cx="120751" cy="315560"/>
          </a:xfrm>
          <a:custGeom xmlns:a="http://schemas.openxmlformats.org/drawingml/2006/main">
            <a:pathLst>
              <a:path w="120751" h="315560">
                <a:moveTo>
                  <a:pt x="120751" y="5644"/>
                </a:moveTo>
                <a:lnTo>
                  <a:pt x="113558" y="34345"/>
                </a:lnTo>
                <a:lnTo>
                  <a:pt x="106008" y="62955"/>
                </a:lnTo>
                <a:lnTo>
                  <a:pt x="98100" y="91468"/>
                </a:lnTo>
                <a:lnTo>
                  <a:pt x="89836" y="119879"/>
                </a:lnTo>
                <a:lnTo>
                  <a:pt x="81218" y="148186"/>
                </a:lnTo>
                <a:lnTo>
                  <a:pt x="72247" y="176382"/>
                </a:lnTo>
                <a:lnTo>
                  <a:pt x="62923" y="204464"/>
                </a:lnTo>
                <a:lnTo>
                  <a:pt x="53250" y="232427"/>
                </a:lnTo>
                <a:lnTo>
                  <a:pt x="43227" y="260267"/>
                </a:lnTo>
                <a:lnTo>
                  <a:pt x="32857" y="287979"/>
                </a:lnTo>
                <a:lnTo>
                  <a:pt x="22142" y="315560"/>
                </a:lnTo>
                <a:lnTo>
                  <a:pt x="0" y="306798"/>
                </a:lnTo>
                <a:lnTo>
                  <a:pt x="10608" y="279495"/>
                </a:lnTo>
                <a:lnTo>
                  <a:pt x="20873" y="252061"/>
                </a:lnTo>
                <a:lnTo>
                  <a:pt x="30795" y="224501"/>
                </a:lnTo>
                <a:lnTo>
                  <a:pt x="40371" y="196819"/>
                </a:lnTo>
                <a:lnTo>
                  <a:pt x="49601" y="169020"/>
                </a:lnTo>
                <a:lnTo>
                  <a:pt x="58482" y="141108"/>
                </a:lnTo>
                <a:lnTo>
                  <a:pt x="67013" y="113086"/>
                </a:lnTo>
                <a:lnTo>
                  <a:pt x="75194" y="84960"/>
                </a:lnTo>
                <a:lnTo>
                  <a:pt x="83022" y="56734"/>
                </a:lnTo>
                <a:lnTo>
                  <a:pt x="90497" y="28413"/>
                </a:lnTo>
                <a:lnTo>
                  <a:pt x="97617" y="0"/>
                </a:lnTo>
                <a:close/>
              </a:path>
            </a:pathLst>
          </a:custGeom>
          <a:solidFill xmlns:a="http://schemas.openxmlformats.org/drawingml/2006/main">
            <a:srgbClr val="398F62"/>
          </a:solidFill>
          <a:ln xmlns:a="http://schemas.openxmlformats.org/drawingml/2006/main" w="0">
            <a:noFill/>
          </a:ln>
        </p:spPr>
      </p:sp>
      <p:sp>
        <p:nvSpPr>
          <p:cNvPr id="106" name="NonconvexStochasticFirstOrder-baseline-gap">
            <a:extLst xmlns:a="http://schemas.openxmlformats.org/drawingml/2006/main">
              <a:ext uri="{FF2B5EF4-FFF2-40B4-BE49-F238E27FC236}">
                <a16:creationId xmlns:a16="http://schemas.microsoft.com/office/drawing/2014/main" id="{848F1177-5B42-46F7-979D-F1923943897C}"/>
              </a:ext>
            </a:extLst>
          </p:cNvPr>
          <p:cNvSpPr>
            <a:spLocks xmlns:a="http://schemas.openxmlformats.org/drawingml/2006/main" noGrp="1"/>
          </p:cNvSpPr>
          <p:nvPr/>
        </p:nvSpPr>
        <p:spPr>
          <a:xfrm xmlns:a="http://schemas.openxmlformats.org/drawingml/2006/main">
            <a:off x="8544142" y="6854806"/>
            <a:ext cx="174696" cy="385389"/>
          </a:xfrm>
          <a:custGeom xmlns:a="http://schemas.openxmlformats.org/drawingml/2006/main">
            <a:pathLst>
              <a:path w="174696" h="385389">
                <a:moveTo>
                  <a:pt x="174696" y="14241"/>
                </a:moveTo>
                <a:lnTo>
                  <a:pt x="166917" y="45781"/>
                </a:lnTo>
                <a:lnTo>
                  <a:pt x="158759" y="77225"/>
                </a:lnTo>
                <a:lnTo>
                  <a:pt x="150223" y="108568"/>
                </a:lnTo>
                <a:lnTo>
                  <a:pt x="141309" y="139806"/>
                </a:lnTo>
                <a:lnTo>
                  <a:pt x="132021" y="170935"/>
                </a:lnTo>
                <a:lnTo>
                  <a:pt x="122358" y="201949"/>
                </a:lnTo>
                <a:lnTo>
                  <a:pt x="112322" y="232845"/>
                </a:lnTo>
                <a:lnTo>
                  <a:pt x="101915" y="263618"/>
                </a:lnTo>
                <a:lnTo>
                  <a:pt x="91138" y="294263"/>
                </a:lnTo>
                <a:lnTo>
                  <a:pt x="79993" y="324777"/>
                </a:lnTo>
                <a:lnTo>
                  <a:pt x="68481" y="355153"/>
                </a:lnTo>
                <a:lnTo>
                  <a:pt x="56604" y="385389"/>
                </a:lnTo>
                <a:lnTo>
                  <a:pt x="0" y="362761"/>
                </a:lnTo>
                <a:lnTo>
                  <a:pt x="11608" y="333208"/>
                </a:lnTo>
                <a:lnTo>
                  <a:pt x="22860" y="303518"/>
                </a:lnTo>
                <a:lnTo>
                  <a:pt x="33753" y="273694"/>
                </a:lnTo>
                <a:lnTo>
                  <a:pt x="44287" y="243741"/>
                </a:lnTo>
                <a:lnTo>
                  <a:pt x="54458" y="213664"/>
                </a:lnTo>
                <a:lnTo>
                  <a:pt x="64267" y="183466"/>
                </a:lnTo>
                <a:lnTo>
                  <a:pt x="73712" y="153153"/>
                </a:lnTo>
                <a:lnTo>
                  <a:pt x="82791" y="122727"/>
                </a:lnTo>
                <a:lnTo>
                  <a:pt x="91502" y="92195"/>
                </a:lnTo>
                <a:lnTo>
                  <a:pt x="99846" y="61560"/>
                </a:lnTo>
                <a:lnTo>
                  <a:pt x="107820" y="30827"/>
                </a:lnTo>
                <a:lnTo>
                  <a:pt x="115423" y="0"/>
                </a:lnTo>
                <a:close/>
              </a:path>
            </a:pathLst>
          </a:custGeom>
          <a:solidFill xmlns:a="http://schemas.openxmlformats.org/drawingml/2006/main">
            <a:srgbClr val="FFFFFF"/>
          </a:solidFill>
          <a:ln xmlns:a="http://schemas.openxmlformats.org/drawingml/2006/main" w="0">
            <a:noFill/>
          </a:ln>
        </p:spPr>
      </p:sp>
      <p:sp>
        <p:nvSpPr>
          <p:cNvPr id="107" name="NonconvexStochasticFirstOrder-label">
            <a:extLst xmlns:a="http://schemas.openxmlformats.org/drawingml/2006/main">
              <a:ext uri="{FF2B5EF4-FFF2-40B4-BE49-F238E27FC236}">
                <a16:creationId xmlns:a16="http://schemas.microsoft.com/office/drawing/2014/main" id="{D1B575A3-80F2-4C6A-885D-107CB0D2E817}"/>
              </a:ext>
            </a:extLst>
          </p:cNvPr>
          <p:cNvSpPr>
            <a:spLocks xmlns:a="http://schemas.openxmlformats.org/drawingml/2006/main" noGrp="1"/>
          </p:cNvSpPr>
          <p:nvPr/>
        </p:nvSpPr>
        <p:spPr>
          <a:xfrm xmlns:a="http://schemas.openxmlformats.org/drawingml/2006/main" rot="1059000">
            <a:off x="9285922" y="7239628"/>
            <a:ext cx="122783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2-RSGD</a:t>
            </a:r>
          </a:p>
        </p:txBody>
      </p:sp>
      <p:sp>
        <p:nvSpPr>
          <p:cNvPr id="108" name="RSGF-algorithm-7402">
            <a:extLst xmlns:a="http://schemas.openxmlformats.org/drawingml/2006/main">
              <a:ext uri="{FF2B5EF4-FFF2-40B4-BE49-F238E27FC236}">
                <a16:creationId xmlns:a16="http://schemas.microsoft.com/office/drawing/2014/main" id="{FE0C3584-B2A8-4545-97B2-99DEAACC619A}"/>
              </a:ext>
            </a:extLst>
          </p:cNvPr>
          <p:cNvSpPr>
            <a:spLocks xmlns:a="http://schemas.openxmlformats.org/drawingml/2006/main" noGrp="1"/>
          </p:cNvSpPr>
          <p:nvPr/>
        </p:nvSpPr>
        <p:spPr>
          <a:xfrm xmlns:a="http://schemas.openxmlformats.org/drawingml/2006/main">
            <a:off x="8384698" y="7281383"/>
            <a:ext cx="934141" cy="755093"/>
          </a:xfrm>
          <a:custGeom xmlns:a="http://schemas.openxmlformats.org/drawingml/2006/main">
            <a:pathLst>
              <a:path w="934141" h="755093">
                <a:moveTo>
                  <a:pt x="934141" y="326170"/>
                </a:moveTo>
                <a:lnTo>
                  <a:pt x="916777" y="366356"/>
                </a:lnTo>
                <a:lnTo>
                  <a:pt x="898912" y="406323"/>
                </a:lnTo>
                <a:lnTo>
                  <a:pt x="880549" y="446063"/>
                </a:lnTo>
                <a:lnTo>
                  <a:pt x="861690" y="485571"/>
                </a:lnTo>
                <a:lnTo>
                  <a:pt x="842339" y="524839"/>
                </a:lnTo>
                <a:lnTo>
                  <a:pt x="822499" y="563863"/>
                </a:lnTo>
                <a:lnTo>
                  <a:pt x="802172" y="602635"/>
                </a:lnTo>
                <a:lnTo>
                  <a:pt x="781362" y="641150"/>
                </a:lnTo>
                <a:lnTo>
                  <a:pt x="760072" y="679402"/>
                </a:lnTo>
                <a:lnTo>
                  <a:pt x="738305" y="717385"/>
                </a:lnTo>
                <a:lnTo>
                  <a:pt x="716065" y="755093"/>
                </a:lnTo>
                <a:lnTo>
                  <a:pt x="0" y="326707"/>
                </a:lnTo>
                <a:lnTo>
                  <a:pt x="16940" y="297985"/>
                </a:lnTo>
                <a:lnTo>
                  <a:pt x="33519" y="269054"/>
                </a:lnTo>
                <a:lnTo>
                  <a:pt x="49736" y="239918"/>
                </a:lnTo>
                <a:lnTo>
                  <a:pt x="65587" y="210581"/>
                </a:lnTo>
                <a:lnTo>
                  <a:pt x="81069" y="181048"/>
                </a:lnTo>
                <a:lnTo>
                  <a:pt x="96182" y="151325"/>
                </a:lnTo>
                <a:lnTo>
                  <a:pt x="110921" y="121414"/>
                </a:lnTo>
                <a:lnTo>
                  <a:pt x="125286" y="91322"/>
                </a:lnTo>
                <a:lnTo>
                  <a:pt x="139273" y="61052"/>
                </a:lnTo>
                <a:lnTo>
                  <a:pt x="152881" y="30610"/>
                </a:lnTo>
                <a:lnTo>
                  <a:pt x="166106" y="0"/>
                </a:lnTo>
                <a:close/>
              </a:path>
            </a:pathLst>
          </a:custGeom>
          <a:gradFill xmlns:a="http://schemas.openxmlformats.org/drawingml/2006/main">
            <a:gsLst>
              <a:gs pos="0">
                <a:srgbClr val="20774E"/>
              </a:gs>
              <a:gs pos="50000">
                <a:srgbClr val="238351"/>
              </a:gs>
              <a:gs pos="100000">
                <a:srgbClr val="409368"/>
              </a:gs>
            </a:gsLst>
            <a:lin ang="1616999"/>
          </a:gradFill>
          <a:ln xmlns:a="http://schemas.openxmlformats.org/drawingml/2006/main" w="0">
            <a:noFill/>
          </a:ln>
        </p:spPr>
      </p:sp>
      <p:sp>
        <p:nvSpPr>
          <p:cNvPr id="109" name="RSGF-algorithm-end">
            <a:extLst xmlns:a="http://schemas.openxmlformats.org/drawingml/2006/main">
              <a:ext uri="{FF2B5EF4-FFF2-40B4-BE49-F238E27FC236}">
                <a16:creationId xmlns:a16="http://schemas.microsoft.com/office/drawing/2014/main" id="{44CF1D75-5E27-4789-A4EA-6AB0C20D8E43}"/>
              </a:ext>
            </a:extLst>
          </p:cNvPr>
          <p:cNvSpPr>
            <a:spLocks xmlns:a="http://schemas.openxmlformats.org/drawingml/2006/main" noGrp="1"/>
          </p:cNvSpPr>
          <p:nvPr/>
        </p:nvSpPr>
        <p:spPr>
          <a:xfrm xmlns:a="http://schemas.openxmlformats.org/drawingml/2006/main">
            <a:off x="9079511" y="7597873"/>
            <a:ext cx="239328" cy="438604"/>
          </a:xfrm>
          <a:custGeom xmlns:a="http://schemas.openxmlformats.org/drawingml/2006/main">
            <a:pathLst>
              <a:path w="239328" h="438604">
                <a:moveTo>
                  <a:pt x="239328" y="9680"/>
                </a:moveTo>
                <a:lnTo>
                  <a:pt x="221964" y="49867"/>
                </a:lnTo>
                <a:lnTo>
                  <a:pt x="204099" y="89834"/>
                </a:lnTo>
                <a:lnTo>
                  <a:pt x="185736" y="129574"/>
                </a:lnTo>
                <a:lnTo>
                  <a:pt x="166877" y="169081"/>
                </a:lnTo>
                <a:lnTo>
                  <a:pt x="147526" y="208350"/>
                </a:lnTo>
                <a:lnTo>
                  <a:pt x="127686" y="247373"/>
                </a:lnTo>
                <a:lnTo>
                  <a:pt x="107359" y="286146"/>
                </a:lnTo>
                <a:lnTo>
                  <a:pt x="86549" y="324661"/>
                </a:lnTo>
                <a:lnTo>
                  <a:pt x="65259" y="362913"/>
                </a:lnTo>
                <a:lnTo>
                  <a:pt x="43492" y="400896"/>
                </a:lnTo>
                <a:lnTo>
                  <a:pt x="21252" y="438604"/>
                </a:lnTo>
                <a:lnTo>
                  <a:pt x="0" y="425890"/>
                </a:lnTo>
                <a:lnTo>
                  <a:pt x="22083" y="388449"/>
                </a:lnTo>
                <a:lnTo>
                  <a:pt x="43695" y="350734"/>
                </a:lnTo>
                <a:lnTo>
                  <a:pt x="64835" y="312753"/>
                </a:lnTo>
                <a:lnTo>
                  <a:pt x="85498" y="274510"/>
                </a:lnTo>
                <a:lnTo>
                  <a:pt x="105681" y="236012"/>
                </a:lnTo>
                <a:lnTo>
                  <a:pt x="125381" y="197264"/>
                </a:lnTo>
                <a:lnTo>
                  <a:pt x="144595" y="158274"/>
                </a:lnTo>
                <a:lnTo>
                  <a:pt x="163321" y="119046"/>
                </a:lnTo>
                <a:lnTo>
                  <a:pt x="181554" y="79587"/>
                </a:lnTo>
                <a:lnTo>
                  <a:pt x="199293" y="39903"/>
                </a:lnTo>
                <a:lnTo>
                  <a:pt x="216534" y="0"/>
                </a:lnTo>
                <a:close/>
              </a:path>
            </a:pathLst>
          </a:custGeom>
          <a:solidFill xmlns:a="http://schemas.openxmlformats.org/drawingml/2006/main">
            <a:srgbClr val="20774D"/>
          </a:solidFill>
          <a:ln xmlns:a="http://schemas.openxmlformats.org/drawingml/2006/main" w="0">
            <a:noFill/>
          </a:ln>
        </p:spPr>
      </p:sp>
      <p:sp>
        <p:nvSpPr>
          <p:cNvPr id="110" name="RSGF-reuse-5056">
            <a:extLst xmlns:a="http://schemas.openxmlformats.org/drawingml/2006/main">
              <a:ext uri="{FF2B5EF4-FFF2-40B4-BE49-F238E27FC236}">
                <a16:creationId xmlns:a16="http://schemas.microsoft.com/office/drawing/2014/main" id="{7BFFE8E7-13A3-4013-925F-B3EC1C9E2534}"/>
              </a:ext>
            </a:extLst>
          </p:cNvPr>
          <p:cNvSpPr>
            <a:spLocks xmlns:a="http://schemas.openxmlformats.org/drawingml/2006/main" noGrp="1"/>
          </p:cNvSpPr>
          <p:nvPr/>
        </p:nvSpPr>
        <p:spPr>
          <a:xfrm xmlns:a="http://schemas.openxmlformats.org/drawingml/2006/main">
            <a:off x="7704118" y="6971377"/>
            <a:ext cx="846687" cy="636713"/>
          </a:xfrm>
          <a:custGeom xmlns:a="http://schemas.openxmlformats.org/drawingml/2006/main">
            <a:pathLst>
              <a:path w="846687" h="636713">
                <a:moveTo>
                  <a:pt x="846687" y="310006"/>
                </a:moveTo>
                <a:lnTo>
                  <a:pt x="833461" y="340616"/>
                </a:lnTo>
                <a:lnTo>
                  <a:pt x="819853" y="371058"/>
                </a:lnTo>
                <a:lnTo>
                  <a:pt x="805866" y="401328"/>
                </a:lnTo>
                <a:lnTo>
                  <a:pt x="791502" y="431420"/>
                </a:lnTo>
                <a:lnTo>
                  <a:pt x="776762" y="461331"/>
                </a:lnTo>
                <a:lnTo>
                  <a:pt x="761650" y="491055"/>
                </a:lnTo>
                <a:lnTo>
                  <a:pt x="746167" y="520587"/>
                </a:lnTo>
                <a:lnTo>
                  <a:pt x="730316" y="549924"/>
                </a:lnTo>
                <a:lnTo>
                  <a:pt x="714100" y="579060"/>
                </a:lnTo>
                <a:lnTo>
                  <a:pt x="697520" y="607991"/>
                </a:lnTo>
                <a:lnTo>
                  <a:pt x="680580" y="636713"/>
                </a:lnTo>
                <a:lnTo>
                  <a:pt x="0" y="229555"/>
                </a:lnTo>
                <a:lnTo>
                  <a:pt x="11903" y="209375"/>
                </a:lnTo>
                <a:lnTo>
                  <a:pt x="23552" y="189046"/>
                </a:lnTo>
                <a:lnTo>
                  <a:pt x="34946" y="168574"/>
                </a:lnTo>
                <a:lnTo>
                  <a:pt x="46083" y="147961"/>
                </a:lnTo>
                <a:lnTo>
                  <a:pt x="56962" y="127211"/>
                </a:lnTo>
                <a:lnTo>
                  <a:pt x="67581" y="106326"/>
                </a:lnTo>
                <a:lnTo>
                  <a:pt x="77937" y="85310"/>
                </a:lnTo>
                <a:lnTo>
                  <a:pt x="88030" y="64166"/>
                </a:lnTo>
                <a:lnTo>
                  <a:pt x="97858" y="42897"/>
                </a:lnTo>
                <a:lnTo>
                  <a:pt x="107419" y="21508"/>
                </a:lnTo>
                <a:lnTo>
                  <a:pt x="116712" y="0"/>
                </a:lnTo>
                <a:close/>
              </a:path>
            </a:pathLst>
          </a:custGeom>
          <a:gradFill xmlns:a="http://schemas.openxmlformats.org/drawingml/2006/main">
            <a:gsLst>
              <a:gs pos="0">
                <a:srgbClr val="8DBFA5"/>
              </a:gs>
              <a:gs pos="100000">
                <a:srgbClr val="4F9C74"/>
              </a:gs>
            </a:gsLst>
            <a:lin ang="1616999"/>
          </a:gradFill>
          <a:ln xmlns:a="http://schemas.openxmlformats.org/drawingml/2006/main" w="0">
            <a:noFill/>
          </a:ln>
        </p:spPr>
      </p:sp>
      <p:sp>
        <p:nvSpPr>
          <p:cNvPr id="111" name="RSGF-reuse-end">
            <a:extLst xmlns:a="http://schemas.openxmlformats.org/drawingml/2006/main">
              <a:ext uri="{FF2B5EF4-FFF2-40B4-BE49-F238E27FC236}">
                <a16:creationId xmlns:a16="http://schemas.microsoft.com/office/drawing/2014/main" id="{D6615A92-B42A-4F19-AA6C-347F1BF45F65}"/>
              </a:ext>
            </a:extLst>
          </p:cNvPr>
          <p:cNvSpPr>
            <a:spLocks xmlns:a="http://schemas.openxmlformats.org/drawingml/2006/main" noGrp="1"/>
          </p:cNvSpPr>
          <p:nvPr/>
        </p:nvSpPr>
        <p:spPr>
          <a:xfrm xmlns:a="http://schemas.openxmlformats.org/drawingml/2006/main">
            <a:off x="7704118" y="6971377"/>
            <a:ext cx="138630" cy="241780"/>
          </a:xfrm>
          <a:custGeom xmlns:a="http://schemas.openxmlformats.org/drawingml/2006/main">
            <a:pathLst>
              <a:path w="138630" h="241780">
                <a:moveTo>
                  <a:pt x="138630" y="9308"/>
                </a:moveTo>
                <a:lnTo>
                  <a:pt x="129219" y="31089"/>
                </a:lnTo>
                <a:lnTo>
                  <a:pt x="119536" y="52750"/>
                </a:lnTo>
                <a:lnTo>
                  <a:pt x="109584" y="74289"/>
                </a:lnTo>
                <a:lnTo>
                  <a:pt x="99362" y="95702"/>
                </a:lnTo>
                <a:lnTo>
                  <a:pt x="88874" y="116985"/>
                </a:lnTo>
                <a:lnTo>
                  <a:pt x="78121" y="138135"/>
                </a:lnTo>
                <a:lnTo>
                  <a:pt x="67104" y="159150"/>
                </a:lnTo>
                <a:lnTo>
                  <a:pt x="55825" y="180025"/>
                </a:lnTo>
                <a:lnTo>
                  <a:pt x="44286" y="200757"/>
                </a:lnTo>
                <a:lnTo>
                  <a:pt x="32489" y="221343"/>
                </a:lnTo>
                <a:lnTo>
                  <a:pt x="20435" y="241780"/>
                </a:lnTo>
                <a:lnTo>
                  <a:pt x="0" y="229555"/>
                </a:lnTo>
                <a:lnTo>
                  <a:pt x="11903" y="209375"/>
                </a:lnTo>
                <a:lnTo>
                  <a:pt x="23552" y="189046"/>
                </a:lnTo>
                <a:lnTo>
                  <a:pt x="34946" y="168574"/>
                </a:lnTo>
                <a:lnTo>
                  <a:pt x="46083" y="147961"/>
                </a:lnTo>
                <a:lnTo>
                  <a:pt x="56962" y="127211"/>
                </a:lnTo>
                <a:lnTo>
                  <a:pt x="67581" y="106326"/>
                </a:lnTo>
                <a:lnTo>
                  <a:pt x="77937" y="85310"/>
                </a:lnTo>
                <a:lnTo>
                  <a:pt x="88030" y="64166"/>
                </a:lnTo>
                <a:lnTo>
                  <a:pt x="97858" y="42897"/>
                </a:lnTo>
                <a:lnTo>
                  <a:pt x="107419" y="21508"/>
                </a:lnTo>
                <a:lnTo>
                  <a:pt x="116712" y="0"/>
                </a:lnTo>
                <a:close/>
              </a:path>
            </a:pathLst>
          </a:custGeom>
          <a:solidFill xmlns:a="http://schemas.openxmlformats.org/drawingml/2006/main">
            <a:srgbClr val="398F62"/>
          </a:solidFill>
          <a:ln xmlns:a="http://schemas.openxmlformats.org/drawingml/2006/main" w="0">
            <a:noFill/>
          </a:ln>
        </p:spPr>
      </p:sp>
      <p:sp>
        <p:nvSpPr>
          <p:cNvPr id="112" name="RSGF-inbar-tick-5000">
            <a:extLst xmlns:a="http://schemas.openxmlformats.org/drawingml/2006/main">
              <a:ext uri="{FF2B5EF4-FFF2-40B4-BE49-F238E27FC236}">
                <a16:creationId xmlns:a16="http://schemas.microsoft.com/office/drawing/2014/main" id="{7C3FA2A6-3664-4635-88AC-358471464D62}"/>
              </a:ext>
            </a:extLst>
          </p:cNvPr>
          <p:cNvSpPr>
            <a:spLocks xmlns:a="http://schemas.openxmlformats.org/drawingml/2006/main" noGrp="1"/>
          </p:cNvSpPr>
          <p:nvPr/>
        </p:nvSpPr>
        <p:spPr>
          <a:xfrm xmlns:a="http://schemas.openxmlformats.org/drawingml/2006/main">
            <a:off x="8967907" y="7547037"/>
            <a:ext cx="219831" cy="416316"/>
          </a:xfrm>
          <a:custGeom xmlns:a="http://schemas.openxmlformats.org/drawingml/2006/main">
            <a:pathLst>
              <a:path w="219831" h="416316">
                <a:moveTo>
                  <a:pt x="219831" y="4840"/>
                </a:moveTo>
                <a:lnTo>
                  <a:pt x="203174" y="43392"/>
                </a:lnTo>
                <a:lnTo>
                  <a:pt x="186035" y="81733"/>
                </a:lnTo>
                <a:lnTo>
                  <a:pt x="168419" y="119857"/>
                </a:lnTo>
                <a:lnTo>
                  <a:pt x="150328" y="157757"/>
                </a:lnTo>
                <a:lnTo>
                  <a:pt x="131764" y="195428"/>
                </a:lnTo>
                <a:lnTo>
                  <a:pt x="112730" y="232864"/>
                </a:lnTo>
                <a:lnTo>
                  <a:pt x="93230" y="270059"/>
                </a:lnTo>
                <a:lnTo>
                  <a:pt x="73266" y="307008"/>
                </a:lnTo>
                <a:lnTo>
                  <a:pt x="52842" y="343704"/>
                </a:lnTo>
                <a:lnTo>
                  <a:pt x="31961" y="380142"/>
                </a:lnTo>
                <a:lnTo>
                  <a:pt x="10626" y="416316"/>
                </a:lnTo>
                <a:lnTo>
                  <a:pt x="0" y="409959"/>
                </a:lnTo>
                <a:lnTo>
                  <a:pt x="21256" y="373918"/>
                </a:lnTo>
                <a:lnTo>
                  <a:pt x="42061" y="337615"/>
                </a:lnTo>
                <a:lnTo>
                  <a:pt x="62409" y="301054"/>
                </a:lnTo>
                <a:lnTo>
                  <a:pt x="82299" y="264242"/>
                </a:lnTo>
                <a:lnTo>
                  <a:pt x="101728" y="227183"/>
                </a:lnTo>
                <a:lnTo>
                  <a:pt x="120691" y="189885"/>
                </a:lnTo>
                <a:lnTo>
                  <a:pt x="139186" y="152353"/>
                </a:lnTo>
                <a:lnTo>
                  <a:pt x="157211" y="114592"/>
                </a:lnTo>
                <a:lnTo>
                  <a:pt x="174763" y="76609"/>
                </a:lnTo>
                <a:lnTo>
                  <a:pt x="191838" y="38410"/>
                </a:lnTo>
                <a:lnTo>
                  <a:pt x="208434" y="0"/>
                </a:lnTo>
                <a:close/>
              </a:path>
            </a:pathLst>
          </a:custGeom>
          <a:solidFill xmlns:a="http://schemas.openxmlformats.org/drawingml/2006/main">
            <a:srgbClr val="BBD9C9"/>
          </a:solidFill>
          <a:ln xmlns:a="http://schemas.openxmlformats.org/drawingml/2006/main" w="0">
            <a:noFill/>
          </a:ln>
        </p:spPr>
      </p:sp>
      <p:sp>
        <p:nvSpPr>
          <p:cNvPr id="113" name="RSGF-baseline-gap">
            <a:extLst xmlns:a="http://schemas.openxmlformats.org/drawingml/2006/main">
              <a:ext uri="{FF2B5EF4-FFF2-40B4-BE49-F238E27FC236}">
                <a16:creationId xmlns:a16="http://schemas.microsoft.com/office/drawing/2014/main" id="{0088359E-97D8-4534-B6E0-1A479BBFBA7B}"/>
              </a:ext>
            </a:extLst>
          </p:cNvPr>
          <p:cNvSpPr>
            <a:spLocks xmlns:a="http://schemas.openxmlformats.org/drawingml/2006/main" noGrp="1"/>
          </p:cNvSpPr>
          <p:nvPr/>
        </p:nvSpPr>
        <p:spPr>
          <a:xfrm xmlns:a="http://schemas.openxmlformats.org/drawingml/2006/main">
            <a:off x="8353803" y="7260992"/>
            <a:ext cx="228722" cy="370818"/>
          </a:xfrm>
          <a:custGeom xmlns:a="http://schemas.openxmlformats.org/drawingml/2006/main">
            <a:pathLst>
              <a:path w="228722" h="370818">
                <a:moveTo>
                  <a:pt x="228722" y="23633"/>
                </a:moveTo>
                <a:lnTo>
                  <a:pt x="215948" y="53501"/>
                </a:lnTo>
                <a:lnTo>
                  <a:pt x="202816" y="83213"/>
                </a:lnTo>
                <a:lnTo>
                  <a:pt x="189326" y="112765"/>
                </a:lnTo>
                <a:lnTo>
                  <a:pt x="175482" y="142152"/>
                </a:lnTo>
                <a:lnTo>
                  <a:pt x="161285" y="171370"/>
                </a:lnTo>
                <a:lnTo>
                  <a:pt x="146737" y="200416"/>
                </a:lnTo>
                <a:lnTo>
                  <a:pt x="131840" y="229284"/>
                </a:lnTo>
                <a:lnTo>
                  <a:pt x="116597" y="257970"/>
                </a:lnTo>
                <a:lnTo>
                  <a:pt x="101010" y="286471"/>
                </a:lnTo>
                <a:lnTo>
                  <a:pt x="85080" y="314782"/>
                </a:lnTo>
                <a:lnTo>
                  <a:pt x="68810" y="342899"/>
                </a:lnTo>
                <a:lnTo>
                  <a:pt x="52204" y="370818"/>
                </a:lnTo>
                <a:lnTo>
                  <a:pt x="0" y="339340"/>
                </a:lnTo>
                <a:lnTo>
                  <a:pt x="16232" y="312051"/>
                </a:lnTo>
                <a:lnTo>
                  <a:pt x="32133" y="284570"/>
                </a:lnTo>
                <a:lnTo>
                  <a:pt x="47703" y="256898"/>
                </a:lnTo>
                <a:lnTo>
                  <a:pt x="62938" y="229042"/>
                </a:lnTo>
                <a:lnTo>
                  <a:pt x="77837" y="201003"/>
                </a:lnTo>
                <a:lnTo>
                  <a:pt x="92397" y="172788"/>
                </a:lnTo>
                <a:lnTo>
                  <a:pt x="106616" y="144399"/>
                </a:lnTo>
                <a:lnTo>
                  <a:pt x="120493" y="115841"/>
                </a:lnTo>
                <a:lnTo>
                  <a:pt x="134024" y="87118"/>
                </a:lnTo>
                <a:lnTo>
                  <a:pt x="147209" y="58234"/>
                </a:lnTo>
                <a:lnTo>
                  <a:pt x="160044" y="29193"/>
                </a:lnTo>
                <a:lnTo>
                  <a:pt x="172529" y="0"/>
                </a:lnTo>
                <a:close/>
              </a:path>
            </a:pathLst>
          </a:custGeom>
          <a:solidFill xmlns:a="http://schemas.openxmlformats.org/drawingml/2006/main">
            <a:srgbClr val="FFFFFF"/>
          </a:solidFill>
          <a:ln xmlns:a="http://schemas.openxmlformats.org/drawingml/2006/main" w="0">
            <a:noFill/>
          </a:ln>
        </p:spPr>
      </p:sp>
      <p:sp>
        <p:nvSpPr>
          <p:cNvPr id="114" name="RSGF-label">
            <a:extLst xmlns:a="http://schemas.openxmlformats.org/drawingml/2006/main">
              <a:ext uri="{FF2B5EF4-FFF2-40B4-BE49-F238E27FC236}">
                <a16:creationId xmlns:a16="http://schemas.microsoft.com/office/drawing/2014/main" id="{F1729140-884D-4687-AA50-E7A3F1766293}"/>
              </a:ext>
            </a:extLst>
          </p:cNvPr>
          <p:cNvSpPr>
            <a:spLocks xmlns:a="http://schemas.openxmlformats.org/drawingml/2006/main" noGrp="1"/>
          </p:cNvSpPr>
          <p:nvPr/>
        </p:nvSpPr>
        <p:spPr>
          <a:xfrm xmlns:a="http://schemas.openxmlformats.org/drawingml/2006/main" rot="1617000">
            <a:off x="9268954" y="7877149"/>
            <a:ext cx="92288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RSGF</a:t>
            </a:r>
          </a:p>
        </p:txBody>
      </p:sp>
      <p:sp>
        <p:nvSpPr>
          <p:cNvPr id="115" name="StochasticZerothOrder-algorithm-11470">
            <a:extLst xmlns:a="http://schemas.openxmlformats.org/drawingml/2006/main">
              <a:ext uri="{FF2B5EF4-FFF2-40B4-BE49-F238E27FC236}">
                <a16:creationId xmlns:a16="http://schemas.microsoft.com/office/drawing/2014/main" id="{DACB8B2A-0093-42CC-9C10-7CE222A04A83}"/>
              </a:ext>
            </a:extLst>
          </p:cNvPr>
          <p:cNvSpPr>
            <a:spLocks xmlns:a="http://schemas.openxmlformats.org/drawingml/2006/main" noGrp="1"/>
          </p:cNvSpPr>
          <p:nvPr/>
        </p:nvSpPr>
        <p:spPr>
          <a:xfrm xmlns:a="http://schemas.openxmlformats.org/drawingml/2006/main">
            <a:off x="8133344" y="7664386"/>
            <a:ext cx="1094605" cy="965874"/>
          </a:xfrm>
          <a:custGeom xmlns:a="http://schemas.openxmlformats.org/drawingml/2006/main">
            <a:pathLst>
              <a:path w="1094605" h="965874">
                <a:moveTo>
                  <a:pt x="1094605" y="555190"/>
                </a:moveTo>
                <a:lnTo>
                  <a:pt x="1069596" y="594193"/>
                </a:lnTo>
                <a:lnTo>
                  <a:pt x="1044102" y="632880"/>
                </a:lnTo>
                <a:lnTo>
                  <a:pt x="1018126" y="671245"/>
                </a:lnTo>
                <a:lnTo>
                  <a:pt x="991672" y="709282"/>
                </a:lnTo>
                <a:lnTo>
                  <a:pt x="964745" y="746986"/>
                </a:lnTo>
                <a:lnTo>
                  <a:pt x="937349" y="784350"/>
                </a:lnTo>
                <a:lnTo>
                  <a:pt x="909487" y="821369"/>
                </a:lnTo>
                <a:lnTo>
                  <a:pt x="881165" y="858036"/>
                </a:lnTo>
                <a:lnTo>
                  <a:pt x="852387" y="894346"/>
                </a:lnTo>
                <a:lnTo>
                  <a:pt x="823157" y="930294"/>
                </a:lnTo>
                <a:lnTo>
                  <a:pt x="793479" y="965874"/>
                </a:lnTo>
                <a:lnTo>
                  <a:pt x="0" y="295569"/>
                </a:lnTo>
                <a:lnTo>
                  <a:pt x="21359" y="269962"/>
                </a:lnTo>
                <a:lnTo>
                  <a:pt x="42396" y="244091"/>
                </a:lnTo>
                <a:lnTo>
                  <a:pt x="63107" y="217958"/>
                </a:lnTo>
                <a:lnTo>
                  <a:pt x="83491" y="191569"/>
                </a:lnTo>
                <a:lnTo>
                  <a:pt x="103543" y="164926"/>
                </a:lnTo>
                <a:lnTo>
                  <a:pt x="123260" y="138035"/>
                </a:lnTo>
                <a:lnTo>
                  <a:pt x="142639" y="110900"/>
                </a:lnTo>
                <a:lnTo>
                  <a:pt x="161678" y="83525"/>
                </a:lnTo>
                <a:lnTo>
                  <a:pt x="180373" y="55913"/>
                </a:lnTo>
                <a:lnTo>
                  <a:pt x="198721" y="28070"/>
                </a:lnTo>
                <a:lnTo>
                  <a:pt x="216720" y="0"/>
                </a:lnTo>
                <a:close/>
              </a:path>
            </a:pathLst>
          </a:custGeom>
          <a:gradFill xmlns:a="http://schemas.openxmlformats.org/drawingml/2006/main">
            <a:gsLst>
              <a:gs pos="0">
                <a:srgbClr val="20774E"/>
              </a:gs>
              <a:gs pos="50000">
                <a:srgbClr val="238351"/>
              </a:gs>
              <a:gs pos="100000">
                <a:srgbClr val="409368"/>
              </a:gs>
            </a:gsLst>
            <a:lin ang="2175000"/>
          </a:gradFill>
          <a:ln xmlns:a="http://schemas.openxmlformats.org/drawingml/2006/main" w="0">
            <a:noFill/>
          </a:ln>
        </p:spPr>
      </p:sp>
      <p:sp>
        <p:nvSpPr>
          <p:cNvPr id="116" name="StochasticZerothOrder-algorithm-end">
            <a:extLst xmlns:a="http://schemas.openxmlformats.org/drawingml/2006/main">
              <a:ext uri="{FF2B5EF4-FFF2-40B4-BE49-F238E27FC236}">
                <a16:creationId xmlns:a16="http://schemas.microsoft.com/office/drawing/2014/main" id="{F97779FB-4C8D-4C01-8840-3175C99FF544}"/>
              </a:ext>
            </a:extLst>
          </p:cNvPr>
          <p:cNvSpPr>
            <a:spLocks xmlns:a="http://schemas.openxmlformats.org/drawingml/2006/main" noGrp="1"/>
          </p:cNvSpPr>
          <p:nvPr/>
        </p:nvSpPr>
        <p:spPr>
          <a:xfrm xmlns:a="http://schemas.openxmlformats.org/drawingml/2006/main">
            <a:off x="8907906" y="8206339"/>
            <a:ext cx="320044" cy="423920"/>
          </a:xfrm>
          <a:custGeom xmlns:a="http://schemas.openxmlformats.org/drawingml/2006/main">
            <a:pathLst>
              <a:path w="320044" h="423920">
                <a:moveTo>
                  <a:pt x="320044" y="13237"/>
                </a:moveTo>
                <a:lnTo>
                  <a:pt x="295035" y="52240"/>
                </a:lnTo>
                <a:lnTo>
                  <a:pt x="269541" y="90926"/>
                </a:lnTo>
                <a:lnTo>
                  <a:pt x="243565" y="129292"/>
                </a:lnTo>
                <a:lnTo>
                  <a:pt x="217111" y="167329"/>
                </a:lnTo>
                <a:lnTo>
                  <a:pt x="190184" y="205033"/>
                </a:lnTo>
                <a:lnTo>
                  <a:pt x="162787" y="242397"/>
                </a:lnTo>
                <a:lnTo>
                  <a:pt x="134926" y="279415"/>
                </a:lnTo>
                <a:lnTo>
                  <a:pt x="106604" y="316083"/>
                </a:lnTo>
                <a:lnTo>
                  <a:pt x="77825" y="352393"/>
                </a:lnTo>
                <a:lnTo>
                  <a:pt x="48595" y="388341"/>
                </a:lnTo>
                <a:lnTo>
                  <a:pt x="18918" y="423920"/>
                </a:lnTo>
                <a:lnTo>
                  <a:pt x="0" y="407939"/>
                </a:lnTo>
                <a:lnTo>
                  <a:pt x="29479" y="372597"/>
                </a:lnTo>
                <a:lnTo>
                  <a:pt x="58514" y="336890"/>
                </a:lnTo>
                <a:lnTo>
                  <a:pt x="87100" y="300822"/>
                </a:lnTo>
                <a:lnTo>
                  <a:pt x="115232" y="264400"/>
                </a:lnTo>
                <a:lnTo>
                  <a:pt x="142908" y="227628"/>
                </a:lnTo>
                <a:lnTo>
                  <a:pt x="170121" y="190514"/>
                </a:lnTo>
                <a:lnTo>
                  <a:pt x="196868" y="153062"/>
                </a:lnTo>
                <a:lnTo>
                  <a:pt x="223145" y="115279"/>
                </a:lnTo>
                <a:lnTo>
                  <a:pt x="248948" y="77170"/>
                </a:lnTo>
                <a:lnTo>
                  <a:pt x="274272" y="38742"/>
                </a:lnTo>
                <a:lnTo>
                  <a:pt x="299113" y="0"/>
                </a:lnTo>
                <a:close/>
              </a:path>
            </a:pathLst>
          </a:custGeom>
          <a:solidFill xmlns:a="http://schemas.openxmlformats.org/drawingml/2006/main">
            <a:srgbClr val="20774D"/>
          </a:solidFill>
          <a:ln xmlns:a="http://schemas.openxmlformats.org/drawingml/2006/main" w="0">
            <a:noFill/>
          </a:ln>
        </p:spPr>
      </p:sp>
      <p:sp>
        <p:nvSpPr>
          <p:cNvPr id="117" name="StochasticZerothOrder-reuse-5299">
            <a:extLst xmlns:a="http://schemas.openxmlformats.org/drawingml/2006/main">
              <a:ext uri="{FF2B5EF4-FFF2-40B4-BE49-F238E27FC236}">
                <a16:creationId xmlns:a16="http://schemas.microsoft.com/office/drawing/2014/main" id="{C73A8DE1-5CE2-4322-BC35-8C304958A86E}"/>
              </a:ext>
            </a:extLst>
          </p:cNvPr>
          <p:cNvSpPr>
            <a:spLocks xmlns:a="http://schemas.openxmlformats.org/drawingml/2006/main" noGrp="1"/>
          </p:cNvSpPr>
          <p:nvPr/>
        </p:nvSpPr>
        <p:spPr>
          <a:xfrm xmlns:a="http://schemas.openxmlformats.org/drawingml/2006/main">
            <a:off x="7513120" y="7230421"/>
            <a:ext cx="836944" cy="729534"/>
          </a:xfrm>
          <a:custGeom xmlns:a="http://schemas.openxmlformats.org/drawingml/2006/main">
            <a:pathLst>
              <a:path w="836944" h="729534">
                <a:moveTo>
                  <a:pt x="836944" y="433965"/>
                </a:moveTo>
                <a:lnTo>
                  <a:pt x="818946" y="462035"/>
                </a:lnTo>
                <a:lnTo>
                  <a:pt x="800597" y="489878"/>
                </a:lnTo>
                <a:lnTo>
                  <a:pt x="781902" y="517490"/>
                </a:lnTo>
                <a:lnTo>
                  <a:pt x="762864" y="544865"/>
                </a:lnTo>
                <a:lnTo>
                  <a:pt x="743484" y="572001"/>
                </a:lnTo>
                <a:lnTo>
                  <a:pt x="723767" y="598892"/>
                </a:lnTo>
                <a:lnTo>
                  <a:pt x="703715" y="625534"/>
                </a:lnTo>
                <a:lnTo>
                  <a:pt x="683332" y="651923"/>
                </a:lnTo>
                <a:lnTo>
                  <a:pt x="662620" y="678056"/>
                </a:lnTo>
                <a:lnTo>
                  <a:pt x="641583" y="703928"/>
                </a:lnTo>
                <a:lnTo>
                  <a:pt x="620224" y="729534"/>
                </a:lnTo>
                <a:lnTo>
                  <a:pt x="0" y="205590"/>
                </a:lnTo>
                <a:lnTo>
                  <a:pt x="14857" y="187778"/>
                </a:lnTo>
                <a:lnTo>
                  <a:pt x="29489" y="169783"/>
                </a:lnTo>
                <a:lnTo>
                  <a:pt x="43896" y="151606"/>
                </a:lnTo>
                <a:lnTo>
                  <a:pt x="58074" y="133250"/>
                </a:lnTo>
                <a:lnTo>
                  <a:pt x="72021" y="114718"/>
                </a:lnTo>
                <a:lnTo>
                  <a:pt x="85736" y="96014"/>
                </a:lnTo>
                <a:lnTo>
                  <a:pt x="99216" y="77139"/>
                </a:lnTo>
                <a:lnTo>
                  <a:pt x="112459" y="58097"/>
                </a:lnTo>
                <a:lnTo>
                  <a:pt x="125463" y="38892"/>
                </a:lnTo>
                <a:lnTo>
                  <a:pt x="138225" y="19525"/>
                </a:lnTo>
                <a:lnTo>
                  <a:pt x="150744" y="0"/>
                </a:lnTo>
                <a:close/>
              </a:path>
            </a:pathLst>
          </a:custGeom>
          <a:gradFill xmlns:a="http://schemas.openxmlformats.org/drawingml/2006/main">
            <a:gsLst>
              <a:gs pos="0">
                <a:srgbClr val="8DBFA5"/>
              </a:gs>
              <a:gs pos="100000">
                <a:srgbClr val="4F9C74"/>
              </a:gs>
            </a:gsLst>
            <a:lin ang="2175000"/>
          </a:gradFill>
          <a:ln xmlns:a="http://schemas.openxmlformats.org/drawingml/2006/main" w="0">
            <a:noFill/>
          </a:ln>
        </p:spPr>
      </p:sp>
      <p:sp>
        <p:nvSpPr>
          <p:cNvPr id="118" name="StochasticZerothOrder-reuse-end">
            <a:extLst xmlns:a="http://schemas.openxmlformats.org/drawingml/2006/main">
              <a:ext uri="{FF2B5EF4-FFF2-40B4-BE49-F238E27FC236}">
                <a16:creationId xmlns:a16="http://schemas.microsoft.com/office/drawing/2014/main" id="{476AA8AB-0547-40C4-AFD9-8AB17AC7A2EE}"/>
              </a:ext>
            </a:extLst>
          </p:cNvPr>
          <p:cNvSpPr>
            <a:spLocks xmlns:a="http://schemas.openxmlformats.org/drawingml/2006/main" noGrp="1"/>
          </p:cNvSpPr>
          <p:nvPr/>
        </p:nvSpPr>
        <p:spPr>
          <a:xfrm xmlns:a="http://schemas.openxmlformats.org/drawingml/2006/main">
            <a:off x="7513120" y="7230421"/>
            <a:ext cx="170870" cy="220956"/>
          </a:xfrm>
          <a:custGeom xmlns:a="http://schemas.openxmlformats.org/drawingml/2006/main">
            <a:pathLst>
              <a:path w="170870" h="220956">
                <a:moveTo>
                  <a:pt x="170870" y="12728"/>
                </a:moveTo>
                <a:lnTo>
                  <a:pt x="158190" y="32503"/>
                </a:lnTo>
                <a:lnTo>
                  <a:pt x="145264" y="52119"/>
                </a:lnTo>
                <a:lnTo>
                  <a:pt x="132093" y="71571"/>
                </a:lnTo>
                <a:lnTo>
                  <a:pt x="118680" y="90857"/>
                </a:lnTo>
                <a:lnTo>
                  <a:pt x="105027" y="109974"/>
                </a:lnTo>
                <a:lnTo>
                  <a:pt x="91136" y="128919"/>
                </a:lnTo>
                <a:lnTo>
                  <a:pt x="77010" y="147688"/>
                </a:lnTo>
                <a:lnTo>
                  <a:pt x="62650" y="166279"/>
                </a:lnTo>
                <a:lnTo>
                  <a:pt x="48058" y="184690"/>
                </a:lnTo>
                <a:lnTo>
                  <a:pt x="33238" y="202916"/>
                </a:lnTo>
                <a:lnTo>
                  <a:pt x="18191" y="220956"/>
                </a:lnTo>
                <a:lnTo>
                  <a:pt x="0" y="205590"/>
                </a:lnTo>
                <a:lnTo>
                  <a:pt x="14857" y="187778"/>
                </a:lnTo>
                <a:lnTo>
                  <a:pt x="29489" y="169783"/>
                </a:lnTo>
                <a:lnTo>
                  <a:pt x="43896" y="151606"/>
                </a:lnTo>
                <a:lnTo>
                  <a:pt x="58074" y="133250"/>
                </a:lnTo>
                <a:lnTo>
                  <a:pt x="72021" y="114718"/>
                </a:lnTo>
                <a:lnTo>
                  <a:pt x="85736" y="96014"/>
                </a:lnTo>
                <a:lnTo>
                  <a:pt x="99216" y="77139"/>
                </a:lnTo>
                <a:lnTo>
                  <a:pt x="112459" y="58097"/>
                </a:lnTo>
                <a:lnTo>
                  <a:pt x="125463" y="38892"/>
                </a:lnTo>
                <a:lnTo>
                  <a:pt x="138225" y="19525"/>
                </a:lnTo>
                <a:lnTo>
                  <a:pt x="150744" y="0"/>
                </a:lnTo>
                <a:close/>
              </a:path>
            </a:pathLst>
          </a:custGeom>
          <a:solidFill xmlns:a="http://schemas.openxmlformats.org/drawingml/2006/main">
            <a:srgbClr val="398F62"/>
          </a:solidFill>
          <a:ln xmlns:a="http://schemas.openxmlformats.org/drawingml/2006/main" w="0">
            <a:noFill/>
          </a:ln>
        </p:spPr>
      </p:sp>
      <p:sp>
        <p:nvSpPr>
          <p:cNvPr id="119" name="StochasticZerothOrder-inbar-tick-5000">
            <a:extLst xmlns:a="http://schemas.openxmlformats.org/drawingml/2006/main">
              <a:ext uri="{FF2B5EF4-FFF2-40B4-BE49-F238E27FC236}">
                <a16:creationId xmlns:a16="http://schemas.microsoft.com/office/drawing/2014/main" id="{B0FD48F8-0950-4252-B619-9DA34493E19E}"/>
              </a:ext>
            </a:extLst>
          </p:cNvPr>
          <p:cNvSpPr>
            <a:spLocks xmlns:a="http://schemas.openxmlformats.org/drawingml/2006/main" noGrp="1"/>
          </p:cNvSpPr>
          <p:nvPr/>
        </p:nvSpPr>
        <p:spPr>
          <a:xfrm xmlns:a="http://schemas.openxmlformats.org/drawingml/2006/main">
            <a:off x="8652503" y="8027637"/>
            <a:ext cx="282410" cy="378877"/>
          </a:xfrm>
          <a:custGeom xmlns:a="http://schemas.openxmlformats.org/drawingml/2006/main">
            <a:pathLst>
              <a:path w="282410" h="378877">
                <a:moveTo>
                  <a:pt x="282410" y="6618"/>
                </a:moveTo>
                <a:lnTo>
                  <a:pt x="259742" y="41972"/>
                </a:lnTo>
                <a:lnTo>
                  <a:pt x="236633" y="77039"/>
                </a:lnTo>
                <a:lnTo>
                  <a:pt x="213087" y="111815"/>
                </a:lnTo>
                <a:lnTo>
                  <a:pt x="189108" y="146293"/>
                </a:lnTo>
                <a:lnTo>
                  <a:pt x="164701" y="180469"/>
                </a:lnTo>
                <a:lnTo>
                  <a:pt x="139867" y="214337"/>
                </a:lnTo>
                <a:lnTo>
                  <a:pt x="114613" y="247892"/>
                </a:lnTo>
                <a:lnTo>
                  <a:pt x="88941" y="281129"/>
                </a:lnTo>
                <a:lnTo>
                  <a:pt x="62855" y="314042"/>
                </a:lnTo>
                <a:lnTo>
                  <a:pt x="36360" y="346626"/>
                </a:lnTo>
                <a:lnTo>
                  <a:pt x="9459" y="378877"/>
                </a:lnTo>
                <a:lnTo>
                  <a:pt x="0" y="370886"/>
                </a:lnTo>
                <a:lnTo>
                  <a:pt x="26801" y="338755"/>
                </a:lnTo>
                <a:lnTo>
                  <a:pt x="53199" y="306290"/>
                </a:lnTo>
                <a:lnTo>
                  <a:pt x="79188" y="273499"/>
                </a:lnTo>
                <a:lnTo>
                  <a:pt x="104766" y="240384"/>
                </a:lnTo>
                <a:lnTo>
                  <a:pt x="129928" y="206953"/>
                </a:lnTo>
                <a:lnTo>
                  <a:pt x="154669" y="173210"/>
                </a:lnTo>
                <a:lnTo>
                  <a:pt x="178987" y="139160"/>
                </a:lnTo>
                <a:lnTo>
                  <a:pt x="202877" y="104808"/>
                </a:lnTo>
                <a:lnTo>
                  <a:pt x="226336" y="70161"/>
                </a:lnTo>
                <a:lnTo>
                  <a:pt x="249360" y="35223"/>
                </a:lnTo>
                <a:lnTo>
                  <a:pt x="271945" y="0"/>
                </a:lnTo>
                <a:close/>
              </a:path>
            </a:pathLst>
          </a:custGeom>
          <a:solidFill xmlns:a="http://schemas.openxmlformats.org/drawingml/2006/main">
            <a:srgbClr val="BBD9C9"/>
          </a:solidFill>
          <a:ln xmlns:a="http://schemas.openxmlformats.org/drawingml/2006/main" w="0">
            <a:noFill/>
          </a:ln>
        </p:spPr>
      </p:sp>
      <p:sp>
        <p:nvSpPr>
          <p:cNvPr id="120" name="StochasticZerothOrder-baseline-gap">
            <a:extLst xmlns:a="http://schemas.openxmlformats.org/drawingml/2006/main">
              <a:ext uri="{FF2B5EF4-FFF2-40B4-BE49-F238E27FC236}">
                <a16:creationId xmlns:a16="http://schemas.microsoft.com/office/drawing/2014/main" id="{F0498196-3A8F-427F-969C-D10A4E250CB7}"/>
              </a:ext>
            </a:extLst>
          </p:cNvPr>
          <p:cNvSpPr>
            <a:spLocks xmlns:a="http://schemas.openxmlformats.org/drawingml/2006/main" noGrp="1"/>
          </p:cNvSpPr>
          <p:nvPr/>
        </p:nvSpPr>
        <p:spPr>
          <a:xfrm xmlns:a="http://schemas.openxmlformats.org/drawingml/2006/main">
            <a:off x="8104109" y="7640308"/>
            <a:ext cx="276735" cy="346499"/>
          </a:xfrm>
          <a:custGeom xmlns:a="http://schemas.openxmlformats.org/drawingml/2006/main">
            <a:pathLst>
              <a:path w="276735" h="346499">
                <a:moveTo>
                  <a:pt x="276735" y="32403"/>
                </a:moveTo>
                <a:lnTo>
                  <a:pt x="259302" y="59814"/>
                </a:lnTo>
                <a:lnTo>
                  <a:pt x="241541" y="87014"/>
                </a:lnTo>
                <a:lnTo>
                  <a:pt x="223453" y="113997"/>
                </a:lnTo>
                <a:lnTo>
                  <a:pt x="205042" y="140761"/>
                </a:lnTo>
                <a:lnTo>
                  <a:pt x="186310" y="167301"/>
                </a:lnTo>
                <a:lnTo>
                  <a:pt x="167259" y="193613"/>
                </a:lnTo>
                <a:lnTo>
                  <a:pt x="147893" y="219694"/>
                </a:lnTo>
                <a:lnTo>
                  <a:pt x="128214" y="245540"/>
                </a:lnTo>
                <a:lnTo>
                  <a:pt x="108226" y="271148"/>
                </a:lnTo>
                <a:lnTo>
                  <a:pt x="87930" y="296512"/>
                </a:lnTo>
                <a:lnTo>
                  <a:pt x="67331" y="321631"/>
                </a:lnTo>
                <a:lnTo>
                  <a:pt x="46430" y="346499"/>
                </a:lnTo>
                <a:lnTo>
                  <a:pt x="0" y="306998"/>
                </a:lnTo>
                <a:lnTo>
                  <a:pt x="20428" y="282691"/>
                </a:lnTo>
                <a:lnTo>
                  <a:pt x="40562" y="258141"/>
                </a:lnTo>
                <a:lnTo>
                  <a:pt x="60399" y="233349"/>
                </a:lnTo>
                <a:lnTo>
                  <a:pt x="79936" y="208321"/>
                </a:lnTo>
                <a:lnTo>
                  <a:pt x="99170" y="183059"/>
                </a:lnTo>
                <a:lnTo>
                  <a:pt x="118098" y="157567"/>
                </a:lnTo>
                <a:lnTo>
                  <a:pt x="136718" y="131849"/>
                </a:lnTo>
                <a:lnTo>
                  <a:pt x="155027" y="105909"/>
                </a:lnTo>
                <a:lnTo>
                  <a:pt x="173022" y="79750"/>
                </a:lnTo>
                <a:lnTo>
                  <a:pt x="190701" y="53376"/>
                </a:lnTo>
                <a:lnTo>
                  <a:pt x="208061" y="26792"/>
                </a:lnTo>
                <a:lnTo>
                  <a:pt x="225100" y="0"/>
                </a:lnTo>
                <a:close/>
              </a:path>
            </a:pathLst>
          </a:custGeom>
          <a:solidFill xmlns:a="http://schemas.openxmlformats.org/drawingml/2006/main">
            <a:srgbClr val="FFFFFF"/>
          </a:solidFill>
          <a:ln xmlns:a="http://schemas.openxmlformats.org/drawingml/2006/main" w="0">
            <a:noFill/>
          </a:ln>
        </p:spPr>
      </p:sp>
      <p:sp>
        <p:nvSpPr>
          <p:cNvPr id="121" name="StochasticZerothOrder-label">
            <a:extLst xmlns:a="http://schemas.openxmlformats.org/drawingml/2006/main">
              <a:ext uri="{FF2B5EF4-FFF2-40B4-BE49-F238E27FC236}">
                <a16:creationId xmlns:a16="http://schemas.microsoft.com/office/drawing/2014/main" id="{8E0AA4B2-2657-4102-972F-BF78D980B0B3}"/>
              </a:ext>
            </a:extLst>
          </p:cNvPr>
          <p:cNvSpPr>
            <a:spLocks xmlns:a="http://schemas.openxmlformats.org/drawingml/2006/main" noGrp="1"/>
          </p:cNvSpPr>
          <p:nvPr/>
        </p:nvSpPr>
        <p:spPr>
          <a:xfrm xmlns:a="http://schemas.openxmlformats.org/drawingml/2006/main" rot="2175000">
            <a:off x="9061083" y="8641116"/>
            <a:ext cx="1193899"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2-RSGF</a:t>
            </a:r>
          </a:p>
        </p:txBody>
      </p:sp>
      <p:sp>
        <p:nvSpPr>
          <p:cNvPr id="122" name="NonconvexStochasticAcceleratedGD-algorithm-5909">
            <a:extLst xmlns:a="http://schemas.openxmlformats.org/drawingml/2006/main">
              <a:ext uri="{FF2B5EF4-FFF2-40B4-BE49-F238E27FC236}">
                <a16:creationId xmlns:a16="http://schemas.microsoft.com/office/drawing/2014/main" id="{7FAF8A73-B96B-4E37-93D4-180B0377EB5A}"/>
              </a:ext>
            </a:extLst>
          </p:cNvPr>
          <p:cNvSpPr>
            <a:spLocks xmlns:a="http://schemas.openxmlformats.org/drawingml/2006/main" noGrp="1"/>
          </p:cNvSpPr>
          <p:nvPr/>
        </p:nvSpPr>
        <p:spPr>
          <a:xfrm xmlns:a="http://schemas.openxmlformats.org/drawingml/2006/main">
            <a:off x="7828432" y="8009914"/>
            <a:ext cx="819062" cy="823488"/>
          </a:xfrm>
          <a:custGeom xmlns:a="http://schemas.openxmlformats.org/drawingml/2006/main">
            <a:pathLst>
              <a:path w="819062" h="823488">
                <a:moveTo>
                  <a:pt x="819062" y="495079"/>
                </a:moveTo>
                <a:lnTo>
                  <a:pt x="790530" y="526802"/>
                </a:lnTo>
                <a:lnTo>
                  <a:pt x="761604" y="558166"/>
                </a:lnTo>
                <a:lnTo>
                  <a:pt x="732288" y="589166"/>
                </a:lnTo>
                <a:lnTo>
                  <a:pt x="702586" y="619797"/>
                </a:lnTo>
                <a:lnTo>
                  <a:pt x="672505" y="650054"/>
                </a:lnTo>
                <a:lnTo>
                  <a:pt x="642047" y="679933"/>
                </a:lnTo>
                <a:lnTo>
                  <a:pt x="611218" y="709428"/>
                </a:lnTo>
                <a:lnTo>
                  <a:pt x="580022" y="738536"/>
                </a:lnTo>
                <a:lnTo>
                  <a:pt x="548465" y="767252"/>
                </a:lnTo>
                <a:lnTo>
                  <a:pt x="516552" y="795570"/>
                </a:lnTo>
                <a:lnTo>
                  <a:pt x="484287" y="823488"/>
                </a:lnTo>
                <a:lnTo>
                  <a:pt x="0" y="256661"/>
                </a:lnTo>
                <a:lnTo>
                  <a:pt x="25216" y="234843"/>
                </a:lnTo>
                <a:lnTo>
                  <a:pt x="50157" y="212711"/>
                </a:lnTo>
                <a:lnTo>
                  <a:pt x="74820" y="190269"/>
                </a:lnTo>
                <a:lnTo>
                  <a:pt x="99200" y="167520"/>
                </a:lnTo>
                <a:lnTo>
                  <a:pt x="123294" y="144469"/>
                </a:lnTo>
                <a:lnTo>
                  <a:pt x="147098" y="121118"/>
                </a:lnTo>
                <a:lnTo>
                  <a:pt x="170608" y="97471"/>
                </a:lnTo>
                <a:lnTo>
                  <a:pt x="193820" y="73532"/>
                </a:lnTo>
                <a:lnTo>
                  <a:pt x="216732" y="49304"/>
                </a:lnTo>
                <a:lnTo>
                  <a:pt x="239338" y="24793"/>
                </a:lnTo>
                <a:lnTo>
                  <a:pt x="261637" y="0"/>
                </a:lnTo>
                <a:close/>
              </a:path>
            </a:pathLst>
          </a:custGeom>
          <a:gradFill xmlns:a="http://schemas.openxmlformats.org/drawingml/2006/main">
            <a:gsLst>
              <a:gs pos="0">
                <a:srgbClr val="20774E"/>
              </a:gs>
              <a:gs pos="50000">
                <a:srgbClr val="238351"/>
              </a:gs>
              <a:gs pos="100000">
                <a:srgbClr val="409368"/>
              </a:gs>
            </a:gsLst>
            <a:lin ang="2733000"/>
          </a:gradFill>
          <a:ln xmlns:a="http://schemas.openxmlformats.org/drawingml/2006/main" w="0">
            <a:noFill/>
          </a:ln>
        </p:spPr>
      </p:sp>
      <p:sp>
        <p:nvSpPr>
          <p:cNvPr id="123" name="NonconvexStochasticAcceleratedGD-algorithm-end">
            <a:extLst xmlns:a="http://schemas.openxmlformats.org/drawingml/2006/main">
              <a:ext uri="{FF2B5EF4-FFF2-40B4-BE49-F238E27FC236}">
                <a16:creationId xmlns:a16="http://schemas.microsoft.com/office/drawing/2014/main" id="{658DA85B-C586-4CCA-B53D-127A0D121B8D}"/>
              </a:ext>
            </a:extLst>
          </p:cNvPr>
          <p:cNvSpPr>
            <a:spLocks xmlns:a="http://schemas.openxmlformats.org/drawingml/2006/main" noGrp="1"/>
          </p:cNvSpPr>
          <p:nvPr/>
        </p:nvSpPr>
        <p:spPr>
          <a:xfrm xmlns:a="http://schemas.openxmlformats.org/drawingml/2006/main">
            <a:off x="8296632" y="8488548"/>
            <a:ext cx="350862" cy="344854"/>
          </a:xfrm>
          <a:custGeom xmlns:a="http://schemas.openxmlformats.org/drawingml/2006/main">
            <a:pathLst>
              <a:path w="350862" h="344854">
                <a:moveTo>
                  <a:pt x="350862" y="16445"/>
                </a:moveTo>
                <a:lnTo>
                  <a:pt x="322330" y="48168"/>
                </a:lnTo>
                <a:lnTo>
                  <a:pt x="293404" y="79532"/>
                </a:lnTo>
                <a:lnTo>
                  <a:pt x="264088" y="110532"/>
                </a:lnTo>
                <a:lnTo>
                  <a:pt x="234387" y="141163"/>
                </a:lnTo>
                <a:lnTo>
                  <a:pt x="204305" y="171420"/>
                </a:lnTo>
                <a:lnTo>
                  <a:pt x="173847" y="201299"/>
                </a:lnTo>
                <a:lnTo>
                  <a:pt x="143018" y="230794"/>
                </a:lnTo>
                <a:lnTo>
                  <a:pt x="111822" y="259902"/>
                </a:lnTo>
                <a:lnTo>
                  <a:pt x="80265" y="288618"/>
                </a:lnTo>
                <a:lnTo>
                  <a:pt x="48352" y="316936"/>
                </a:lnTo>
                <a:lnTo>
                  <a:pt x="16087" y="344854"/>
                </a:lnTo>
                <a:lnTo>
                  <a:pt x="0" y="326025"/>
                </a:lnTo>
                <a:lnTo>
                  <a:pt x="32031" y="298310"/>
                </a:lnTo>
                <a:lnTo>
                  <a:pt x="63713" y="270197"/>
                </a:lnTo>
                <a:lnTo>
                  <a:pt x="95041" y="241690"/>
                </a:lnTo>
                <a:lnTo>
                  <a:pt x="126010" y="212794"/>
                </a:lnTo>
                <a:lnTo>
                  <a:pt x="156615" y="183512"/>
                </a:lnTo>
                <a:lnTo>
                  <a:pt x="186852" y="153850"/>
                </a:lnTo>
                <a:lnTo>
                  <a:pt x="216715" y="123813"/>
                </a:lnTo>
                <a:lnTo>
                  <a:pt x="246201" y="93404"/>
                </a:lnTo>
                <a:lnTo>
                  <a:pt x="275304" y="62629"/>
                </a:lnTo>
                <a:lnTo>
                  <a:pt x="304021" y="31493"/>
                </a:lnTo>
                <a:lnTo>
                  <a:pt x="332345" y="0"/>
                </a:lnTo>
                <a:close/>
              </a:path>
            </a:pathLst>
          </a:custGeom>
          <a:solidFill xmlns:a="http://schemas.openxmlformats.org/drawingml/2006/main">
            <a:srgbClr val="20774D"/>
          </a:solidFill>
          <a:ln xmlns:a="http://schemas.openxmlformats.org/drawingml/2006/main" w="0">
            <a:noFill/>
          </a:ln>
        </p:spPr>
      </p:sp>
      <p:sp>
        <p:nvSpPr>
          <p:cNvPr id="124" name="NonconvexStochasticAcceleratedGD-reuse-1281">
            <a:extLst xmlns:a="http://schemas.openxmlformats.org/drawingml/2006/main">
              <a:ext uri="{FF2B5EF4-FFF2-40B4-BE49-F238E27FC236}">
                <a16:creationId xmlns:a16="http://schemas.microsoft.com/office/drawing/2014/main" id="{166A32F1-3F5A-45A9-BD64-137CCCCD26E4}"/>
              </a:ext>
            </a:extLst>
          </p:cNvPr>
          <p:cNvSpPr>
            <a:spLocks xmlns:a="http://schemas.openxmlformats.org/drawingml/2006/main" noGrp="1"/>
          </p:cNvSpPr>
          <p:nvPr/>
        </p:nvSpPr>
        <p:spPr>
          <a:xfrm xmlns:a="http://schemas.openxmlformats.org/drawingml/2006/main">
            <a:off x="7569123" y="7744826"/>
            <a:ext cx="520946" cy="521749"/>
          </a:xfrm>
          <a:custGeom xmlns:a="http://schemas.openxmlformats.org/drawingml/2006/main">
            <a:pathLst>
              <a:path w="520946" h="521749">
                <a:moveTo>
                  <a:pt x="520946" y="265088"/>
                </a:moveTo>
                <a:lnTo>
                  <a:pt x="498647" y="289881"/>
                </a:lnTo>
                <a:lnTo>
                  <a:pt x="476041" y="314392"/>
                </a:lnTo>
                <a:lnTo>
                  <a:pt x="453129" y="338620"/>
                </a:lnTo>
                <a:lnTo>
                  <a:pt x="429917" y="362559"/>
                </a:lnTo>
                <a:lnTo>
                  <a:pt x="406407" y="386206"/>
                </a:lnTo>
                <a:lnTo>
                  <a:pt x="382603" y="409557"/>
                </a:lnTo>
                <a:lnTo>
                  <a:pt x="358509" y="432608"/>
                </a:lnTo>
                <a:lnTo>
                  <a:pt x="334129" y="455357"/>
                </a:lnTo>
                <a:lnTo>
                  <a:pt x="309467" y="477799"/>
                </a:lnTo>
                <a:lnTo>
                  <a:pt x="284525" y="499931"/>
                </a:lnTo>
                <a:lnTo>
                  <a:pt x="259309" y="521749"/>
                </a:lnTo>
                <a:lnTo>
                  <a:pt x="0" y="218244"/>
                </a:lnTo>
                <a:lnTo>
                  <a:pt x="21442" y="199692"/>
                </a:lnTo>
                <a:lnTo>
                  <a:pt x="42650" y="180872"/>
                </a:lnTo>
                <a:lnTo>
                  <a:pt x="63621" y="161790"/>
                </a:lnTo>
                <a:lnTo>
                  <a:pt x="84352" y="142446"/>
                </a:lnTo>
                <a:lnTo>
                  <a:pt x="104839" y="122845"/>
                </a:lnTo>
                <a:lnTo>
                  <a:pt x="125080" y="102989"/>
                </a:lnTo>
                <a:lnTo>
                  <a:pt x="145071" y="82881"/>
                </a:lnTo>
                <a:lnTo>
                  <a:pt x="164809" y="62526"/>
                </a:lnTo>
                <a:lnTo>
                  <a:pt x="184291" y="41925"/>
                </a:lnTo>
                <a:lnTo>
                  <a:pt x="203514" y="21082"/>
                </a:lnTo>
                <a:lnTo>
                  <a:pt x="222475" y="0"/>
                </a:lnTo>
                <a:close/>
              </a:path>
            </a:pathLst>
          </a:custGeom>
          <a:gradFill xmlns:a="http://schemas.openxmlformats.org/drawingml/2006/main">
            <a:gsLst>
              <a:gs pos="0">
                <a:srgbClr val="8DBFA5"/>
              </a:gs>
              <a:gs pos="100000">
                <a:srgbClr val="4F9C74"/>
              </a:gs>
            </a:gsLst>
            <a:lin ang="2733000"/>
          </a:gradFill>
          <a:ln xmlns:a="http://schemas.openxmlformats.org/drawingml/2006/main" w="0">
            <a:noFill/>
          </a:ln>
        </p:spPr>
      </p:sp>
      <p:sp>
        <p:nvSpPr>
          <p:cNvPr id="125" name="NonconvexStochasticAcceleratedGD-reuse-end">
            <a:extLst xmlns:a="http://schemas.openxmlformats.org/drawingml/2006/main">
              <a:ext uri="{FF2B5EF4-FFF2-40B4-BE49-F238E27FC236}">
                <a16:creationId xmlns:a16="http://schemas.microsoft.com/office/drawing/2014/main" id="{D23866B9-AE13-4439-A568-232F8F40279F}"/>
              </a:ext>
            </a:extLst>
          </p:cNvPr>
          <p:cNvSpPr>
            <a:spLocks xmlns:a="http://schemas.openxmlformats.org/drawingml/2006/main" noGrp="1"/>
          </p:cNvSpPr>
          <p:nvPr/>
        </p:nvSpPr>
        <p:spPr>
          <a:xfrm xmlns:a="http://schemas.openxmlformats.org/drawingml/2006/main">
            <a:off x="7569123" y="7744826"/>
            <a:ext cx="240279" cy="236349"/>
          </a:xfrm>
          <a:custGeom xmlns:a="http://schemas.openxmlformats.org/drawingml/2006/main">
            <a:pathLst>
              <a:path w="240279" h="236349">
                <a:moveTo>
                  <a:pt x="240279" y="15813"/>
                </a:moveTo>
                <a:lnTo>
                  <a:pt x="221119" y="37116"/>
                </a:lnTo>
                <a:lnTo>
                  <a:pt x="201695" y="58178"/>
                </a:lnTo>
                <a:lnTo>
                  <a:pt x="182008" y="78995"/>
                </a:lnTo>
                <a:lnTo>
                  <a:pt x="162063" y="99564"/>
                </a:lnTo>
                <a:lnTo>
                  <a:pt x="141862" y="119883"/>
                </a:lnTo>
                <a:lnTo>
                  <a:pt x="121408" y="139947"/>
                </a:lnTo>
                <a:lnTo>
                  <a:pt x="100706" y="159754"/>
                </a:lnTo>
                <a:lnTo>
                  <a:pt x="79757" y="179301"/>
                </a:lnTo>
                <a:lnTo>
                  <a:pt x="58566" y="198584"/>
                </a:lnTo>
                <a:lnTo>
                  <a:pt x="37135" y="217601"/>
                </a:lnTo>
                <a:lnTo>
                  <a:pt x="15468" y="236349"/>
                </a:lnTo>
                <a:lnTo>
                  <a:pt x="0" y="218244"/>
                </a:lnTo>
                <a:lnTo>
                  <a:pt x="21442" y="199692"/>
                </a:lnTo>
                <a:lnTo>
                  <a:pt x="42650" y="180872"/>
                </a:lnTo>
                <a:lnTo>
                  <a:pt x="63621" y="161790"/>
                </a:lnTo>
                <a:lnTo>
                  <a:pt x="84352" y="142446"/>
                </a:lnTo>
                <a:lnTo>
                  <a:pt x="104839" y="122845"/>
                </a:lnTo>
                <a:lnTo>
                  <a:pt x="125080" y="102989"/>
                </a:lnTo>
                <a:lnTo>
                  <a:pt x="145071" y="82881"/>
                </a:lnTo>
                <a:lnTo>
                  <a:pt x="164809" y="62526"/>
                </a:lnTo>
                <a:lnTo>
                  <a:pt x="184291" y="41925"/>
                </a:lnTo>
                <a:lnTo>
                  <a:pt x="203514" y="21082"/>
                </a:lnTo>
                <a:lnTo>
                  <a:pt x="222475" y="0"/>
                </a:lnTo>
                <a:close/>
              </a:path>
            </a:pathLst>
          </a:custGeom>
          <a:solidFill xmlns:a="http://schemas.openxmlformats.org/drawingml/2006/main">
            <a:srgbClr val="398F62"/>
          </a:solidFill>
          <a:ln xmlns:a="http://schemas.openxmlformats.org/drawingml/2006/main" w="0">
            <a:noFill/>
          </a:ln>
        </p:spPr>
      </p:sp>
      <p:sp>
        <p:nvSpPr>
          <p:cNvPr id="126" name="NonconvexStochasticAcceleratedGD-inbar-tick-5000">
            <a:extLst xmlns:a="http://schemas.openxmlformats.org/drawingml/2006/main">
              <a:ext uri="{FF2B5EF4-FFF2-40B4-BE49-F238E27FC236}">
                <a16:creationId xmlns:a16="http://schemas.microsoft.com/office/drawing/2014/main" id="{7AD05265-F128-4FEE-800C-7B2869C81F12}"/>
              </a:ext>
            </a:extLst>
          </p:cNvPr>
          <p:cNvSpPr>
            <a:spLocks xmlns:a="http://schemas.openxmlformats.org/drawingml/2006/main" noGrp="1"/>
          </p:cNvSpPr>
          <p:nvPr/>
        </p:nvSpPr>
        <p:spPr>
          <a:xfrm xmlns:a="http://schemas.openxmlformats.org/drawingml/2006/main">
            <a:off x="8269893" y="8461213"/>
            <a:ext cx="337565" cy="331478"/>
          </a:xfrm>
          <a:custGeom xmlns:a="http://schemas.openxmlformats.org/drawingml/2006/main">
            <a:pathLst>
              <a:path w="337565" h="331478">
                <a:moveTo>
                  <a:pt x="337565" y="8223"/>
                </a:moveTo>
                <a:lnTo>
                  <a:pt x="309481" y="39448"/>
                </a:lnTo>
                <a:lnTo>
                  <a:pt x="281009" y="70320"/>
                </a:lnTo>
                <a:lnTo>
                  <a:pt x="252153" y="100833"/>
                </a:lnTo>
                <a:lnTo>
                  <a:pt x="222918" y="130983"/>
                </a:lnTo>
                <a:lnTo>
                  <a:pt x="193308" y="160766"/>
                </a:lnTo>
                <a:lnTo>
                  <a:pt x="163328" y="190176"/>
                </a:lnTo>
                <a:lnTo>
                  <a:pt x="132983" y="219208"/>
                </a:lnTo>
                <a:lnTo>
                  <a:pt x="102277" y="247859"/>
                </a:lnTo>
                <a:lnTo>
                  <a:pt x="71215" y="276124"/>
                </a:lnTo>
                <a:lnTo>
                  <a:pt x="39802" y="303999"/>
                </a:lnTo>
                <a:lnTo>
                  <a:pt x="8043" y="331478"/>
                </a:lnTo>
                <a:lnTo>
                  <a:pt x="0" y="322064"/>
                </a:lnTo>
                <a:lnTo>
                  <a:pt x="31642" y="294686"/>
                </a:lnTo>
                <a:lnTo>
                  <a:pt x="62939" y="266914"/>
                </a:lnTo>
                <a:lnTo>
                  <a:pt x="93886" y="238753"/>
                </a:lnTo>
                <a:lnTo>
                  <a:pt x="124479" y="210208"/>
                </a:lnTo>
                <a:lnTo>
                  <a:pt x="154712" y="181282"/>
                </a:lnTo>
                <a:lnTo>
                  <a:pt x="184581" y="151981"/>
                </a:lnTo>
                <a:lnTo>
                  <a:pt x="214082" y="122308"/>
                </a:lnTo>
                <a:lnTo>
                  <a:pt x="243210" y="92269"/>
                </a:lnTo>
                <a:lnTo>
                  <a:pt x="271959" y="61868"/>
                </a:lnTo>
                <a:lnTo>
                  <a:pt x="300327" y="31110"/>
                </a:lnTo>
                <a:lnTo>
                  <a:pt x="328307" y="0"/>
                </a:lnTo>
                <a:close/>
              </a:path>
            </a:pathLst>
          </a:custGeom>
          <a:solidFill xmlns:a="http://schemas.openxmlformats.org/drawingml/2006/main">
            <a:srgbClr val="BBD9C9"/>
          </a:solidFill>
          <a:ln xmlns:a="http://schemas.openxmlformats.org/drawingml/2006/main" w="0">
            <a:noFill/>
          </a:ln>
        </p:spPr>
      </p:sp>
      <p:sp>
        <p:nvSpPr>
          <p:cNvPr id="127" name="NonconvexStochasticAcceleratedGD-baseline-gap">
            <a:extLst xmlns:a="http://schemas.openxmlformats.org/drawingml/2006/main">
              <a:ext uri="{FF2B5EF4-FFF2-40B4-BE49-F238E27FC236}">
                <a16:creationId xmlns:a16="http://schemas.microsoft.com/office/drawing/2014/main" id="{444DA48F-5943-4326-AD28-3AB3B439BEAD}"/>
              </a:ext>
            </a:extLst>
          </p:cNvPr>
          <p:cNvSpPr>
            <a:spLocks xmlns:a="http://schemas.openxmlformats.org/drawingml/2006/main" noGrp="1"/>
          </p:cNvSpPr>
          <p:nvPr/>
        </p:nvSpPr>
        <p:spPr>
          <a:xfrm xmlns:a="http://schemas.openxmlformats.org/drawingml/2006/main">
            <a:off x="7801625" y="7982782"/>
            <a:ext cx="317473" cy="313071"/>
          </a:xfrm>
          <a:custGeom xmlns:a="http://schemas.openxmlformats.org/drawingml/2006/main">
            <a:pathLst>
              <a:path w="317473" h="313071">
                <a:moveTo>
                  <a:pt x="317473" y="40322"/>
                </a:moveTo>
                <a:lnTo>
                  <a:pt x="295840" y="64555"/>
                </a:lnTo>
                <a:lnTo>
                  <a:pt x="273916" y="88527"/>
                </a:lnTo>
                <a:lnTo>
                  <a:pt x="251706" y="112232"/>
                </a:lnTo>
                <a:lnTo>
                  <a:pt x="229211" y="135669"/>
                </a:lnTo>
                <a:lnTo>
                  <a:pt x="206436" y="158833"/>
                </a:lnTo>
                <a:lnTo>
                  <a:pt x="183384" y="181721"/>
                </a:lnTo>
                <a:lnTo>
                  <a:pt x="160058" y="204330"/>
                </a:lnTo>
                <a:lnTo>
                  <a:pt x="136461" y="226656"/>
                </a:lnTo>
                <a:lnTo>
                  <a:pt x="112597" y="248696"/>
                </a:lnTo>
                <a:lnTo>
                  <a:pt x="88469" y="270448"/>
                </a:lnTo>
                <a:lnTo>
                  <a:pt x="64081" y="291907"/>
                </a:lnTo>
                <a:lnTo>
                  <a:pt x="39436" y="313071"/>
                </a:lnTo>
                <a:lnTo>
                  <a:pt x="0" y="266586"/>
                </a:lnTo>
                <a:lnTo>
                  <a:pt x="24088" y="245900"/>
                </a:lnTo>
                <a:lnTo>
                  <a:pt x="47924" y="224925"/>
                </a:lnTo>
                <a:lnTo>
                  <a:pt x="71507" y="203666"/>
                </a:lnTo>
                <a:lnTo>
                  <a:pt x="94832" y="182123"/>
                </a:lnTo>
                <a:lnTo>
                  <a:pt x="117895" y="160302"/>
                </a:lnTo>
                <a:lnTo>
                  <a:pt x="140694" y="138204"/>
                </a:lnTo>
                <a:lnTo>
                  <a:pt x="163226" y="115833"/>
                </a:lnTo>
                <a:lnTo>
                  <a:pt x="185486" y="93193"/>
                </a:lnTo>
                <a:lnTo>
                  <a:pt x="207472" y="70286"/>
                </a:lnTo>
                <a:lnTo>
                  <a:pt x="229181" y="47116"/>
                </a:lnTo>
                <a:lnTo>
                  <a:pt x="250609" y="23686"/>
                </a:lnTo>
                <a:lnTo>
                  <a:pt x="271753" y="0"/>
                </a:lnTo>
                <a:close/>
              </a:path>
            </a:pathLst>
          </a:custGeom>
          <a:solidFill xmlns:a="http://schemas.openxmlformats.org/drawingml/2006/main">
            <a:srgbClr val="FFFFFF"/>
          </a:solidFill>
          <a:ln xmlns:a="http://schemas.openxmlformats.org/drawingml/2006/main" w="0">
            <a:noFill/>
          </a:ln>
        </p:spPr>
      </p:sp>
      <p:sp>
        <p:nvSpPr>
          <p:cNvPr id="128" name="NonconvexStochasticAcceleratedGD-label">
            <a:extLst xmlns:a="http://schemas.openxmlformats.org/drawingml/2006/main">
              <a:ext uri="{FF2B5EF4-FFF2-40B4-BE49-F238E27FC236}">
                <a16:creationId xmlns:a16="http://schemas.microsoft.com/office/drawing/2014/main" id="{41C6AF80-D55E-4432-9AF4-68105769DA81}"/>
              </a:ext>
            </a:extLst>
          </p:cNvPr>
          <p:cNvSpPr>
            <a:spLocks xmlns:a="http://schemas.openxmlformats.org/drawingml/2006/main" noGrp="1"/>
          </p:cNvSpPr>
          <p:nvPr/>
        </p:nvSpPr>
        <p:spPr>
          <a:xfrm xmlns:a="http://schemas.openxmlformats.org/drawingml/2006/main" rot="2733000">
            <a:off x="8391946" y="8961081"/>
            <a:ext cx="116011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RSAGD</a:t>
            </a:r>
          </a:p>
        </p:txBody>
      </p:sp>
      <p:sp>
        <p:nvSpPr>
          <p:cNvPr id="129" name="NonconvexStochasticBlockMirrorDescent-algorithm-2891">
            <a:extLst xmlns:a="http://schemas.openxmlformats.org/drawingml/2006/main">
              <a:ext uri="{FF2B5EF4-FFF2-40B4-BE49-F238E27FC236}">
                <a16:creationId xmlns:a16="http://schemas.microsoft.com/office/drawing/2014/main" id="{B2178460-729C-4719-AB4E-97E047DBA208}"/>
              </a:ext>
            </a:extLst>
          </p:cNvPr>
          <p:cNvSpPr>
            <a:spLocks xmlns:a="http://schemas.openxmlformats.org/drawingml/2006/main" noGrp="1"/>
          </p:cNvSpPr>
          <p:nvPr/>
        </p:nvSpPr>
        <p:spPr>
          <a:xfrm xmlns:a="http://schemas.openxmlformats.org/drawingml/2006/main">
            <a:off x="7477976" y="8308884"/>
            <a:ext cx="628488" cy="657013"/>
          </a:xfrm>
          <a:custGeom xmlns:a="http://schemas.openxmlformats.org/drawingml/2006/main">
            <a:pathLst>
              <a:path w="628488" h="657013">
                <a:moveTo>
                  <a:pt x="628488" y="404749"/>
                </a:moveTo>
                <a:lnTo>
                  <a:pt x="597390" y="429692"/>
                </a:lnTo>
                <a:lnTo>
                  <a:pt x="565983" y="454243"/>
                </a:lnTo>
                <a:lnTo>
                  <a:pt x="534271" y="478401"/>
                </a:lnTo>
                <a:lnTo>
                  <a:pt x="502259" y="502159"/>
                </a:lnTo>
                <a:lnTo>
                  <a:pt x="469953" y="525516"/>
                </a:lnTo>
                <a:lnTo>
                  <a:pt x="437358" y="548467"/>
                </a:lnTo>
                <a:lnTo>
                  <a:pt x="404478" y="571009"/>
                </a:lnTo>
                <a:lnTo>
                  <a:pt x="371319" y="593138"/>
                </a:lnTo>
                <a:lnTo>
                  <a:pt x="337886" y="614850"/>
                </a:lnTo>
                <a:lnTo>
                  <a:pt x="304184" y="636143"/>
                </a:lnTo>
                <a:lnTo>
                  <a:pt x="270218" y="657013"/>
                </a:lnTo>
                <a:lnTo>
                  <a:pt x="0" y="211006"/>
                </a:lnTo>
                <a:lnTo>
                  <a:pt x="28411" y="193549"/>
                </a:lnTo>
                <a:lnTo>
                  <a:pt x="56601" y="175739"/>
                </a:lnTo>
                <a:lnTo>
                  <a:pt x="84566" y="157578"/>
                </a:lnTo>
                <a:lnTo>
                  <a:pt x="112302" y="139068"/>
                </a:lnTo>
                <a:lnTo>
                  <a:pt x="139804" y="120213"/>
                </a:lnTo>
                <a:lnTo>
                  <a:pt x="167069" y="101016"/>
                </a:lnTo>
                <a:lnTo>
                  <a:pt x="194091" y="81479"/>
                </a:lnTo>
                <a:lnTo>
                  <a:pt x="220867" y="61606"/>
                </a:lnTo>
                <a:lnTo>
                  <a:pt x="247392" y="41400"/>
                </a:lnTo>
                <a:lnTo>
                  <a:pt x="273663" y="20863"/>
                </a:lnTo>
                <a:lnTo>
                  <a:pt x="299675" y="0"/>
                </a:lnTo>
                <a:close/>
              </a:path>
            </a:pathLst>
          </a:custGeom>
          <a:gradFill xmlns:a="http://schemas.openxmlformats.org/drawingml/2006/main">
            <a:gsLst>
              <a:gs pos="0">
                <a:srgbClr val="20774E"/>
              </a:gs>
              <a:gs pos="50000">
                <a:srgbClr val="238351"/>
              </a:gs>
              <a:gs pos="100000">
                <a:srgbClr val="409368"/>
              </a:gs>
            </a:gsLst>
            <a:lin ang="3291000"/>
          </a:gradFill>
          <a:ln xmlns:a="http://schemas.openxmlformats.org/drawingml/2006/main" w="0">
            <a:noFill/>
          </a:ln>
        </p:spPr>
      </p:sp>
      <p:sp>
        <p:nvSpPr>
          <p:cNvPr id="130" name="NonconvexStochasticBlockMirrorDescent-algorithm-end">
            <a:extLst xmlns:a="http://schemas.openxmlformats.org/drawingml/2006/main">
              <a:ext uri="{FF2B5EF4-FFF2-40B4-BE49-F238E27FC236}">
                <a16:creationId xmlns:a16="http://schemas.microsoft.com/office/drawing/2014/main" id="{D99D82FC-5148-4B57-9D7B-7D748F6E0E54}"/>
              </a:ext>
            </a:extLst>
          </p:cNvPr>
          <p:cNvSpPr>
            <a:spLocks xmlns:a="http://schemas.openxmlformats.org/drawingml/2006/main" noGrp="1"/>
          </p:cNvSpPr>
          <p:nvPr/>
        </p:nvSpPr>
        <p:spPr>
          <a:xfrm xmlns:a="http://schemas.openxmlformats.org/drawingml/2006/main">
            <a:off x="7735361" y="8694412"/>
            <a:ext cx="371103" cy="271486"/>
          </a:xfrm>
          <a:custGeom xmlns:a="http://schemas.openxmlformats.org/drawingml/2006/main">
            <a:pathLst>
              <a:path w="371103" h="271486">
                <a:moveTo>
                  <a:pt x="371103" y="19222"/>
                </a:moveTo>
                <a:lnTo>
                  <a:pt x="340005" y="44164"/>
                </a:lnTo>
                <a:lnTo>
                  <a:pt x="308598" y="68716"/>
                </a:lnTo>
                <a:lnTo>
                  <a:pt x="276886" y="92873"/>
                </a:lnTo>
                <a:lnTo>
                  <a:pt x="244874" y="116632"/>
                </a:lnTo>
                <a:lnTo>
                  <a:pt x="212568" y="139989"/>
                </a:lnTo>
                <a:lnTo>
                  <a:pt x="179973" y="162940"/>
                </a:lnTo>
                <a:lnTo>
                  <a:pt x="147093" y="185481"/>
                </a:lnTo>
                <a:lnTo>
                  <a:pt x="113934" y="207610"/>
                </a:lnTo>
                <a:lnTo>
                  <a:pt x="80500" y="229323"/>
                </a:lnTo>
                <a:lnTo>
                  <a:pt x="46798" y="250616"/>
                </a:lnTo>
                <a:lnTo>
                  <a:pt x="12833" y="271486"/>
                </a:lnTo>
                <a:lnTo>
                  <a:pt x="0" y="250305"/>
                </a:lnTo>
                <a:lnTo>
                  <a:pt x="33702" y="229597"/>
                </a:lnTo>
                <a:lnTo>
                  <a:pt x="67142" y="208469"/>
                </a:lnTo>
                <a:lnTo>
                  <a:pt x="100316" y="186926"/>
                </a:lnTo>
                <a:lnTo>
                  <a:pt x="133217" y="164969"/>
                </a:lnTo>
                <a:lnTo>
                  <a:pt x="165842" y="142602"/>
                </a:lnTo>
                <a:lnTo>
                  <a:pt x="198184" y="119829"/>
                </a:lnTo>
                <a:lnTo>
                  <a:pt x="230239" y="96654"/>
                </a:lnTo>
                <a:lnTo>
                  <a:pt x="262002" y="73080"/>
                </a:lnTo>
                <a:lnTo>
                  <a:pt x="293468" y="49110"/>
                </a:lnTo>
                <a:lnTo>
                  <a:pt x="324631" y="24749"/>
                </a:lnTo>
                <a:lnTo>
                  <a:pt x="355488" y="0"/>
                </a:lnTo>
                <a:close/>
              </a:path>
            </a:pathLst>
          </a:custGeom>
          <a:solidFill xmlns:a="http://schemas.openxmlformats.org/drawingml/2006/main">
            <a:srgbClr val="20774D"/>
          </a:solidFill>
          <a:ln xmlns:a="http://schemas.openxmlformats.org/drawingml/2006/main" w="0">
            <a:noFill/>
          </a:ln>
        </p:spPr>
      </p:sp>
      <p:sp>
        <p:nvSpPr>
          <p:cNvPr id="131" name="NonconvexStochasticBlockMirrorDescent-reuse-1798">
            <a:extLst xmlns:a="http://schemas.openxmlformats.org/drawingml/2006/main">
              <a:ext uri="{FF2B5EF4-FFF2-40B4-BE49-F238E27FC236}">
                <a16:creationId xmlns:a16="http://schemas.microsoft.com/office/drawing/2014/main" id="{D4181689-8BF7-4184-85DB-5EC624E87680}"/>
              </a:ext>
            </a:extLst>
          </p:cNvPr>
          <p:cNvSpPr>
            <a:spLocks xmlns:a="http://schemas.openxmlformats.org/drawingml/2006/main" noGrp="1"/>
          </p:cNvSpPr>
          <p:nvPr/>
        </p:nvSpPr>
        <p:spPr>
          <a:xfrm xmlns:a="http://schemas.openxmlformats.org/drawingml/2006/main">
            <a:off x="7232910" y="7941810"/>
            <a:ext cx="544741" cy="578081"/>
          </a:xfrm>
          <a:custGeom xmlns:a="http://schemas.openxmlformats.org/drawingml/2006/main">
            <a:pathLst>
              <a:path w="544741" h="578081">
                <a:moveTo>
                  <a:pt x="544741" y="367075"/>
                </a:moveTo>
                <a:lnTo>
                  <a:pt x="518729" y="387938"/>
                </a:lnTo>
                <a:lnTo>
                  <a:pt x="492458" y="408474"/>
                </a:lnTo>
                <a:lnTo>
                  <a:pt x="465933" y="428680"/>
                </a:lnTo>
                <a:lnTo>
                  <a:pt x="439157" y="448554"/>
                </a:lnTo>
                <a:lnTo>
                  <a:pt x="412134" y="468090"/>
                </a:lnTo>
                <a:lnTo>
                  <a:pt x="384870" y="487288"/>
                </a:lnTo>
                <a:lnTo>
                  <a:pt x="357368" y="506143"/>
                </a:lnTo>
                <a:lnTo>
                  <a:pt x="329632" y="524652"/>
                </a:lnTo>
                <a:lnTo>
                  <a:pt x="301666" y="542814"/>
                </a:lnTo>
                <a:lnTo>
                  <a:pt x="273476" y="560624"/>
                </a:lnTo>
                <a:lnTo>
                  <a:pt x="245066" y="578081"/>
                </a:lnTo>
                <a:lnTo>
                  <a:pt x="0" y="173588"/>
                </a:lnTo>
                <a:lnTo>
                  <a:pt x="23373" y="159227"/>
                </a:lnTo>
                <a:lnTo>
                  <a:pt x="46564" y="144575"/>
                </a:lnTo>
                <a:lnTo>
                  <a:pt x="69570" y="129634"/>
                </a:lnTo>
                <a:lnTo>
                  <a:pt x="92387" y="114407"/>
                </a:lnTo>
                <a:lnTo>
                  <a:pt x="115013" y="98896"/>
                </a:lnTo>
                <a:lnTo>
                  <a:pt x="137442" y="83103"/>
                </a:lnTo>
                <a:lnTo>
                  <a:pt x="159673" y="67030"/>
                </a:lnTo>
                <a:lnTo>
                  <a:pt x="181701" y="50681"/>
                </a:lnTo>
                <a:lnTo>
                  <a:pt x="203522" y="34058"/>
                </a:lnTo>
                <a:lnTo>
                  <a:pt x="225134" y="17164"/>
                </a:lnTo>
                <a:lnTo>
                  <a:pt x="246534" y="0"/>
                </a:lnTo>
                <a:close/>
              </a:path>
            </a:pathLst>
          </a:custGeom>
          <a:gradFill xmlns:a="http://schemas.openxmlformats.org/drawingml/2006/main">
            <a:gsLst>
              <a:gs pos="0">
                <a:srgbClr val="8DBFA5"/>
              </a:gs>
              <a:gs pos="100000">
                <a:srgbClr val="4F9C74"/>
              </a:gs>
            </a:gsLst>
            <a:lin ang="3291000"/>
          </a:gradFill>
          <a:ln xmlns:a="http://schemas.openxmlformats.org/drawingml/2006/main" w="0">
            <a:noFill/>
          </a:ln>
        </p:spPr>
      </p:sp>
      <p:sp>
        <p:nvSpPr>
          <p:cNvPr id="132" name="NonconvexStochasticBlockMirrorDescent-reuse-end">
            <a:extLst xmlns:a="http://schemas.openxmlformats.org/drawingml/2006/main">
              <a:ext uri="{FF2B5EF4-FFF2-40B4-BE49-F238E27FC236}">
                <a16:creationId xmlns:a16="http://schemas.microsoft.com/office/drawing/2014/main" id="{DFD169DB-D3A9-47F4-B015-DC6BD297051F}"/>
              </a:ext>
            </a:extLst>
          </p:cNvPr>
          <p:cNvSpPr>
            <a:spLocks xmlns:a="http://schemas.openxmlformats.org/drawingml/2006/main" noGrp="1"/>
          </p:cNvSpPr>
          <p:nvPr/>
        </p:nvSpPr>
        <p:spPr>
          <a:xfrm xmlns:a="http://schemas.openxmlformats.org/drawingml/2006/main">
            <a:off x="7232910" y="7941810"/>
            <a:ext cx="261548" cy="193955"/>
          </a:xfrm>
          <a:custGeom xmlns:a="http://schemas.openxmlformats.org/drawingml/2006/main">
            <a:pathLst>
              <a:path w="261548" h="193955">
                <a:moveTo>
                  <a:pt x="261548" y="18482"/>
                </a:moveTo>
                <a:lnTo>
                  <a:pt x="239917" y="35832"/>
                </a:lnTo>
                <a:lnTo>
                  <a:pt x="218070" y="52910"/>
                </a:lnTo>
                <a:lnTo>
                  <a:pt x="196012" y="69714"/>
                </a:lnTo>
                <a:lnTo>
                  <a:pt x="173745" y="86240"/>
                </a:lnTo>
                <a:lnTo>
                  <a:pt x="151273" y="102487"/>
                </a:lnTo>
                <a:lnTo>
                  <a:pt x="128600" y="118451"/>
                </a:lnTo>
                <a:lnTo>
                  <a:pt x="105729" y="134131"/>
                </a:lnTo>
                <a:lnTo>
                  <a:pt x="82664" y="149524"/>
                </a:lnTo>
                <a:lnTo>
                  <a:pt x="59408" y="164627"/>
                </a:lnTo>
                <a:lnTo>
                  <a:pt x="35965" y="179438"/>
                </a:lnTo>
                <a:lnTo>
                  <a:pt x="12339" y="193955"/>
                </a:lnTo>
                <a:lnTo>
                  <a:pt x="0" y="173588"/>
                </a:lnTo>
                <a:lnTo>
                  <a:pt x="23373" y="159227"/>
                </a:lnTo>
                <a:lnTo>
                  <a:pt x="46564" y="144575"/>
                </a:lnTo>
                <a:lnTo>
                  <a:pt x="69570" y="129634"/>
                </a:lnTo>
                <a:lnTo>
                  <a:pt x="92387" y="114407"/>
                </a:lnTo>
                <a:lnTo>
                  <a:pt x="115013" y="98896"/>
                </a:lnTo>
                <a:lnTo>
                  <a:pt x="137442" y="83103"/>
                </a:lnTo>
                <a:lnTo>
                  <a:pt x="159673" y="67030"/>
                </a:lnTo>
                <a:lnTo>
                  <a:pt x="181701" y="50681"/>
                </a:lnTo>
                <a:lnTo>
                  <a:pt x="203522" y="34058"/>
                </a:lnTo>
                <a:lnTo>
                  <a:pt x="225134" y="17164"/>
                </a:lnTo>
                <a:lnTo>
                  <a:pt x="246534" y="0"/>
                </a:lnTo>
                <a:close/>
              </a:path>
            </a:pathLst>
          </a:custGeom>
          <a:solidFill xmlns:a="http://schemas.openxmlformats.org/drawingml/2006/main">
            <a:srgbClr val="398F62"/>
          </a:solidFill>
          <a:ln xmlns:a="http://schemas.openxmlformats.org/drawingml/2006/main" w="0">
            <a:noFill/>
          </a:ln>
        </p:spPr>
      </p:sp>
      <p:sp>
        <p:nvSpPr>
          <p:cNvPr id="133" name="NonconvexStochasticBlockMirrorDescent-baseline-gap">
            <a:extLst xmlns:a="http://schemas.openxmlformats.org/drawingml/2006/main">
              <a:ext uri="{FF2B5EF4-FFF2-40B4-BE49-F238E27FC236}">
                <a16:creationId xmlns:a16="http://schemas.microsoft.com/office/drawing/2014/main" id="{688BF7D3-2A20-4A84-AD56-8158EB4E3730}"/>
              </a:ext>
            </a:extLst>
          </p:cNvPr>
          <p:cNvSpPr>
            <a:spLocks xmlns:a="http://schemas.openxmlformats.org/drawingml/2006/main" noGrp="1"/>
          </p:cNvSpPr>
          <p:nvPr/>
        </p:nvSpPr>
        <p:spPr>
          <a:xfrm xmlns:a="http://schemas.openxmlformats.org/drawingml/2006/main">
            <a:off x="7454303" y="8279412"/>
            <a:ext cx="349865" cy="271413"/>
          </a:xfrm>
          <a:custGeom xmlns:a="http://schemas.openxmlformats.org/drawingml/2006/main">
            <a:pathLst>
              <a:path w="349865" h="271413">
                <a:moveTo>
                  <a:pt x="349865" y="47180"/>
                </a:moveTo>
                <a:lnTo>
                  <a:pt x="324600" y="67599"/>
                </a:lnTo>
                <a:lnTo>
                  <a:pt x="299091" y="87713"/>
                </a:lnTo>
                <a:lnTo>
                  <a:pt x="273341" y="107517"/>
                </a:lnTo>
                <a:lnTo>
                  <a:pt x="247355" y="127011"/>
                </a:lnTo>
                <a:lnTo>
                  <a:pt x="221136" y="146190"/>
                </a:lnTo>
                <a:lnTo>
                  <a:pt x="194688" y="165051"/>
                </a:lnTo>
                <a:lnTo>
                  <a:pt x="168015" y="183593"/>
                </a:lnTo>
                <a:lnTo>
                  <a:pt x="141120" y="201813"/>
                </a:lnTo>
                <a:lnTo>
                  <a:pt x="114008" y="219707"/>
                </a:lnTo>
                <a:lnTo>
                  <a:pt x="86682" y="237273"/>
                </a:lnTo>
                <a:lnTo>
                  <a:pt x="59147" y="254509"/>
                </a:lnTo>
                <a:lnTo>
                  <a:pt x="31406" y="271413"/>
                </a:lnTo>
                <a:lnTo>
                  <a:pt x="0" y="219165"/>
                </a:lnTo>
                <a:lnTo>
                  <a:pt x="27114" y="202644"/>
                </a:lnTo>
                <a:lnTo>
                  <a:pt x="54027" y="185797"/>
                </a:lnTo>
                <a:lnTo>
                  <a:pt x="80735" y="168628"/>
                </a:lnTo>
                <a:lnTo>
                  <a:pt x="107235" y="151138"/>
                </a:lnTo>
                <a:lnTo>
                  <a:pt x="133521" y="133331"/>
                </a:lnTo>
                <a:lnTo>
                  <a:pt x="159592" y="115208"/>
                </a:lnTo>
                <a:lnTo>
                  <a:pt x="185443" y="96772"/>
                </a:lnTo>
                <a:lnTo>
                  <a:pt x="211069" y="78027"/>
                </a:lnTo>
                <a:lnTo>
                  <a:pt x="236468" y="58974"/>
                </a:lnTo>
                <a:lnTo>
                  <a:pt x="261636" y="39617"/>
                </a:lnTo>
                <a:lnTo>
                  <a:pt x="286568" y="19958"/>
                </a:lnTo>
                <a:lnTo>
                  <a:pt x="311263" y="0"/>
                </a:lnTo>
                <a:close/>
              </a:path>
            </a:pathLst>
          </a:custGeom>
          <a:solidFill xmlns:a="http://schemas.openxmlformats.org/drawingml/2006/main">
            <a:srgbClr val="FFFFFF"/>
          </a:solidFill>
          <a:ln xmlns:a="http://schemas.openxmlformats.org/drawingml/2006/main" w="0">
            <a:noFill/>
          </a:ln>
        </p:spPr>
      </p:sp>
      <p:sp>
        <p:nvSpPr>
          <p:cNvPr id="134" name="NonconvexStochasticBlockMirrorDescent-label">
            <a:extLst xmlns:a="http://schemas.openxmlformats.org/drawingml/2006/main">
              <a:ext uri="{FF2B5EF4-FFF2-40B4-BE49-F238E27FC236}">
                <a16:creationId xmlns:a16="http://schemas.microsoft.com/office/drawing/2014/main" id="{7841A80C-D115-4565-B11A-EBA80EFDF1EE}"/>
              </a:ext>
            </a:extLst>
          </p:cNvPr>
          <p:cNvSpPr>
            <a:spLocks xmlns:a="http://schemas.openxmlformats.org/drawingml/2006/main" noGrp="1"/>
          </p:cNvSpPr>
          <p:nvPr/>
        </p:nvSpPr>
        <p:spPr>
          <a:xfrm xmlns:a="http://schemas.openxmlformats.org/drawingml/2006/main" rot="3291000">
            <a:off x="7679569" y="9342477"/>
            <a:ext cx="1498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NC-SBMD</a:t>
            </a:r>
          </a:p>
        </p:txBody>
      </p:sp>
      <p:sp>
        <p:nvSpPr>
          <p:cNvPr id="135" name="NonconvexStochasticMirrorDescent-algorithm-10441">
            <a:extLst xmlns:a="http://schemas.openxmlformats.org/drawingml/2006/main">
              <a:ext uri="{FF2B5EF4-FFF2-40B4-BE49-F238E27FC236}">
                <a16:creationId xmlns:a16="http://schemas.microsoft.com/office/drawing/2014/main" id="{191B17DE-2F73-4368-9648-5639FB938C1D}"/>
              </a:ext>
            </a:extLst>
          </p:cNvPr>
          <p:cNvSpPr>
            <a:spLocks xmlns:a="http://schemas.openxmlformats.org/drawingml/2006/main" noGrp="1"/>
          </p:cNvSpPr>
          <p:nvPr/>
        </p:nvSpPr>
        <p:spPr>
          <a:xfrm xmlns:a="http://schemas.openxmlformats.org/drawingml/2006/main">
            <a:off x="7091190" y="8553437"/>
            <a:ext cx="822198" cy="1079246"/>
          </a:xfrm>
          <a:custGeom xmlns:a="http://schemas.openxmlformats.org/drawingml/2006/main">
            <a:pathLst>
              <a:path w="822198" h="1079246">
                <a:moveTo>
                  <a:pt x="822198" y="860061"/>
                </a:moveTo>
                <a:lnTo>
                  <a:pt x="782365" y="882535"/>
                </a:lnTo>
                <a:lnTo>
                  <a:pt x="742254" y="904509"/>
                </a:lnTo>
                <a:lnTo>
                  <a:pt x="701871" y="925980"/>
                </a:lnTo>
                <a:lnTo>
                  <a:pt x="661223" y="946944"/>
                </a:lnTo>
                <a:lnTo>
                  <a:pt x="620317" y="967399"/>
                </a:lnTo>
                <a:lnTo>
                  <a:pt x="579158" y="987340"/>
                </a:lnTo>
                <a:lnTo>
                  <a:pt x="537752" y="1006766"/>
                </a:lnTo>
                <a:lnTo>
                  <a:pt x="496107" y="1025672"/>
                </a:lnTo>
                <a:lnTo>
                  <a:pt x="454229" y="1044056"/>
                </a:lnTo>
                <a:lnTo>
                  <a:pt x="412124" y="1061915"/>
                </a:lnTo>
                <a:lnTo>
                  <a:pt x="369800" y="1079246"/>
                </a:lnTo>
                <a:lnTo>
                  <a:pt x="0" y="159804"/>
                </a:lnTo>
                <a:lnTo>
                  <a:pt x="30858" y="147168"/>
                </a:lnTo>
                <a:lnTo>
                  <a:pt x="61556" y="134147"/>
                </a:lnTo>
                <a:lnTo>
                  <a:pt x="92089" y="120744"/>
                </a:lnTo>
                <a:lnTo>
                  <a:pt x="122451" y="106960"/>
                </a:lnTo>
                <a:lnTo>
                  <a:pt x="152639" y="92797"/>
                </a:lnTo>
                <a:lnTo>
                  <a:pt x="182648" y="78258"/>
                </a:lnTo>
                <a:lnTo>
                  <a:pt x="212472" y="63345"/>
                </a:lnTo>
                <a:lnTo>
                  <a:pt x="242107" y="48060"/>
                </a:lnTo>
                <a:lnTo>
                  <a:pt x="271550" y="32406"/>
                </a:lnTo>
                <a:lnTo>
                  <a:pt x="300794" y="16385"/>
                </a:lnTo>
                <a:lnTo>
                  <a:pt x="329835" y="0"/>
                </a:lnTo>
                <a:close/>
              </a:path>
            </a:pathLst>
          </a:custGeom>
          <a:gradFill xmlns:a="http://schemas.openxmlformats.org/drawingml/2006/main">
            <a:gsLst>
              <a:gs pos="0">
                <a:srgbClr val="20774E"/>
              </a:gs>
              <a:gs pos="50000">
                <a:srgbClr val="238351"/>
              </a:gs>
              <a:gs pos="100000">
                <a:srgbClr val="409368"/>
              </a:gs>
            </a:gsLst>
            <a:lin ang="3848999"/>
          </a:gradFill>
          <a:ln xmlns:a="http://schemas.openxmlformats.org/drawingml/2006/main" w="0">
            <a:noFill/>
          </a:ln>
        </p:spPr>
      </p:sp>
      <p:sp>
        <p:nvSpPr>
          <p:cNvPr id="136" name="NonconvexStochasticMirrorDescent-algorithm-end">
            <a:extLst xmlns:a="http://schemas.openxmlformats.org/drawingml/2006/main">
              <a:ext uri="{FF2B5EF4-FFF2-40B4-BE49-F238E27FC236}">
                <a16:creationId xmlns:a16="http://schemas.microsoft.com/office/drawing/2014/main" id="{FA426E49-C40D-4257-8761-658F83BFE3CE}"/>
              </a:ext>
            </a:extLst>
          </p:cNvPr>
          <p:cNvSpPr>
            <a:spLocks xmlns:a="http://schemas.openxmlformats.org/drawingml/2006/main" noGrp="1"/>
          </p:cNvSpPr>
          <p:nvPr/>
        </p:nvSpPr>
        <p:spPr>
          <a:xfrm xmlns:a="http://schemas.openxmlformats.org/drawingml/2006/main">
            <a:off x="7451749" y="9392005"/>
            <a:ext cx="461639" cy="240677"/>
          </a:xfrm>
          <a:custGeom xmlns:a="http://schemas.openxmlformats.org/drawingml/2006/main">
            <a:pathLst>
              <a:path w="461639" h="240677">
                <a:moveTo>
                  <a:pt x="461639" y="21492"/>
                </a:moveTo>
                <a:lnTo>
                  <a:pt x="421806" y="43966"/>
                </a:lnTo>
                <a:lnTo>
                  <a:pt x="381695" y="65940"/>
                </a:lnTo>
                <a:lnTo>
                  <a:pt x="341312" y="87411"/>
                </a:lnTo>
                <a:lnTo>
                  <a:pt x="300665" y="108376"/>
                </a:lnTo>
                <a:lnTo>
                  <a:pt x="259758" y="128830"/>
                </a:lnTo>
                <a:lnTo>
                  <a:pt x="218599" y="148772"/>
                </a:lnTo>
                <a:lnTo>
                  <a:pt x="177193" y="168197"/>
                </a:lnTo>
                <a:lnTo>
                  <a:pt x="135548" y="187103"/>
                </a:lnTo>
                <a:lnTo>
                  <a:pt x="93670" y="205487"/>
                </a:lnTo>
                <a:lnTo>
                  <a:pt x="51566" y="223346"/>
                </a:lnTo>
                <a:lnTo>
                  <a:pt x="9241" y="240677"/>
                </a:lnTo>
                <a:lnTo>
                  <a:pt x="0" y="217701"/>
                </a:lnTo>
                <a:lnTo>
                  <a:pt x="42038" y="200487"/>
                </a:lnTo>
                <a:lnTo>
                  <a:pt x="83858" y="182749"/>
                </a:lnTo>
                <a:lnTo>
                  <a:pt x="125452" y="164490"/>
                </a:lnTo>
                <a:lnTo>
                  <a:pt x="166815" y="145711"/>
                </a:lnTo>
                <a:lnTo>
                  <a:pt x="207940" y="126418"/>
                </a:lnTo>
                <a:lnTo>
                  <a:pt x="248821" y="106611"/>
                </a:lnTo>
                <a:lnTo>
                  <a:pt x="289451" y="86295"/>
                </a:lnTo>
                <a:lnTo>
                  <a:pt x="329823" y="65473"/>
                </a:lnTo>
                <a:lnTo>
                  <a:pt x="369932" y="44147"/>
                </a:lnTo>
                <a:lnTo>
                  <a:pt x="409772" y="22322"/>
                </a:lnTo>
                <a:lnTo>
                  <a:pt x="449335" y="0"/>
                </a:lnTo>
                <a:close/>
              </a:path>
            </a:pathLst>
          </a:custGeom>
          <a:solidFill xmlns:a="http://schemas.openxmlformats.org/drawingml/2006/main">
            <a:srgbClr val="20774D"/>
          </a:solidFill>
          <a:ln xmlns:a="http://schemas.openxmlformats.org/drawingml/2006/main" w="0">
            <a:noFill/>
          </a:ln>
        </p:spPr>
      </p:sp>
      <p:sp>
        <p:nvSpPr>
          <p:cNvPr id="137" name="NonconvexStochasticMirrorDescent-reuse-203">
            <a:extLst xmlns:a="http://schemas.openxmlformats.org/drawingml/2006/main">
              <a:ext uri="{FF2B5EF4-FFF2-40B4-BE49-F238E27FC236}">
                <a16:creationId xmlns:a16="http://schemas.microsoft.com/office/drawing/2014/main" id="{C17C12D8-ECDB-4664-BC97-F3239F325BEF}"/>
              </a:ext>
            </a:extLst>
          </p:cNvPr>
          <p:cNvSpPr>
            <a:spLocks xmlns:a="http://schemas.openxmlformats.org/drawingml/2006/main" noGrp="1"/>
          </p:cNvSpPr>
          <p:nvPr/>
        </p:nvSpPr>
        <p:spPr>
          <a:xfrm xmlns:a="http://schemas.openxmlformats.org/drawingml/2006/main">
            <a:off x="7031892" y="8415524"/>
            <a:ext cx="389134" cy="297717"/>
          </a:xfrm>
          <a:custGeom xmlns:a="http://schemas.openxmlformats.org/drawingml/2006/main">
            <a:pathLst>
              <a:path w="389134" h="297717">
                <a:moveTo>
                  <a:pt x="389134" y="137913"/>
                </a:moveTo>
                <a:lnTo>
                  <a:pt x="360092" y="154298"/>
                </a:lnTo>
                <a:lnTo>
                  <a:pt x="330848" y="170319"/>
                </a:lnTo>
                <a:lnTo>
                  <a:pt x="301406" y="185973"/>
                </a:lnTo>
                <a:lnTo>
                  <a:pt x="271770" y="201258"/>
                </a:lnTo>
                <a:lnTo>
                  <a:pt x="241946" y="216171"/>
                </a:lnTo>
                <a:lnTo>
                  <a:pt x="211937" y="230710"/>
                </a:lnTo>
                <a:lnTo>
                  <a:pt x="181749" y="244872"/>
                </a:lnTo>
                <a:lnTo>
                  <a:pt x="151387" y="258657"/>
                </a:lnTo>
                <a:lnTo>
                  <a:pt x="120854" y="272060"/>
                </a:lnTo>
                <a:lnTo>
                  <a:pt x="90156" y="285081"/>
                </a:lnTo>
                <a:lnTo>
                  <a:pt x="59298" y="297717"/>
                </a:lnTo>
                <a:lnTo>
                  <a:pt x="0" y="150282"/>
                </a:lnTo>
                <a:lnTo>
                  <a:pt x="29019" y="138399"/>
                </a:lnTo>
                <a:lnTo>
                  <a:pt x="57888" y="126154"/>
                </a:lnTo>
                <a:lnTo>
                  <a:pt x="86601" y="113549"/>
                </a:lnTo>
                <a:lnTo>
                  <a:pt x="115155" y="100587"/>
                </a:lnTo>
                <a:lnTo>
                  <a:pt x="143544" y="87268"/>
                </a:lnTo>
                <a:lnTo>
                  <a:pt x="171765" y="73595"/>
                </a:lnTo>
                <a:lnTo>
                  <a:pt x="199812" y="59571"/>
                </a:lnTo>
                <a:lnTo>
                  <a:pt x="227682" y="45197"/>
                </a:lnTo>
                <a:lnTo>
                  <a:pt x="255369" y="30475"/>
                </a:lnTo>
                <a:lnTo>
                  <a:pt x="282871" y="15409"/>
                </a:lnTo>
                <a:lnTo>
                  <a:pt x="310182" y="0"/>
                </a:lnTo>
                <a:close/>
              </a:path>
            </a:pathLst>
          </a:custGeom>
          <a:gradFill xmlns:a="http://schemas.openxmlformats.org/drawingml/2006/main">
            <a:gsLst>
              <a:gs pos="0">
                <a:srgbClr val="8DBFA5"/>
              </a:gs>
              <a:gs pos="100000">
                <a:srgbClr val="4F9C74"/>
              </a:gs>
            </a:gsLst>
            <a:lin ang="3848999"/>
          </a:gradFill>
          <a:ln xmlns:a="http://schemas.openxmlformats.org/drawingml/2006/main" w="0">
            <a:noFill/>
          </a:ln>
        </p:spPr>
      </p:sp>
      <p:sp>
        <p:nvSpPr>
          <p:cNvPr id="138" name="NonconvexStochasticMirrorDescent-reuse-end">
            <a:extLst xmlns:a="http://schemas.openxmlformats.org/drawingml/2006/main">
              <a:ext uri="{FF2B5EF4-FFF2-40B4-BE49-F238E27FC236}">
                <a16:creationId xmlns:a16="http://schemas.microsoft.com/office/drawing/2014/main" id="{9F7E311A-1FD6-4FFF-9FB0-A54428F44A6C}"/>
              </a:ext>
            </a:extLst>
          </p:cNvPr>
          <p:cNvSpPr>
            <a:spLocks xmlns:a="http://schemas.openxmlformats.org/drawingml/2006/main" noGrp="1"/>
          </p:cNvSpPr>
          <p:nvPr/>
        </p:nvSpPr>
        <p:spPr>
          <a:xfrm xmlns:a="http://schemas.openxmlformats.org/drawingml/2006/main">
            <a:off x="7031892" y="8415524"/>
            <a:ext cx="322013" cy="172375"/>
          </a:xfrm>
          <a:custGeom xmlns:a="http://schemas.openxmlformats.org/drawingml/2006/main">
            <a:pathLst>
              <a:path w="322013" h="172375">
                <a:moveTo>
                  <a:pt x="322013" y="20666"/>
                </a:moveTo>
                <a:lnTo>
                  <a:pt x="294442" y="36221"/>
                </a:lnTo>
                <a:lnTo>
                  <a:pt x="266680" y="51430"/>
                </a:lnTo>
                <a:lnTo>
                  <a:pt x="238729" y="66292"/>
                </a:lnTo>
                <a:lnTo>
                  <a:pt x="210594" y="80802"/>
                </a:lnTo>
                <a:lnTo>
                  <a:pt x="182281" y="94960"/>
                </a:lnTo>
                <a:lnTo>
                  <a:pt x="153793" y="108762"/>
                </a:lnTo>
                <a:lnTo>
                  <a:pt x="125134" y="122207"/>
                </a:lnTo>
                <a:lnTo>
                  <a:pt x="96309" y="135293"/>
                </a:lnTo>
                <a:lnTo>
                  <a:pt x="67323" y="148018"/>
                </a:lnTo>
                <a:lnTo>
                  <a:pt x="38181" y="160379"/>
                </a:lnTo>
                <a:lnTo>
                  <a:pt x="8886" y="172375"/>
                </a:lnTo>
                <a:lnTo>
                  <a:pt x="0" y="150282"/>
                </a:lnTo>
                <a:lnTo>
                  <a:pt x="29019" y="138399"/>
                </a:lnTo>
                <a:lnTo>
                  <a:pt x="57888" y="126154"/>
                </a:lnTo>
                <a:lnTo>
                  <a:pt x="86601" y="113549"/>
                </a:lnTo>
                <a:lnTo>
                  <a:pt x="115155" y="100587"/>
                </a:lnTo>
                <a:lnTo>
                  <a:pt x="143544" y="87268"/>
                </a:lnTo>
                <a:lnTo>
                  <a:pt x="171765" y="73595"/>
                </a:lnTo>
                <a:lnTo>
                  <a:pt x="199812" y="59571"/>
                </a:lnTo>
                <a:lnTo>
                  <a:pt x="227682" y="45197"/>
                </a:lnTo>
                <a:lnTo>
                  <a:pt x="255369" y="30475"/>
                </a:lnTo>
                <a:lnTo>
                  <a:pt x="282871" y="15409"/>
                </a:lnTo>
                <a:lnTo>
                  <a:pt x="310182" y="0"/>
                </a:lnTo>
                <a:close/>
              </a:path>
            </a:pathLst>
          </a:custGeom>
          <a:solidFill xmlns:a="http://schemas.openxmlformats.org/drawingml/2006/main">
            <a:srgbClr val="398F62"/>
          </a:solidFill>
          <a:ln xmlns:a="http://schemas.openxmlformats.org/drawingml/2006/main" w="0">
            <a:noFill/>
          </a:ln>
        </p:spPr>
      </p:sp>
      <p:sp>
        <p:nvSpPr>
          <p:cNvPr id="139" name="NonconvexStochasticMirrorDescent-inbar-tick-5000">
            <a:extLst xmlns:a="http://schemas.openxmlformats.org/drawingml/2006/main">
              <a:ext uri="{FF2B5EF4-FFF2-40B4-BE49-F238E27FC236}">
                <a16:creationId xmlns:a16="http://schemas.microsoft.com/office/drawing/2014/main" id="{36F84814-4EEE-4099-A501-1C9B5E2207D4}"/>
              </a:ext>
            </a:extLst>
          </p:cNvPr>
          <p:cNvSpPr>
            <a:spLocks xmlns:a="http://schemas.openxmlformats.org/drawingml/2006/main" noGrp="1"/>
          </p:cNvSpPr>
          <p:nvPr/>
        </p:nvSpPr>
        <p:spPr>
          <a:xfrm xmlns:a="http://schemas.openxmlformats.org/drawingml/2006/main">
            <a:off x="7344786" y="9143237"/>
            <a:ext cx="420036" cy="212013"/>
          </a:xfrm>
          <a:custGeom xmlns:a="http://schemas.openxmlformats.org/drawingml/2006/main">
            <a:pathLst>
              <a:path w="420036" h="212013">
                <a:moveTo>
                  <a:pt x="420036" y="10746"/>
                </a:moveTo>
                <a:lnTo>
                  <a:pt x="383460" y="31383"/>
                </a:lnTo>
                <a:lnTo>
                  <a:pt x="346628" y="51561"/>
                </a:lnTo>
                <a:lnTo>
                  <a:pt x="309546" y="71276"/>
                </a:lnTo>
                <a:lnTo>
                  <a:pt x="272221" y="90527"/>
                </a:lnTo>
                <a:lnTo>
                  <a:pt x="234659" y="109310"/>
                </a:lnTo>
                <a:lnTo>
                  <a:pt x="196864" y="127621"/>
                </a:lnTo>
                <a:lnTo>
                  <a:pt x="158843" y="145458"/>
                </a:lnTo>
                <a:lnTo>
                  <a:pt x="120603" y="162819"/>
                </a:lnTo>
                <a:lnTo>
                  <a:pt x="82148" y="179700"/>
                </a:lnTo>
                <a:lnTo>
                  <a:pt x="43485" y="196099"/>
                </a:lnTo>
                <a:lnTo>
                  <a:pt x="4621" y="212013"/>
                </a:lnTo>
                <a:lnTo>
                  <a:pt x="0" y="200525"/>
                </a:lnTo>
                <a:lnTo>
                  <a:pt x="38721" y="184670"/>
                </a:lnTo>
                <a:lnTo>
                  <a:pt x="77242" y="168331"/>
                </a:lnTo>
                <a:lnTo>
                  <a:pt x="115555" y="151512"/>
                </a:lnTo>
                <a:lnTo>
                  <a:pt x="153654" y="134215"/>
                </a:lnTo>
                <a:lnTo>
                  <a:pt x="191535" y="116444"/>
                </a:lnTo>
                <a:lnTo>
                  <a:pt x="229190" y="98200"/>
                </a:lnTo>
                <a:lnTo>
                  <a:pt x="266614" y="79487"/>
                </a:lnTo>
                <a:lnTo>
                  <a:pt x="303802" y="60307"/>
                </a:lnTo>
                <a:lnTo>
                  <a:pt x="340746" y="40664"/>
                </a:lnTo>
                <a:lnTo>
                  <a:pt x="377442" y="20561"/>
                </a:lnTo>
                <a:lnTo>
                  <a:pt x="413884" y="0"/>
                </a:lnTo>
                <a:close/>
              </a:path>
            </a:pathLst>
          </a:custGeom>
          <a:solidFill xmlns:a="http://schemas.openxmlformats.org/drawingml/2006/main">
            <a:srgbClr val="BBD9C9"/>
          </a:solidFill>
          <a:ln xmlns:a="http://schemas.openxmlformats.org/drawingml/2006/main" w="0">
            <a:noFill/>
          </a:ln>
        </p:spPr>
      </p:sp>
      <p:sp>
        <p:nvSpPr>
          <p:cNvPr id="140" name="NonconvexStochasticMirrorDescent-baseline-gap">
            <a:extLst xmlns:a="http://schemas.openxmlformats.org/drawingml/2006/main">
              <a:ext uri="{FF2B5EF4-FFF2-40B4-BE49-F238E27FC236}">
                <a16:creationId xmlns:a16="http://schemas.microsoft.com/office/drawing/2014/main" id="{DC93E8AF-11C0-4B8D-A3C1-F46DBBFAE98A}"/>
              </a:ext>
            </a:extLst>
          </p:cNvPr>
          <p:cNvSpPr>
            <a:spLocks xmlns:a="http://schemas.openxmlformats.org/drawingml/2006/main" noGrp="1"/>
          </p:cNvSpPr>
          <p:nvPr/>
        </p:nvSpPr>
        <p:spPr>
          <a:xfrm xmlns:a="http://schemas.openxmlformats.org/drawingml/2006/main">
            <a:off x="7071272" y="8522398"/>
            <a:ext cx="373060" cy="222619"/>
          </a:xfrm>
          <a:custGeom xmlns:a="http://schemas.openxmlformats.org/drawingml/2006/main">
            <a:pathLst>
              <a:path w="373060" h="222619">
                <a:moveTo>
                  <a:pt x="373060" y="52798"/>
                </a:moveTo>
                <a:lnTo>
                  <a:pt x="344827" y="68866"/>
                </a:lnTo>
                <a:lnTo>
                  <a:pt x="316403" y="84593"/>
                </a:lnTo>
                <a:lnTo>
                  <a:pt x="287791" y="99976"/>
                </a:lnTo>
                <a:lnTo>
                  <a:pt x="258996" y="115014"/>
                </a:lnTo>
                <a:lnTo>
                  <a:pt x="230022" y="129703"/>
                </a:lnTo>
                <a:lnTo>
                  <a:pt x="200874" y="144043"/>
                </a:lnTo>
                <a:lnTo>
                  <a:pt x="171555" y="158031"/>
                </a:lnTo>
                <a:lnTo>
                  <a:pt x="142069" y="171664"/>
                </a:lnTo>
                <a:lnTo>
                  <a:pt x="112422" y="184942"/>
                </a:lnTo>
                <a:lnTo>
                  <a:pt x="82616" y="197861"/>
                </a:lnTo>
                <a:lnTo>
                  <a:pt x="52657" y="210421"/>
                </a:lnTo>
                <a:lnTo>
                  <a:pt x="22550" y="222619"/>
                </a:lnTo>
                <a:lnTo>
                  <a:pt x="0" y="165983"/>
                </a:lnTo>
                <a:lnTo>
                  <a:pt x="29427" y="154061"/>
                </a:lnTo>
                <a:lnTo>
                  <a:pt x="58709" y="141785"/>
                </a:lnTo>
                <a:lnTo>
                  <a:pt x="87841" y="129157"/>
                </a:lnTo>
                <a:lnTo>
                  <a:pt x="116818" y="116180"/>
                </a:lnTo>
                <a:lnTo>
                  <a:pt x="145638" y="102854"/>
                </a:lnTo>
                <a:lnTo>
                  <a:pt x="174294" y="89183"/>
                </a:lnTo>
                <a:lnTo>
                  <a:pt x="202784" y="75167"/>
                </a:lnTo>
                <a:lnTo>
                  <a:pt x="231103" y="60809"/>
                </a:lnTo>
                <a:lnTo>
                  <a:pt x="259247" y="46112"/>
                </a:lnTo>
                <a:lnTo>
                  <a:pt x="287212" y="31076"/>
                </a:lnTo>
                <a:lnTo>
                  <a:pt x="314994" y="15705"/>
                </a:lnTo>
                <a:lnTo>
                  <a:pt x="342589" y="0"/>
                </a:lnTo>
                <a:close/>
              </a:path>
            </a:pathLst>
          </a:custGeom>
          <a:solidFill xmlns:a="http://schemas.openxmlformats.org/drawingml/2006/main">
            <a:srgbClr val="FFFFFF"/>
          </a:solidFill>
          <a:ln xmlns:a="http://schemas.openxmlformats.org/drawingml/2006/main" w="0">
            <a:noFill/>
          </a:ln>
        </p:spPr>
      </p:sp>
      <p:sp>
        <p:nvSpPr>
          <p:cNvPr id="141" name="NonconvexStochasticMirrorDescent-label">
            <a:extLst xmlns:a="http://schemas.openxmlformats.org/drawingml/2006/main">
              <a:ext uri="{FF2B5EF4-FFF2-40B4-BE49-F238E27FC236}">
                <a16:creationId xmlns:a16="http://schemas.microsoft.com/office/drawing/2014/main" id="{72CF8F42-8B7F-4D8B-ADE9-C19E023CB8AD}"/>
              </a:ext>
            </a:extLst>
          </p:cNvPr>
          <p:cNvSpPr>
            <a:spLocks xmlns:a="http://schemas.openxmlformats.org/drawingml/2006/main" noGrp="1"/>
          </p:cNvSpPr>
          <p:nvPr/>
        </p:nvSpPr>
        <p:spPr>
          <a:xfrm xmlns:a="http://schemas.openxmlformats.org/drawingml/2006/main" rot="3849000">
            <a:off x="7389814" y="9984238"/>
            <a:ext cx="124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2-RSMD</a:t>
            </a:r>
          </a:p>
        </p:txBody>
      </p:sp>
      <p:sp>
        <p:nvSpPr>
          <p:cNvPr id="142" name="NonconvexVarianceReducedMirrorDescent-algorithm-3666">
            <a:extLst xmlns:a="http://schemas.openxmlformats.org/drawingml/2006/main">
              <a:ext uri="{FF2B5EF4-FFF2-40B4-BE49-F238E27FC236}">
                <a16:creationId xmlns:a16="http://schemas.microsoft.com/office/drawing/2014/main" id="{27AA6D19-D047-483B-B203-9D78B1A8FF13}"/>
              </a:ext>
            </a:extLst>
          </p:cNvPr>
          <p:cNvSpPr>
            <a:spLocks xmlns:a="http://schemas.openxmlformats.org/drawingml/2006/main" noGrp="1"/>
          </p:cNvSpPr>
          <p:nvPr/>
        </p:nvSpPr>
        <p:spPr>
          <a:xfrm xmlns:a="http://schemas.openxmlformats.org/drawingml/2006/main">
            <a:off x="6678242" y="8737143"/>
            <a:ext cx="556881" cy="677467"/>
          </a:xfrm>
          <a:custGeom xmlns:a="http://schemas.openxmlformats.org/drawingml/2006/main">
            <a:pathLst>
              <a:path w="556881" h="677467">
                <a:moveTo>
                  <a:pt x="556881" y="550078"/>
                </a:moveTo>
                <a:lnTo>
                  <a:pt x="518680" y="564082"/>
                </a:lnTo>
                <a:lnTo>
                  <a:pt x="480307" y="577607"/>
                </a:lnTo>
                <a:lnTo>
                  <a:pt x="441767" y="590651"/>
                </a:lnTo>
                <a:lnTo>
                  <a:pt x="403068" y="603213"/>
                </a:lnTo>
                <a:lnTo>
                  <a:pt x="364214" y="615289"/>
                </a:lnTo>
                <a:lnTo>
                  <a:pt x="325213" y="626879"/>
                </a:lnTo>
                <a:lnTo>
                  <a:pt x="286070" y="637980"/>
                </a:lnTo>
                <a:lnTo>
                  <a:pt x="246790" y="648591"/>
                </a:lnTo>
                <a:lnTo>
                  <a:pt x="207382" y="658710"/>
                </a:lnTo>
                <a:lnTo>
                  <a:pt x="167850" y="668336"/>
                </a:lnTo>
                <a:lnTo>
                  <a:pt x="128200" y="677467"/>
                </a:lnTo>
                <a:lnTo>
                  <a:pt x="0" y="104401"/>
                </a:lnTo>
                <a:lnTo>
                  <a:pt x="32495" y="96918"/>
                </a:lnTo>
                <a:lnTo>
                  <a:pt x="64893" y="89029"/>
                </a:lnTo>
                <a:lnTo>
                  <a:pt x="97190" y="80736"/>
                </a:lnTo>
                <a:lnTo>
                  <a:pt x="129381" y="72040"/>
                </a:lnTo>
                <a:lnTo>
                  <a:pt x="161461" y="62942"/>
                </a:lnTo>
                <a:lnTo>
                  <a:pt x="193425" y="53443"/>
                </a:lnTo>
                <a:lnTo>
                  <a:pt x="225267" y="43546"/>
                </a:lnTo>
                <a:lnTo>
                  <a:pt x="256983" y="33251"/>
                </a:lnTo>
                <a:lnTo>
                  <a:pt x="288568" y="22561"/>
                </a:lnTo>
                <a:lnTo>
                  <a:pt x="320017" y="11477"/>
                </a:lnTo>
                <a:lnTo>
                  <a:pt x="351325" y="0"/>
                </a:lnTo>
                <a:close/>
              </a:path>
            </a:pathLst>
          </a:custGeom>
          <a:gradFill xmlns:a="http://schemas.openxmlformats.org/drawingml/2006/main">
            <a:gsLst>
              <a:gs pos="0">
                <a:srgbClr val="20774E"/>
              </a:gs>
              <a:gs pos="50000">
                <a:srgbClr val="238351"/>
              </a:gs>
              <a:gs pos="100000">
                <a:srgbClr val="409368"/>
              </a:gs>
            </a:gsLst>
            <a:lin ang="4406999"/>
          </a:gradFill>
          <a:ln xmlns:a="http://schemas.openxmlformats.org/drawingml/2006/main" w="0">
            <a:noFill/>
          </a:ln>
        </p:spPr>
      </p:sp>
      <p:sp>
        <p:nvSpPr>
          <p:cNvPr id="143" name="NonconvexVarianceReducedMirrorDescent-algorithm-end">
            <a:extLst xmlns:a="http://schemas.openxmlformats.org/drawingml/2006/main">
              <a:ext uri="{FF2B5EF4-FFF2-40B4-BE49-F238E27FC236}">
                <a16:creationId xmlns:a16="http://schemas.microsoft.com/office/drawing/2014/main" id="{C0BB1198-741C-4100-A9F2-44E1C74F69B9}"/>
              </a:ext>
            </a:extLst>
          </p:cNvPr>
          <p:cNvSpPr>
            <a:spLocks xmlns:a="http://schemas.openxmlformats.org/drawingml/2006/main" noGrp="1"/>
          </p:cNvSpPr>
          <p:nvPr/>
        </p:nvSpPr>
        <p:spPr>
          <a:xfrm xmlns:a="http://schemas.openxmlformats.org/drawingml/2006/main">
            <a:off x="6801036" y="9264023"/>
            <a:ext cx="434087" cy="150586"/>
          </a:xfrm>
          <a:custGeom xmlns:a="http://schemas.openxmlformats.org/drawingml/2006/main">
            <a:pathLst>
              <a:path w="434087" h="150586">
                <a:moveTo>
                  <a:pt x="434087" y="23198"/>
                </a:moveTo>
                <a:lnTo>
                  <a:pt x="395886" y="37202"/>
                </a:lnTo>
                <a:lnTo>
                  <a:pt x="357513" y="50727"/>
                </a:lnTo>
                <a:lnTo>
                  <a:pt x="318973" y="63771"/>
                </a:lnTo>
                <a:lnTo>
                  <a:pt x="280274" y="76332"/>
                </a:lnTo>
                <a:lnTo>
                  <a:pt x="241420" y="88409"/>
                </a:lnTo>
                <a:lnTo>
                  <a:pt x="202419" y="99999"/>
                </a:lnTo>
                <a:lnTo>
                  <a:pt x="163276" y="111100"/>
                </a:lnTo>
                <a:lnTo>
                  <a:pt x="123997" y="121711"/>
                </a:lnTo>
                <a:lnTo>
                  <a:pt x="84588" y="131830"/>
                </a:lnTo>
                <a:lnTo>
                  <a:pt x="45056" y="141456"/>
                </a:lnTo>
                <a:lnTo>
                  <a:pt x="5407" y="150586"/>
                </a:lnTo>
                <a:lnTo>
                  <a:pt x="0" y="126419"/>
                </a:lnTo>
                <a:lnTo>
                  <a:pt x="39348" y="117358"/>
                </a:lnTo>
                <a:lnTo>
                  <a:pt x="78579" y="107805"/>
                </a:lnTo>
                <a:lnTo>
                  <a:pt x="117688" y="97763"/>
                </a:lnTo>
                <a:lnTo>
                  <a:pt x="156668" y="87233"/>
                </a:lnTo>
                <a:lnTo>
                  <a:pt x="195513" y="76216"/>
                </a:lnTo>
                <a:lnTo>
                  <a:pt x="234218" y="64715"/>
                </a:lnTo>
                <a:lnTo>
                  <a:pt x="272776" y="52730"/>
                </a:lnTo>
                <a:lnTo>
                  <a:pt x="311181" y="40264"/>
                </a:lnTo>
                <a:lnTo>
                  <a:pt x="349427" y="27319"/>
                </a:lnTo>
                <a:lnTo>
                  <a:pt x="387508" y="13897"/>
                </a:lnTo>
                <a:lnTo>
                  <a:pt x="425419" y="0"/>
                </a:lnTo>
                <a:close/>
              </a:path>
            </a:pathLst>
          </a:custGeom>
          <a:solidFill xmlns:a="http://schemas.openxmlformats.org/drawingml/2006/main">
            <a:srgbClr val="20774D"/>
          </a:solidFill>
          <a:ln xmlns:a="http://schemas.openxmlformats.org/drawingml/2006/main" w="0">
            <a:noFill/>
          </a:ln>
        </p:spPr>
      </p:sp>
      <p:sp>
        <p:nvSpPr>
          <p:cNvPr id="144" name="NonconvexVarianceReducedMirrorDescent-reuse-3426">
            <a:extLst xmlns:a="http://schemas.openxmlformats.org/drawingml/2006/main">
              <a:ext uri="{FF2B5EF4-FFF2-40B4-BE49-F238E27FC236}">
                <a16:creationId xmlns:a16="http://schemas.microsoft.com/office/drawing/2014/main" id="{E010DF1B-60FC-402D-A442-2C24F7F75E94}"/>
              </a:ext>
            </a:extLst>
          </p:cNvPr>
          <p:cNvSpPr>
            <a:spLocks xmlns:a="http://schemas.openxmlformats.org/drawingml/2006/main" noGrp="1"/>
          </p:cNvSpPr>
          <p:nvPr/>
        </p:nvSpPr>
        <p:spPr>
          <a:xfrm xmlns:a="http://schemas.openxmlformats.org/drawingml/2006/main">
            <a:off x="6535719" y="8125610"/>
            <a:ext cx="493848" cy="715934"/>
          </a:xfrm>
          <a:custGeom xmlns:a="http://schemas.openxmlformats.org/drawingml/2006/main">
            <a:pathLst>
              <a:path w="493848" h="715934">
                <a:moveTo>
                  <a:pt x="493848" y="611533"/>
                </a:moveTo>
                <a:lnTo>
                  <a:pt x="462540" y="623010"/>
                </a:lnTo>
                <a:lnTo>
                  <a:pt x="431091" y="634094"/>
                </a:lnTo>
                <a:lnTo>
                  <a:pt x="399506" y="644785"/>
                </a:lnTo>
                <a:lnTo>
                  <a:pt x="367790" y="655079"/>
                </a:lnTo>
                <a:lnTo>
                  <a:pt x="335948" y="664976"/>
                </a:lnTo>
                <a:lnTo>
                  <a:pt x="303984" y="674475"/>
                </a:lnTo>
                <a:lnTo>
                  <a:pt x="271904" y="683573"/>
                </a:lnTo>
                <a:lnTo>
                  <a:pt x="239713" y="692269"/>
                </a:lnTo>
                <a:lnTo>
                  <a:pt x="207416" y="700562"/>
                </a:lnTo>
                <a:lnTo>
                  <a:pt x="175017" y="708451"/>
                </a:lnTo>
                <a:lnTo>
                  <a:pt x="142523" y="715934"/>
                </a:lnTo>
                <a:lnTo>
                  <a:pt x="0" y="78845"/>
                </a:lnTo>
                <a:lnTo>
                  <a:pt x="24540" y="73194"/>
                </a:lnTo>
                <a:lnTo>
                  <a:pt x="49008" y="67236"/>
                </a:lnTo>
                <a:lnTo>
                  <a:pt x="73400" y="60973"/>
                </a:lnTo>
                <a:lnTo>
                  <a:pt x="97711" y="54406"/>
                </a:lnTo>
                <a:lnTo>
                  <a:pt x="121938" y="47535"/>
                </a:lnTo>
                <a:lnTo>
                  <a:pt x="146078" y="40361"/>
                </a:lnTo>
                <a:lnTo>
                  <a:pt x="170126" y="32887"/>
                </a:lnTo>
                <a:lnTo>
                  <a:pt x="194078" y="25112"/>
                </a:lnTo>
                <a:lnTo>
                  <a:pt x="217932" y="17039"/>
                </a:lnTo>
                <a:lnTo>
                  <a:pt x="241682" y="8667"/>
                </a:lnTo>
                <a:lnTo>
                  <a:pt x="265327" y="0"/>
                </a:lnTo>
                <a:close/>
              </a:path>
            </a:pathLst>
          </a:custGeom>
          <a:gradFill xmlns:a="http://schemas.openxmlformats.org/drawingml/2006/main">
            <a:gsLst>
              <a:gs pos="0">
                <a:srgbClr val="8DBFA5"/>
              </a:gs>
              <a:gs pos="100000">
                <a:srgbClr val="4F9C74"/>
              </a:gs>
            </a:gsLst>
            <a:lin ang="4406999"/>
          </a:gradFill>
          <a:ln xmlns:a="http://schemas.openxmlformats.org/drawingml/2006/main" w="0">
            <a:noFill/>
          </a:ln>
        </p:spPr>
      </p:sp>
      <p:sp>
        <p:nvSpPr>
          <p:cNvPr id="145" name="NonconvexVarianceReducedMirrorDescent-reuse-end">
            <a:extLst xmlns:a="http://schemas.openxmlformats.org/drawingml/2006/main">
              <a:ext uri="{FF2B5EF4-FFF2-40B4-BE49-F238E27FC236}">
                <a16:creationId xmlns:a16="http://schemas.microsoft.com/office/drawing/2014/main" id="{EB7E76CA-A380-4C6E-A7BC-BB97EBC1B05E}"/>
              </a:ext>
            </a:extLst>
          </p:cNvPr>
          <p:cNvSpPr>
            <a:spLocks xmlns:a="http://schemas.openxmlformats.org/drawingml/2006/main" noGrp="1"/>
          </p:cNvSpPr>
          <p:nvPr/>
        </p:nvSpPr>
        <p:spPr>
          <a:xfrm xmlns:a="http://schemas.openxmlformats.org/drawingml/2006/main">
            <a:off x="6535719" y="8125610"/>
            <a:ext cx="273662" cy="102083"/>
          </a:xfrm>
          <a:custGeom xmlns:a="http://schemas.openxmlformats.org/drawingml/2006/main">
            <a:pathLst>
              <a:path w="273662" h="102083">
                <a:moveTo>
                  <a:pt x="273662" y="22306"/>
                </a:moveTo>
                <a:lnTo>
                  <a:pt x="249738" y="31076"/>
                </a:lnTo>
                <a:lnTo>
                  <a:pt x="225707" y="39546"/>
                </a:lnTo>
                <a:lnTo>
                  <a:pt x="201571" y="47715"/>
                </a:lnTo>
                <a:lnTo>
                  <a:pt x="177336" y="55582"/>
                </a:lnTo>
                <a:lnTo>
                  <a:pt x="153003" y="63144"/>
                </a:lnTo>
                <a:lnTo>
                  <a:pt x="128579" y="70403"/>
                </a:lnTo>
                <a:lnTo>
                  <a:pt x="104065" y="77355"/>
                </a:lnTo>
                <a:lnTo>
                  <a:pt x="79466" y="84000"/>
                </a:lnTo>
                <a:lnTo>
                  <a:pt x="54786" y="90337"/>
                </a:lnTo>
                <a:lnTo>
                  <a:pt x="30029" y="96365"/>
                </a:lnTo>
                <a:lnTo>
                  <a:pt x="5199" y="102083"/>
                </a:lnTo>
                <a:lnTo>
                  <a:pt x="0" y="78845"/>
                </a:lnTo>
                <a:lnTo>
                  <a:pt x="24540" y="73194"/>
                </a:lnTo>
                <a:lnTo>
                  <a:pt x="49008" y="67236"/>
                </a:lnTo>
                <a:lnTo>
                  <a:pt x="73400" y="60973"/>
                </a:lnTo>
                <a:lnTo>
                  <a:pt x="97711" y="54406"/>
                </a:lnTo>
                <a:lnTo>
                  <a:pt x="121938" y="47535"/>
                </a:lnTo>
                <a:lnTo>
                  <a:pt x="146078" y="40361"/>
                </a:lnTo>
                <a:lnTo>
                  <a:pt x="170126" y="32887"/>
                </a:lnTo>
                <a:lnTo>
                  <a:pt x="194078" y="25112"/>
                </a:lnTo>
                <a:lnTo>
                  <a:pt x="217932" y="17039"/>
                </a:lnTo>
                <a:lnTo>
                  <a:pt x="241682" y="8667"/>
                </a:lnTo>
                <a:lnTo>
                  <a:pt x="265327" y="0"/>
                </a:lnTo>
                <a:close/>
              </a:path>
            </a:pathLst>
          </a:custGeom>
          <a:solidFill xmlns:a="http://schemas.openxmlformats.org/drawingml/2006/main">
            <a:srgbClr val="398F62"/>
          </a:solidFill>
          <a:ln xmlns:a="http://schemas.openxmlformats.org/drawingml/2006/main" w="0">
            <a:noFill/>
          </a:ln>
        </p:spPr>
      </p:sp>
      <p:sp>
        <p:nvSpPr>
          <p:cNvPr id="146" name="NonconvexVarianceReducedMirrorDescent-baseline-gap">
            <a:extLst xmlns:a="http://schemas.openxmlformats.org/drawingml/2006/main">
              <a:ext uri="{FF2B5EF4-FFF2-40B4-BE49-F238E27FC236}">
                <a16:creationId xmlns:a16="http://schemas.microsoft.com/office/drawing/2014/main" id="{2085C1F6-82CD-43EE-AC3B-305048D3FF59}"/>
              </a:ext>
            </a:extLst>
          </p:cNvPr>
          <p:cNvSpPr>
            <a:spLocks xmlns:a="http://schemas.openxmlformats.org/drawingml/2006/main" noGrp="1"/>
          </p:cNvSpPr>
          <p:nvPr/>
        </p:nvSpPr>
        <p:spPr>
          <a:xfrm xmlns:a="http://schemas.openxmlformats.org/drawingml/2006/main">
            <a:off x="6662603" y="8705355"/>
            <a:ext cx="386447" cy="167973"/>
          </a:xfrm>
          <a:custGeom xmlns:a="http://schemas.openxmlformats.org/drawingml/2006/main">
            <a:pathLst>
              <a:path w="386447" h="167973">
                <a:moveTo>
                  <a:pt x="386447" y="57028"/>
                </a:moveTo>
                <a:lnTo>
                  <a:pt x="355989" y="68323"/>
                </a:lnTo>
                <a:lnTo>
                  <a:pt x="325397" y="79249"/>
                </a:lnTo>
                <a:lnTo>
                  <a:pt x="294675" y="89806"/>
                </a:lnTo>
                <a:lnTo>
                  <a:pt x="263829" y="99993"/>
                </a:lnTo>
                <a:lnTo>
                  <a:pt x="232862" y="109807"/>
                </a:lnTo>
                <a:lnTo>
                  <a:pt x="201779" y="119248"/>
                </a:lnTo>
                <a:lnTo>
                  <a:pt x="170585" y="128314"/>
                </a:lnTo>
                <a:lnTo>
                  <a:pt x="139284" y="137003"/>
                </a:lnTo>
                <a:lnTo>
                  <a:pt x="107880" y="145315"/>
                </a:lnTo>
                <a:lnTo>
                  <a:pt x="76379" y="153248"/>
                </a:lnTo>
                <a:lnTo>
                  <a:pt x="44784" y="160801"/>
                </a:lnTo>
                <a:lnTo>
                  <a:pt x="13101" y="167973"/>
                </a:lnTo>
                <a:lnTo>
                  <a:pt x="0" y="108438"/>
                </a:lnTo>
                <a:lnTo>
                  <a:pt x="30967" y="101428"/>
                </a:lnTo>
                <a:lnTo>
                  <a:pt x="61848" y="94045"/>
                </a:lnTo>
                <a:lnTo>
                  <a:pt x="92637" y="86291"/>
                </a:lnTo>
                <a:lnTo>
                  <a:pt x="123331" y="78167"/>
                </a:lnTo>
                <a:lnTo>
                  <a:pt x="153925" y="69674"/>
                </a:lnTo>
                <a:lnTo>
                  <a:pt x="184415" y="60813"/>
                </a:lnTo>
                <a:lnTo>
                  <a:pt x="214795" y="51586"/>
                </a:lnTo>
                <a:lnTo>
                  <a:pt x="245062" y="41994"/>
                </a:lnTo>
                <a:lnTo>
                  <a:pt x="275211" y="32037"/>
                </a:lnTo>
                <a:lnTo>
                  <a:pt x="305239" y="21718"/>
                </a:lnTo>
                <a:lnTo>
                  <a:pt x="335140" y="11039"/>
                </a:lnTo>
                <a:lnTo>
                  <a:pt x="364910" y="0"/>
                </a:lnTo>
                <a:close/>
              </a:path>
            </a:pathLst>
          </a:custGeom>
          <a:solidFill xmlns:a="http://schemas.openxmlformats.org/drawingml/2006/main">
            <a:srgbClr val="FFFFFF"/>
          </a:solidFill>
          <a:ln xmlns:a="http://schemas.openxmlformats.org/drawingml/2006/main" w="0">
            <a:noFill/>
          </a:ln>
        </p:spPr>
      </p:sp>
      <p:sp>
        <p:nvSpPr>
          <p:cNvPr id="147" name="NonconvexVarianceReducedMirrorDescent-label">
            <a:extLst xmlns:a="http://schemas.openxmlformats.org/drawingml/2006/main">
              <a:ext uri="{FF2B5EF4-FFF2-40B4-BE49-F238E27FC236}">
                <a16:creationId xmlns:a16="http://schemas.microsoft.com/office/drawing/2014/main" id="{4B5D7692-22F8-4F03-8DD2-903099264699}"/>
              </a:ext>
            </a:extLst>
          </p:cNvPr>
          <p:cNvSpPr>
            <a:spLocks xmlns:a="http://schemas.openxmlformats.org/drawingml/2006/main" noGrp="1"/>
          </p:cNvSpPr>
          <p:nvPr/>
        </p:nvSpPr>
        <p:spPr>
          <a:xfrm xmlns:a="http://schemas.openxmlformats.org/drawingml/2006/main" rot="4407000">
            <a:off x="6513676" y="9984597"/>
            <a:ext cx="151536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NC-VRMD</a:t>
            </a:r>
          </a:p>
        </p:txBody>
      </p:sp>
      <p:sp>
        <p:nvSpPr>
          <p:cNvPr id="148" name="RandomizedAcceleratedProximalPoint-algorithm-15800">
            <a:extLst xmlns:a="http://schemas.openxmlformats.org/drawingml/2006/main">
              <a:ext uri="{FF2B5EF4-FFF2-40B4-BE49-F238E27FC236}">
                <a16:creationId xmlns:a16="http://schemas.microsoft.com/office/drawing/2014/main" id="{320AFD3C-5730-4D1B-ACB1-49460E3796E7}"/>
              </a:ext>
            </a:extLst>
          </p:cNvPr>
          <p:cNvSpPr>
            <a:spLocks xmlns:a="http://schemas.openxmlformats.org/drawingml/2006/main" noGrp="1"/>
          </p:cNvSpPr>
          <p:nvPr/>
        </p:nvSpPr>
        <p:spPr>
          <a:xfrm xmlns:a="http://schemas.openxmlformats.org/drawingml/2006/main">
            <a:off x="6249988" y="8855173"/>
            <a:ext cx="600162" cy="1263324"/>
          </a:xfrm>
          <a:custGeom xmlns:a="http://schemas.openxmlformats.org/drawingml/2006/main">
            <a:pathLst>
              <a:path w="600162" h="1263324">
                <a:moveTo>
                  <a:pt x="600162" y="1195928"/>
                </a:moveTo>
                <a:lnTo>
                  <a:pt x="552440" y="1205059"/>
                </a:lnTo>
                <a:lnTo>
                  <a:pt x="504608" y="1213593"/>
                </a:lnTo>
                <a:lnTo>
                  <a:pt x="456673" y="1221528"/>
                </a:lnTo>
                <a:lnTo>
                  <a:pt x="408643" y="1228862"/>
                </a:lnTo>
                <a:lnTo>
                  <a:pt x="360524" y="1235596"/>
                </a:lnTo>
                <a:lnTo>
                  <a:pt x="312325" y="1241728"/>
                </a:lnTo>
                <a:lnTo>
                  <a:pt x="264054" y="1247256"/>
                </a:lnTo>
                <a:lnTo>
                  <a:pt x="215717" y="1252181"/>
                </a:lnTo>
                <a:lnTo>
                  <a:pt x="167322" y="1256501"/>
                </a:lnTo>
                <a:lnTo>
                  <a:pt x="118877" y="1260215"/>
                </a:lnTo>
                <a:lnTo>
                  <a:pt x="70389" y="1263324"/>
                </a:lnTo>
                <a:lnTo>
                  <a:pt x="0" y="46253"/>
                </a:lnTo>
                <a:lnTo>
                  <a:pt x="33277" y="44120"/>
                </a:lnTo>
                <a:lnTo>
                  <a:pt x="66524" y="41570"/>
                </a:lnTo>
                <a:lnTo>
                  <a:pt x="99737" y="38606"/>
                </a:lnTo>
                <a:lnTo>
                  <a:pt x="132910" y="35226"/>
                </a:lnTo>
                <a:lnTo>
                  <a:pt x="166039" y="31432"/>
                </a:lnTo>
                <a:lnTo>
                  <a:pt x="199117" y="27224"/>
                </a:lnTo>
                <a:lnTo>
                  <a:pt x="232141" y="22602"/>
                </a:lnTo>
                <a:lnTo>
                  <a:pt x="265103" y="17568"/>
                </a:lnTo>
                <a:lnTo>
                  <a:pt x="298001" y="12123"/>
                </a:lnTo>
                <a:lnTo>
                  <a:pt x="330828" y="6266"/>
                </a:lnTo>
                <a:lnTo>
                  <a:pt x="363578" y="0"/>
                </a:lnTo>
                <a:close/>
              </a:path>
            </a:pathLst>
          </a:custGeom>
          <a:gradFill xmlns:a="http://schemas.openxmlformats.org/drawingml/2006/main">
            <a:gsLst>
              <a:gs pos="0">
                <a:srgbClr val="20774E"/>
              </a:gs>
              <a:gs pos="50000">
                <a:srgbClr val="238351"/>
              </a:gs>
              <a:gs pos="100000">
                <a:srgbClr val="409368"/>
              </a:gs>
            </a:gsLst>
            <a:lin ang="4965000"/>
          </a:gradFill>
          <a:ln xmlns:a="http://schemas.openxmlformats.org/drawingml/2006/main" w="0">
            <a:noFill/>
          </a:ln>
        </p:spPr>
      </p:sp>
      <p:sp>
        <p:nvSpPr>
          <p:cNvPr id="149" name="RandomizedAcceleratedProximalPoint-algorithm-end">
            <a:extLst xmlns:a="http://schemas.openxmlformats.org/drawingml/2006/main">
              <a:ext uri="{FF2B5EF4-FFF2-40B4-BE49-F238E27FC236}">
                <a16:creationId xmlns:a16="http://schemas.microsoft.com/office/drawing/2014/main" id="{2F697097-4AD5-43EA-8211-D626BB2E4162}"/>
              </a:ext>
            </a:extLst>
          </p:cNvPr>
          <p:cNvSpPr>
            <a:spLocks xmlns:a="http://schemas.openxmlformats.org/drawingml/2006/main" noGrp="1"/>
          </p:cNvSpPr>
          <p:nvPr/>
        </p:nvSpPr>
        <p:spPr>
          <a:xfrm xmlns:a="http://schemas.openxmlformats.org/drawingml/2006/main">
            <a:off x="6318947" y="10026807"/>
            <a:ext cx="531203" cy="91690"/>
          </a:xfrm>
          <a:custGeom xmlns:a="http://schemas.openxmlformats.org/drawingml/2006/main">
            <a:pathLst>
              <a:path w="531203" h="91690">
                <a:moveTo>
                  <a:pt x="531203" y="24294"/>
                </a:moveTo>
                <a:lnTo>
                  <a:pt x="483481" y="33425"/>
                </a:lnTo>
                <a:lnTo>
                  <a:pt x="435649" y="41959"/>
                </a:lnTo>
                <a:lnTo>
                  <a:pt x="387714" y="49893"/>
                </a:lnTo>
                <a:lnTo>
                  <a:pt x="339684" y="57228"/>
                </a:lnTo>
                <a:lnTo>
                  <a:pt x="291565" y="63962"/>
                </a:lnTo>
                <a:lnTo>
                  <a:pt x="243366" y="70094"/>
                </a:lnTo>
                <a:lnTo>
                  <a:pt x="195095" y="75622"/>
                </a:lnTo>
                <a:lnTo>
                  <a:pt x="146758" y="80547"/>
                </a:lnTo>
                <a:lnTo>
                  <a:pt x="98363" y="84867"/>
                </a:lnTo>
                <a:lnTo>
                  <a:pt x="49918" y="88581"/>
                </a:lnTo>
                <a:lnTo>
                  <a:pt x="1430" y="91690"/>
                </a:lnTo>
                <a:lnTo>
                  <a:pt x="0" y="66966"/>
                </a:lnTo>
                <a:lnTo>
                  <a:pt x="48179" y="63877"/>
                </a:lnTo>
                <a:lnTo>
                  <a:pt x="96315" y="60187"/>
                </a:lnTo>
                <a:lnTo>
                  <a:pt x="144402" y="55894"/>
                </a:lnTo>
                <a:lnTo>
                  <a:pt x="192431" y="51001"/>
                </a:lnTo>
                <a:lnTo>
                  <a:pt x="240395" y="45508"/>
                </a:lnTo>
                <a:lnTo>
                  <a:pt x="288286" y="39415"/>
                </a:lnTo>
                <a:lnTo>
                  <a:pt x="336098" y="32724"/>
                </a:lnTo>
                <a:lnTo>
                  <a:pt x="383822" y="25436"/>
                </a:lnTo>
                <a:lnTo>
                  <a:pt x="431452" y="17552"/>
                </a:lnTo>
                <a:lnTo>
                  <a:pt x="478979" y="9073"/>
                </a:lnTo>
                <a:lnTo>
                  <a:pt x="526397" y="0"/>
                </a:lnTo>
                <a:close/>
              </a:path>
            </a:pathLst>
          </a:custGeom>
          <a:solidFill xmlns:a="http://schemas.openxmlformats.org/drawingml/2006/main">
            <a:srgbClr val="20774D"/>
          </a:solidFill>
          <a:ln xmlns:a="http://schemas.openxmlformats.org/drawingml/2006/main" w="0">
            <a:noFill/>
          </a:ln>
        </p:spPr>
      </p:sp>
      <p:sp>
        <p:nvSpPr>
          <p:cNvPr id="150" name="RandomizedAcceleratedProximalPoint-reuse-3386">
            <a:extLst xmlns:a="http://schemas.openxmlformats.org/drawingml/2006/main">
              <a:ext uri="{FF2B5EF4-FFF2-40B4-BE49-F238E27FC236}">
                <a16:creationId xmlns:a16="http://schemas.microsoft.com/office/drawing/2014/main" id="{12884C03-909C-4F09-9714-9FBD80008CB6}"/>
              </a:ext>
            </a:extLst>
          </p:cNvPr>
          <p:cNvSpPr>
            <a:spLocks xmlns:a="http://schemas.openxmlformats.org/drawingml/2006/main" noGrp="1"/>
          </p:cNvSpPr>
          <p:nvPr/>
        </p:nvSpPr>
        <p:spPr>
          <a:xfrm xmlns:a="http://schemas.openxmlformats.org/drawingml/2006/main">
            <a:off x="6212515" y="8218498"/>
            <a:ext cx="401051" cy="682928"/>
          </a:xfrm>
          <a:custGeom xmlns:a="http://schemas.openxmlformats.org/drawingml/2006/main">
            <a:pathLst>
              <a:path w="401051" h="682928">
                <a:moveTo>
                  <a:pt x="401051" y="636675"/>
                </a:moveTo>
                <a:lnTo>
                  <a:pt x="368300" y="642942"/>
                </a:lnTo>
                <a:lnTo>
                  <a:pt x="335474" y="648798"/>
                </a:lnTo>
                <a:lnTo>
                  <a:pt x="302576" y="654244"/>
                </a:lnTo>
                <a:lnTo>
                  <a:pt x="269613" y="659278"/>
                </a:lnTo>
                <a:lnTo>
                  <a:pt x="236590" y="663899"/>
                </a:lnTo>
                <a:lnTo>
                  <a:pt x="203512" y="668107"/>
                </a:lnTo>
                <a:lnTo>
                  <a:pt x="170383" y="671901"/>
                </a:lnTo>
                <a:lnTo>
                  <a:pt x="137210" y="675281"/>
                </a:lnTo>
                <a:lnTo>
                  <a:pt x="103997" y="678246"/>
                </a:lnTo>
                <a:lnTo>
                  <a:pt x="70750" y="680795"/>
                </a:lnTo>
                <a:lnTo>
                  <a:pt x="37473" y="682928"/>
                </a:lnTo>
                <a:lnTo>
                  <a:pt x="0" y="34997"/>
                </a:lnTo>
                <a:lnTo>
                  <a:pt x="25179" y="33383"/>
                </a:lnTo>
                <a:lnTo>
                  <a:pt x="50336" y="31454"/>
                </a:lnTo>
                <a:lnTo>
                  <a:pt x="75466" y="29211"/>
                </a:lnTo>
                <a:lnTo>
                  <a:pt x="100567" y="26654"/>
                </a:lnTo>
                <a:lnTo>
                  <a:pt x="125633" y="23783"/>
                </a:lnTo>
                <a:lnTo>
                  <a:pt x="150662" y="20599"/>
                </a:lnTo>
                <a:lnTo>
                  <a:pt x="175649" y="17102"/>
                </a:lnTo>
                <a:lnTo>
                  <a:pt x="200591" y="13293"/>
                </a:lnTo>
                <a:lnTo>
                  <a:pt x="225482" y="9173"/>
                </a:lnTo>
                <a:lnTo>
                  <a:pt x="250321" y="4741"/>
                </a:lnTo>
                <a:lnTo>
                  <a:pt x="275102" y="0"/>
                </a:lnTo>
                <a:close/>
              </a:path>
            </a:pathLst>
          </a:custGeom>
          <a:gradFill xmlns:a="http://schemas.openxmlformats.org/drawingml/2006/main">
            <a:gsLst>
              <a:gs pos="0">
                <a:srgbClr val="8DBFA5"/>
              </a:gs>
              <a:gs pos="100000">
                <a:srgbClr val="4F9C74"/>
              </a:gs>
            </a:gsLst>
            <a:lin ang="4965000"/>
          </a:gradFill>
          <a:ln xmlns:a="http://schemas.openxmlformats.org/drawingml/2006/main" w="0">
            <a:noFill/>
          </a:ln>
        </p:spPr>
      </p:sp>
      <p:sp>
        <p:nvSpPr>
          <p:cNvPr id="151" name="RandomizedAcceleratedProximalPoint-reuse-end">
            <a:extLst xmlns:a="http://schemas.openxmlformats.org/drawingml/2006/main">
              <a:ext uri="{FF2B5EF4-FFF2-40B4-BE49-F238E27FC236}">
                <a16:creationId xmlns:a16="http://schemas.microsoft.com/office/drawing/2014/main" id="{545453A6-1F99-49E9-8D23-71A1D3049387}"/>
              </a:ext>
            </a:extLst>
          </p:cNvPr>
          <p:cNvSpPr>
            <a:spLocks xmlns:a="http://schemas.openxmlformats.org/drawingml/2006/main" noGrp="1"/>
          </p:cNvSpPr>
          <p:nvPr/>
        </p:nvSpPr>
        <p:spPr>
          <a:xfrm xmlns:a="http://schemas.openxmlformats.org/drawingml/2006/main">
            <a:off x="6212515" y="8218498"/>
            <a:ext cx="279723" cy="58770"/>
          </a:xfrm>
          <a:custGeom xmlns:a="http://schemas.openxmlformats.org/drawingml/2006/main">
            <a:pathLst>
              <a:path w="279723" h="58770">
                <a:moveTo>
                  <a:pt x="279723" y="23360"/>
                </a:moveTo>
                <a:lnTo>
                  <a:pt x="254649" y="28157"/>
                </a:lnTo>
                <a:lnTo>
                  <a:pt x="229518" y="32641"/>
                </a:lnTo>
                <a:lnTo>
                  <a:pt x="204332" y="36810"/>
                </a:lnTo>
                <a:lnTo>
                  <a:pt x="179097" y="40664"/>
                </a:lnTo>
                <a:lnTo>
                  <a:pt x="153815" y="44202"/>
                </a:lnTo>
                <a:lnTo>
                  <a:pt x="128491" y="47423"/>
                </a:lnTo>
                <a:lnTo>
                  <a:pt x="103128" y="50328"/>
                </a:lnTo>
                <a:lnTo>
                  <a:pt x="77732" y="52916"/>
                </a:lnTo>
                <a:lnTo>
                  <a:pt x="52304" y="55185"/>
                </a:lnTo>
                <a:lnTo>
                  <a:pt x="26851" y="57137"/>
                </a:lnTo>
                <a:lnTo>
                  <a:pt x="1375" y="58770"/>
                </a:lnTo>
                <a:lnTo>
                  <a:pt x="0" y="34997"/>
                </a:lnTo>
                <a:lnTo>
                  <a:pt x="25179" y="33383"/>
                </a:lnTo>
                <a:lnTo>
                  <a:pt x="50336" y="31454"/>
                </a:lnTo>
                <a:lnTo>
                  <a:pt x="75466" y="29211"/>
                </a:lnTo>
                <a:lnTo>
                  <a:pt x="100567" y="26654"/>
                </a:lnTo>
                <a:lnTo>
                  <a:pt x="125633" y="23783"/>
                </a:lnTo>
                <a:lnTo>
                  <a:pt x="150662" y="20599"/>
                </a:lnTo>
                <a:lnTo>
                  <a:pt x="175649" y="17102"/>
                </a:lnTo>
                <a:lnTo>
                  <a:pt x="200591" y="13293"/>
                </a:lnTo>
                <a:lnTo>
                  <a:pt x="225482" y="9173"/>
                </a:lnTo>
                <a:lnTo>
                  <a:pt x="250321" y="4741"/>
                </a:lnTo>
                <a:lnTo>
                  <a:pt x="275102" y="0"/>
                </a:lnTo>
                <a:close/>
              </a:path>
            </a:pathLst>
          </a:custGeom>
          <a:solidFill xmlns:a="http://schemas.openxmlformats.org/drawingml/2006/main">
            <a:srgbClr val="398F62"/>
          </a:solidFill>
          <a:ln xmlns:a="http://schemas.openxmlformats.org/drawingml/2006/main" w="0">
            <a:noFill/>
          </a:ln>
        </p:spPr>
      </p:sp>
      <p:sp>
        <p:nvSpPr>
          <p:cNvPr id="152" name="RandomizedAcceleratedProximalPoint-inbar-tick-5000">
            <a:extLst xmlns:a="http://schemas.openxmlformats.org/drawingml/2006/main">
              <a:ext uri="{FF2B5EF4-FFF2-40B4-BE49-F238E27FC236}">
                <a16:creationId xmlns:a16="http://schemas.microsoft.com/office/drawing/2014/main" id="{005E75F9-8B01-4CD0-974F-8B21BF64D11D}"/>
              </a:ext>
            </a:extLst>
          </p:cNvPr>
          <p:cNvSpPr>
            <a:spLocks xmlns:a="http://schemas.openxmlformats.org/drawingml/2006/main" noGrp="1"/>
          </p:cNvSpPr>
          <p:nvPr/>
        </p:nvSpPr>
        <p:spPr>
          <a:xfrm xmlns:a="http://schemas.openxmlformats.org/drawingml/2006/main">
            <a:off x="6289227" y="9521862"/>
            <a:ext cx="458629" cy="70401"/>
          </a:xfrm>
          <a:custGeom xmlns:a="http://schemas.openxmlformats.org/drawingml/2006/main">
            <a:pathLst>
              <a:path w="458629" h="70401">
                <a:moveTo>
                  <a:pt x="458629" y="12147"/>
                </a:moveTo>
                <a:lnTo>
                  <a:pt x="417380" y="20039"/>
                </a:lnTo>
                <a:lnTo>
                  <a:pt x="376036" y="27415"/>
                </a:lnTo>
                <a:lnTo>
                  <a:pt x="334603" y="34274"/>
                </a:lnTo>
                <a:lnTo>
                  <a:pt x="293088" y="40614"/>
                </a:lnTo>
                <a:lnTo>
                  <a:pt x="251496" y="46434"/>
                </a:lnTo>
                <a:lnTo>
                  <a:pt x="209835" y="51734"/>
                </a:lnTo>
                <a:lnTo>
                  <a:pt x="168111" y="56513"/>
                </a:lnTo>
                <a:lnTo>
                  <a:pt x="126330" y="60770"/>
                </a:lnTo>
                <a:lnTo>
                  <a:pt x="84500" y="64504"/>
                </a:lnTo>
                <a:lnTo>
                  <a:pt x="42626" y="67714"/>
                </a:lnTo>
                <a:lnTo>
                  <a:pt x="715" y="70401"/>
                </a:lnTo>
                <a:lnTo>
                  <a:pt x="0" y="58039"/>
                </a:lnTo>
                <a:lnTo>
                  <a:pt x="41756" y="55362"/>
                </a:lnTo>
                <a:lnTo>
                  <a:pt x="83476" y="52163"/>
                </a:lnTo>
                <a:lnTo>
                  <a:pt x="125152" y="48443"/>
                </a:lnTo>
                <a:lnTo>
                  <a:pt x="166779" y="44202"/>
                </a:lnTo>
                <a:lnTo>
                  <a:pt x="208349" y="39441"/>
                </a:lnTo>
                <a:lnTo>
                  <a:pt x="249857" y="34161"/>
                </a:lnTo>
                <a:lnTo>
                  <a:pt x="291295" y="28362"/>
                </a:lnTo>
                <a:lnTo>
                  <a:pt x="332657" y="22045"/>
                </a:lnTo>
                <a:lnTo>
                  <a:pt x="373938" y="15212"/>
                </a:lnTo>
                <a:lnTo>
                  <a:pt x="415129" y="7863"/>
                </a:lnTo>
                <a:lnTo>
                  <a:pt x="456226" y="0"/>
                </a:lnTo>
                <a:close/>
              </a:path>
            </a:pathLst>
          </a:custGeom>
          <a:solidFill xmlns:a="http://schemas.openxmlformats.org/drawingml/2006/main">
            <a:srgbClr val="BBD9C9"/>
          </a:solidFill>
          <a:ln xmlns:a="http://schemas.openxmlformats.org/drawingml/2006/main" w="0">
            <a:noFill/>
          </a:ln>
        </p:spPr>
      </p:sp>
      <p:sp>
        <p:nvSpPr>
          <p:cNvPr id="153" name="RandomizedAcceleratedProximalPoint-baseline-gap">
            <a:extLst xmlns:a="http://schemas.openxmlformats.org/drawingml/2006/main">
              <a:ext uri="{FF2B5EF4-FFF2-40B4-BE49-F238E27FC236}">
                <a16:creationId xmlns:a16="http://schemas.microsoft.com/office/drawing/2014/main" id="{27170E7A-A66F-418C-A4AD-C94D88C02F32}"/>
              </a:ext>
            </a:extLst>
          </p:cNvPr>
          <p:cNvSpPr>
            <a:spLocks xmlns:a="http://schemas.openxmlformats.org/drawingml/2006/main" noGrp="1"/>
          </p:cNvSpPr>
          <p:nvPr/>
        </p:nvSpPr>
        <p:spPr>
          <a:xfrm xmlns:a="http://schemas.openxmlformats.org/drawingml/2006/main">
            <a:off x="6239039" y="8823470"/>
            <a:ext cx="389676" cy="108912"/>
          </a:xfrm>
          <a:custGeom xmlns:a="http://schemas.openxmlformats.org/drawingml/2006/main">
            <a:pathLst>
              <a:path w="389676" h="108912">
                <a:moveTo>
                  <a:pt x="389676" y="59759"/>
                </a:moveTo>
                <a:lnTo>
                  <a:pt x="357793" y="65983"/>
                </a:lnTo>
                <a:lnTo>
                  <a:pt x="325837" y="71822"/>
                </a:lnTo>
                <a:lnTo>
                  <a:pt x="293813" y="77276"/>
                </a:lnTo>
                <a:lnTo>
                  <a:pt x="261726" y="82344"/>
                </a:lnTo>
                <a:lnTo>
                  <a:pt x="229580" y="87025"/>
                </a:lnTo>
                <a:lnTo>
                  <a:pt x="197380" y="91318"/>
                </a:lnTo>
                <a:lnTo>
                  <a:pt x="165131" y="95223"/>
                </a:lnTo>
                <a:lnTo>
                  <a:pt x="132837" y="98740"/>
                </a:lnTo>
                <a:lnTo>
                  <a:pt x="100502" y="101868"/>
                </a:lnTo>
                <a:lnTo>
                  <a:pt x="68133" y="104606"/>
                </a:lnTo>
                <a:lnTo>
                  <a:pt x="35733" y="106954"/>
                </a:lnTo>
                <a:lnTo>
                  <a:pt x="3307" y="108912"/>
                </a:lnTo>
                <a:lnTo>
                  <a:pt x="0" y="48042"/>
                </a:lnTo>
                <a:lnTo>
                  <a:pt x="31693" y="46128"/>
                </a:lnTo>
                <a:lnTo>
                  <a:pt x="63361" y="43833"/>
                </a:lnTo>
                <a:lnTo>
                  <a:pt x="94999" y="41157"/>
                </a:lnTo>
                <a:lnTo>
                  <a:pt x="126602" y="38100"/>
                </a:lnTo>
                <a:lnTo>
                  <a:pt x="158166" y="34663"/>
                </a:lnTo>
                <a:lnTo>
                  <a:pt x="189687" y="30845"/>
                </a:lnTo>
                <a:lnTo>
                  <a:pt x="221159" y="26649"/>
                </a:lnTo>
                <a:lnTo>
                  <a:pt x="252578" y="22074"/>
                </a:lnTo>
                <a:lnTo>
                  <a:pt x="283941" y="17120"/>
                </a:lnTo>
                <a:lnTo>
                  <a:pt x="315241" y="11790"/>
                </a:lnTo>
                <a:lnTo>
                  <a:pt x="346474" y="6083"/>
                </a:lnTo>
                <a:lnTo>
                  <a:pt x="377637" y="0"/>
                </a:lnTo>
                <a:close/>
              </a:path>
            </a:pathLst>
          </a:custGeom>
          <a:solidFill xmlns:a="http://schemas.openxmlformats.org/drawingml/2006/main">
            <a:srgbClr val="FFFFFF"/>
          </a:solidFill>
          <a:ln xmlns:a="http://schemas.openxmlformats.org/drawingml/2006/main" w="0">
            <a:noFill/>
          </a:ln>
        </p:spPr>
      </p:sp>
      <p:sp>
        <p:nvSpPr>
          <p:cNvPr id="154" name="RandomizedAcceleratedProximalPoint-label">
            <a:extLst xmlns:a="http://schemas.openxmlformats.org/drawingml/2006/main">
              <a:ext uri="{FF2B5EF4-FFF2-40B4-BE49-F238E27FC236}">
                <a16:creationId xmlns:a16="http://schemas.microsoft.com/office/drawing/2014/main" id="{52C9EA0E-09F7-4777-A6EB-8FB0E6E7B4A7}"/>
              </a:ext>
            </a:extLst>
          </p:cNvPr>
          <p:cNvSpPr>
            <a:spLocks xmlns:a="http://schemas.openxmlformats.org/drawingml/2006/main" noGrp="1"/>
          </p:cNvSpPr>
          <p:nvPr/>
        </p:nvSpPr>
        <p:spPr>
          <a:xfrm xmlns:a="http://schemas.openxmlformats.org/drawingml/2006/main" rot="4965000">
            <a:off x="6027213" y="10648979"/>
            <a:ext cx="131296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F744C"/>
                </a:solidFill>
                <a:latin typeface="Arial"/>
                <a:ea typeface="Arial"/>
                <a:cs typeface="Arial"/>
              </a:defRPr>
            </a:pPr>
            <a:r>
              <a:rPr sz="2400" b="0">
                <a:solidFill>
                  <a:srgbClr val="1F744C"/>
                </a:solidFill>
                <a:latin typeface="Arial"/>
                <a:ea typeface="Arial"/>
                <a:cs typeface="Arial"/>
              </a:rPr>
              <a:t>RapGrad</a:t>
            </a:r>
          </a:p>
        </p:txBody>
      </p:sp>
      <p:sp>
        <p:nvSpPr>
          <p:cNvPr id="155" name="StochasticConditionalGradientSliding-algorithm-4859">
            <a:extLst xmlns:a="http://schemas.openxmlformats.org/drawingml/2006/main">
              <a:ext uri="{FF2B5EF4-FFF2-40B4-BE49-F238E27FC236}">
                <a16:creationId xmlns:a16="http://schemas.microsoft.com/office/drawing/2014/main" id="{308526BB-AF20-4087-9BFA-3F498F4F3CA5}"/>
              </a:ext>
            </a:extLst>
          </p:cNvPr>
          <p:cNvSpPr>
            <a:spLocks xmlns:a="http://schemas.openxmlformats.org/drawingml/2006/main" noGrp="1"/>
          </p:cNvSpPr>
          <p:nvPr/>
        </p:nvSpPr>
        <p:spPr>
          <a:xfrm xmlns:a="http://schemas.openxmlformats.org/drawingml/2006/main">
            <a:off x="5631314" y="8879985"/>
            <a:ext cx="459566" cy="701945"/>
          </a:xfrm>
          <a:custGeom xmlns:a="http://schemas.openxmlformats.org/drawingml/2006/main">
            <a:pathLst>
              <a:path w="459566" h="701945">
                <a:moveTo>
                  <a:pt x="458268" y="701945"/>
                </a:moveTo>
                <a:lnTo>
                  <a:pt x="416472" y="701604"/>
                </a:lnTo>
                <a:lnTo>
                  <a:pt x="374683" y="700740"/>
                </a:lnTo>
                <a:lnTo>
                  <a:pt x="332908" y="699353"/>
                </a:lnTo>
                <a:lnTo>
                  <a:pt x="291154" y="697444"/>
                </a:lnTo>
                <a:lnTo>
                  <a:pt x="249427" y="695014"/>
                </a:lnTo>
                <a:lnTo>
                  <a:pt x="207734" y="692062"/>
                </a:lnTo>
                <a:lnTo>
                  <a:pt x="166081" y="688589"/>
                </a:lnTo>
                <a:lnTo>
                  <a:pt x="124474" y="684595"/>
                </a:lnTo>
                <a:lnTo>
                  <a:pt x="82921" y="680082"/>
                </a:lnTo>
                <a:lnTo>
                  <a:pt x="41427" y="675049"/>
                </a:lnTo>
                <a:lnTo>
                  <a:pt x="0" y="669498"/>
                </a:lnTo>
                <a:lnTo>
                  <a:pt x="93973" y="0"/>
                </a:lnTo>
                <a:lnTo>
                  <a:pt x="127022" y="4428"/>
                </a:lnTo>
                <a:lnTo>
                  <a:pt x="160125" y="8443"/>
                </a:lnTo>
                <a:lnTo>
                  <a:pt x="193275" y="12044"/>
                </a:lnTo>
                <a:lnTo>
                  <a:pt x="226467" y="15230"/>
                </a:lnTo>
                <a:lnTo>
                  <a:pt x="259697" y="18001"/>
                </a:lnTo>
                <a:lnTo>
                  <a:pt x="292959" y="20356"/>
                </a:lnTo>
                <a:lnTo>
                  <a:pt x="326247" y="22295"/>
                </a:lnTo>
                <a:lnTo>
                  <a:pt x="359558" y="23818"/>
                </a:lnTo>
                <a:lnTo>
                  <a:pt x="392884" y="24924"/>
                </a:lnTo>
                <a:lnTo>
                  <a:pt x="426222" y="25613"/>
                </a:lnTo>
                <a:lnTo>
                  <a:pt x="459566" y="25885"/>
                </a:lnTo>
                <a:close/>
              </a:path>
            </a:pathLst>
          </a:custGeom>
          <a:gradFill xmlns:a="http://schemas.openxmlformats.org/drawingml/2006/main">
            <a:gsLst>
              <a:gs pos="0">
                <a:srgbClr val="08728F"/>
              </a:gs>
              <a:gs pos="50000">
                <a:srgbClr val="087D9B"/>
              </a:gs>
              <a:gs pos="100000">
                <a:srgbClr val="288EA8"/>
              </a:gs>
            </a:gsLst>
            <a:lin ang="5642999"/>
          </a:gradFill>
          <a:ln xmlns:a="http://schemas.openxmlformats.org/drawingml/2006/main" w="0">
            <a:noFill/>
          </a:ln>
        </p:spPr>
      </p:sp>
      <p:sp>
        <p:nvSpPr>
          <p:cNvPr id="156" name="StochasticConditionalGradientSliding-algorithm-end">
            <a:extLst xmlns:a="http://schemas.openxmlformats.org/drawingml/2006/main">
              <a:ext uri="{FF2B5EF4-FFF2-40B4-BE49-F238E27FC236}">
                <a16:creationId xmlns:a16="http://schemas.microsoft.com/office/drawing/2014/main" id="{AA0A35E5-4CD9-4D3E-8427-FFEE6A954EAE}"/>
              </a:ext>
            </a:extLst>
          </p:cNvPr>
          <p:cNvSpPr>
            <a:spLocks xmlns:a="http://schemas.openxmlformats.org/drawingml/2006/main" noGrp="1"/>
          </p:cNvSpPr>
          <p:nvPr/>
        </p:nvSpPr>
        <p:spPr>
          <a:xfrm xmlns:a="http://schemas.openxmlformats.org/drawingml/2006/main">
            <a:off x="5631314" y="9524958"/>
            <a:ext cx="458316" cy="56972"/>
          </a:xfrm>
          <a:custGeom xmlns:a="http://schemas.openxmlformats.org/drawingml/2006/main">
            <a:pathLst>
              <a:path w="458316" h="56972">
                <a:moveTo>
                  <a:pt x="458268" y="56972"/>
                </a:moveTo>
                <a:lnTo>
                  <a:pt x="416472" y="56630"/>
                </a:lnTo>
                <a:lnTo>
                  <a:pt x="374683" y="55766"/>
                </a:lnTo>
                <a:lnTo>
                  <a:pt x="332908" y="54380"/>
                </a:lnTo>
                <a:lnTo>
                  <a:pt x="291154" y="52471"/>
                </a:lnTo>
                <a:lnTo>
                  <a:pt x="249427" y="50040"/>
                </a:lnTo>
                <a:lnTo>
                  <a:pt x="207734" y="47088"/>
                </a:lnTo>
                <a:lnTo>
                  <a:pt x="166081" y="43615"/>
                </a:lnTo>
                <a:lnTo>
                  <a:pt x="124474" y="39622"/>
                </a:lnTo>
                <a:lnTo>
                  <a:pt x="82921" y="35108"/>
                </a:lnTo>
                <a:lnTo>
                  <a:pt x="41427" y="30076"/>
                </a:lnTo>
                <a:lnTo>
                  <a:pt x="0" y="24525"/>
                </a:lnTo>
                <a:lnTo>
                  <a:pt x="3442" y="0"/>
                </a:lnTo>
                <a:lnTo>
                  <a:pt x="44563" y="5510"/>
                </a:lnTo>
                <a:lnTo>
                  <a:pt x="85749" y="10505"/>
                </a:lnTo>
                <a:lnTo>
                  <a:pt x="126995" y="14985"/>
                </a:lnTo>
                <a:lnTo>
                  <a:pt x="168293" y="18949"/>
                </a:lnTo>
                <a:lnTo>
                  <a:pt x="209637" y="22397"/>
                </a:lnTo>
                <a:lnTo>
                  <a:pt x="251022" y="25327"/>
                </a:lnTo>
                <a:lnTo>
                  <a:pt x="292440" y="27739"/>
                </a:lnTo>
                <a:lnTo>
                  <a:pt x="333885" y="29634"/>
                </a:lnTo>
                <a:lnTo>
                  <a:pt x="375350" y="31010"/>
                </a:lnTo>
                <a:lnTo>
                  <a:pt x="416829" y="31868"/>
                </a:lnTo>
                <a:lnTo>
                  <a:pt x="458316" y="32207"/>
                </a:lnTo>
                <a:close/>
              </a:path>
            </a:pathLst>
          </a:custGeom>
          <a:solidFill xmlns:a="http://schemas.openxmlformats.org/drawingml/2006/main">
            <a:srgbClr val="08718E"/>
          </a:solidFill>
          <a:ln xmlns:a="http://schemas.openxmlformats.org/drawingml/2006/main" w="0">
            <a:noFill/>
          </a:ln>
        </p:spPr>
      </p:sp>
      <p:sp>
        <p:nvSpPr>
          <p:cNvPr id="157" name="StochasticConditionalGradientSliding-reuse-1326">
            <a:extLst xmlns:a="http://schemas.openxmlformats.org/drawingml/2006/main">
              <a:ext uri="{FF2B5EF4-FFF2-40B4-BE49-F238E27FC236}">
                <a16:creationId xmlns:a16="http://schemas.microsoft.com/office/drawing/2014/main" id="{D8942B3E-516D-4294-915A-8CA2C134B5C2}"/>
              </a:ext>
            </a:extLst>
          </p:cNvPr>
          <p:cNvSpPr>
            <a:spLocks xmlns:a="http://schemas.openxmlformats.org/drawingml/2006/main" noGrp="1"/>
          </p:cNvSpPr>
          <p:nvPr/>
        </p:nvSpPr>
        <p:spPr>
          <a:xfrm xmlns:a="http://schemas.openxmlformats.org/drawingml/2006/main">
            <a:off x="5725286" y="8477781"/>
            <a:ext cx="366373" cy="428089"/>
          </a:xfrm>
          <a:custGeom xmlns:a="http://schemas.openxmlformats.org/drawingml/2006/main">
            <a:pathLst>
              <a:path w="366373" h="428089">
                <a:moveTo>
                  <a:pt x="365593" y="428089"/>
                </a:moveTo>
                <a:lnTo>
                  <a:pt x="332250" y="427816"/>
                </a:lnTo>
                <a:lnTo>
                  <a:pt x="298912" y="427127"/>
                </a:lnTo>
                <a:lnTo>
                  <a:pt x="265585" y="426021"/>
                </a:lnTo>
                <a:lnTo>
                  <a:pt x="232275" y="424498"/>
                </a:lnTo>
                <a:lnTo>
                  <a:pt x="198986" y="422559"/>
                </a:lnTo>
                <a:lnTo>
                  <a:pt x="165724" y="420204"/>
                </a:lnTo>
                <a:lnTo>
                  <a:pt x="132495" y="417433"/>
                </a:lnTo>
                <a:lnTo>
                  <a:pt x="99302" y="414247"/>
                </a:lnTo>
                <a:lnTo>
                  <a:pt x="66152" y="410647"/>
                </a:lnTo>
                <a:lnTo>
                  <a:pt x="33050" y="406632"/>
                </a:lnTo>
                <a:lnTo>
                  <a:pt x="0" y="402203"/>
                </a:lnTo>
                <a:lnTo>
                  <a:pt x="56454" y="0"/>
                </a:lnTo>
                <a:lnTo>
                  <a:pt x="84471" y="3754"/>
                </a:lnTo>
                <a:lnTo>
                  <a:pt x="112532" y="7158"/>
                </a:lnTo>
                <a:lnTo>
                  <a:pt x="140634" y="10210"/>
                </a:lnTo>
                <a:lnTo>
                  <a:pt x="168772" y="12911"/>
                </a:lnTo>
                <a:lnTo>
                  <a:pt x="196941" y="15260"/>
                </a:lnTo>
                <a:lnTo>
                  <a:pt x="225138" y="17256"/>
                </a:lnTo>
                <a:lnTo>
                  <a:pt x="253357" y="18900"/>
                </a:lnTo>
                <a:lnTo>
                  <a:pt x="281595" y="20190"/>
                </a:lnTo>
                <a:lnTo>
                  <a:pt x="309846" y="21128"/>
                </a:lnTo>
                <a:lnTo>
                  <a:pt x="338107" y="21712"/>
                </a:lnTo>
                <a:lnTo>
                  <a:pt x="366373" y="21943"/>
                </a:lnTo>
                <a:close/>
              </a:path>
            </a:pathLst>
          </a:custGeom>
          <a:gradFill xmlns:a="http://schemas.openxmlformats.org/drawingml/2006/main">
            <a:gsLst>
              <a:gs pos="0">
                <a:srgbClr val="7FBBCB"/>
              </a:gs>
              <a:gs pos="100000">
                <a:srgbClr val="3997AF"/>
              </a:gs>
            </a:gsLst>
            <a:lin ang="5642999"/>
          </a:gradFill>
          <a:ln xmlns:a="http://schemas.openxmlformats.org/drawingml/2006/main" w="0">
            <a:noFill/>
          </a:ln>
        </p:spPr>
      </p:sp>
      <p:sp>
        <p:nvSpPr>
          <p:cNvPr id="158" name="StochasticConditionalGradientSliding-reuse-end">
            <a:extLst xmlns:a="http://schemas.openxmlformats.org/drawingml/2006/main">
              <a:ext uri="{FF2B5EF4-FFF2-40B4-BE49-F238E27FC236}">
                <a16:creationId xmlns:a16="http://schemas.microsoft.com/office/drawing/2014/main" id="{8EC494BA-CBD2-4F29-89BC-F9D42F092F2A}"/>
              </a:ext>
            </a:extLst>
          </p:cNvPr>
          <p:cNvSpPr>
            <a:spLocks xmlns:a="http://schemas.openxmlformats.org/drawingml/2006/main" noGrp="1"/>
          </p:cNvSpPr>
          <p:nvPr/>
        </p:nvSpPr>
        <p:spPr>
          <a:xfrm xmlns:a="http://schemas.openxmlformats.org/drawingml/2006/main">
            <a:off x="5778431" y="8477781"/>
            <a:ext cx="313229" cy="45756"/>
          </a:xfrm>
          <a:custGeom xmlns:a="http://schemas.openxmlformats.org/drawingml/2006/main">
            <a:pathLst>
              <a:path w="313229" h="45756">
                <a:moveTo>
                  <a:pt x="313183" y="45756"/>
                </a:moveTo>
                <a:lnTo>
                  <a:pt x="284619" y="45522"/>
                </a:lnTo>
                <a:lnTo>
                  <a:pt x="256061" y="44932"/>
                </a:lnTo>
                <a:lnTo>
                  <a:pt x="227511" y="43984"/>
                </a:lnTo>
                <a:lnTo>
                  <a:pt x="198976" y="42680"/>
                </a:lnTo>
                <a:lnTo>
                  <a:pt x="170460" y="41019"/>
                </a:lnTo>
                <a:lnTo>
                  <a:pt x="141967" y="39002"/>
                </a:lnTo>
                <a:lnTo>
                  <a:pt x="113501" y="36628"/>
                </a:lnTo>
                <a:lnTo>
                  <a:pt x="85066" y="33899"/>
                </a:lnTo>
                <a:lnTo>
                  <a:pt x="56669" y="30814"/>
                </a:lnTo>
                <a:lnTo>
                  <a:pt x="28312" y="27375"/>
                </a:lnTo>
                <a:lnTo>
                  <a:pt x="0" y="23581"/>
                </a:lnTo>
                <a:lnTo>
                  <a:pt x="3310" y="0"/>
                </a:lnTo>
                <a:lnTo>
                  <a:pt x="31327" y="3754"/>
                </a:lnTo>
                <a:lnTo>
                  <a:pt x="59388" y="7158"/>
                </a:lnTo>
                <a:lnTo>
                  <a:pt x="87490" y="10210"/>
                </a:lnTo>
                <a:lnTo>
                  <a:pt x="115628" y="12911"/>
                </a:lnTo>
                <a:lnTo>
                  <a:pt x="143797" y="15260"/>
                </a:lnTo>
                <a:lnTo>
                  <a:pt x="171993" y="17256"/>
                </a:lnTo>
                <a:lnTo>
                  <a:pt x="200213" y="18900"/>
                </a:lnTo>
                <a:lnTo>
                  <a:pt x="228450" y="20190"/>
                </a:lnTo>
                <a:lnTo>
                  <a:pt x="256702" y="21128"/>
                </a:lnTo>
                <a:lnTo>
                  <a:pt x="284963" y="21712"/>
                </a:lnTo>
                <a:lnTo>
                  <a:pt x="313229" y="21943"/>
                </a:lnTo>
                <a:close/>
              </a:path>
            </a:pathLst>
          </a:custGeom>
          <a:solidFill xmlns:a="http://schemas.openxmlformats.org/drawingml/2006/main">
            <a:srgbClr val="218AA5"/>
          </a:solidFill>
          <a:ln xmlns:a="http://schemas.openxmlformats.org/drawingml/2006/main" w="0">
            <a:noFill/>
          </a:ln>
        </p:spPr>
      </p:sp>
      <p:sp>
        <p:nvSpPr>
          <p:cNvPr id="159" name="StochasticConditionalGradientSliding-baseline-gap">
            <a:extLst xmlns:a="http://schemas.openxmlformats.org/drawingml/2006/main">
              <a:ext uri="{FF2B5EF4-FFF2-40B4-BE49-F238E27FC236}">
                <a16:creationId xmlns:a16="http://schemas.microsoft.com/office/drawing/2014/main" id="{83434B0E-31A4-4939-83FA-FB3F0A54A519}"/>
              </a:ext>
            </a:extLst>
          </p:cNvPr>
          <p:cNvSpPr>
            <a:spLocks xmlns:a="http://schemas.openxmlformats.org/drawingml/2006/main" noGrp="1"/>
          </p:cNvSpPr>
          <p:nvPr/>
        </p:nvSpPr>
        <p:spPr>
          <a:xfrm xmlns:a="http://schemas.openxmlformats.org/drawingml/2006/main">
            <a:off x="5711727" y="8848505"/>
            <a:ext cx="388510" cy="87846"/>
          </a:xfrm>
          <a:custGeom xmlns:a="http://schemas.openxmlformats.org/drawingml/2006/main">
            <a:pathLst>
              <a:path w="388510" h="87846">
                <a:moveTo>
                  <a:pt x="388510" y="87846"/>
                </a:moveTo>
                <a:lnTo>
                  <a:pt x="356025" y="87702"/>
                </a:lnTo>
                <a:lnTo>
                  <a:pt x="323545" y="87166"/>
                </a:lnTo>
                <a:lnTo>
                  <a:pt x="291073" y="86239"/>
                </a:lnTo>
                <a:lnTo>
                  <a:pt x="258615" y="84921"/>
                </a:lnTo>
                <a:lnTo>
                  <a:pt x="226175" y="83213"/>
                </a:lnTo>
                <a:lnTo>
                  <a:pt x="193758" y="81113"/>
                </a:lnTo>
                <a:lnTo>
                  <a:pt x="161368" y="78624"/>
                </a:lnTo>
                <a:lnTo>
                  <a:pt x="129011" y="75745"/>
                </a:lnTo>
                <a:lnTo>
                  <a:pt x="96691" y="72476"/>
                </a:lnTo>
                <a:lnTo>
                  <a:pt x="64413" y="68818"/>
                </a:lnTo>
                <a:lnTo>
                  <a:pt x="32181" y="64772"/>
                </a:lnTo>
                <a:lnTo>
                  <a:pt x="0" y="60338"/>
                </a:lnTo>
                <a:lnTo>
                  <a:pt x="8684" y="0"/>
                </a:lnTo>
                <a:lnTo>
                  <a:pt x="40138" y="4334"/>
                </a:lnTo>
                <a:lnTo>
                  <a:pt x="71641" y="8288"/>
                </a:lnTo>
                <a:lnTo>
                  <a:pt x="103190" y="11863"/>
                </a:lnTo>
                <a:lnTo>
                  <a:pt x="134780" y="15058"/>
                </a:lnTo>
                <a:lnTo>
                  <a:pt x="166406" y="17873"/>
                </a:lnTo>
                <a:lnTo>
                  <a:pt x="198063" y="20306"/>
                </a:lnTo>
                <a:lnTo>
                  <a:pt x="229748" y="22357"/>
                </a:lnTo>
                <a:lnTo>
                  <a:pt x="261455" y="24027"/>
                </a:lnTo>
                <a:lnTo>
                  <a:pt x="293179" y="25315"/>
                </a:lnTo>
                <a:lnTo>
                  <a:pt x="324917" y="26221"/>
                </a:lnTo>
                <a:lnTo>
                  <a:pt x="356664" y="26745"/>
                </a:lnTo>
                <a:lnTo>
                  <a:pt x="388414" y="26886"/>
                </a:lnTo>
                <a:close/>
              </a:path>
            </a:pathLst>
          </a:custGeom>
          <a:solidFill xmlns:a="http://schemas.openxmlformats.org/drawingml/2006/main">
            <a:srgbClr val="FFFFFF"/>
          </a:solidFill>
          <a:ln xmlns:a="http://schemas.openxmlformats.org/drawingml/2006/main" w="0">
            <a:noFill/>
          </a:ln>
        </p:spPr>
      </p:sp>
      <p:sp>
        <p:nvSpPr>
          <p:cNvPr id="160" name="StochasticConditionalGradientSliding-label">
            <a:extLst xmlns:a="http://schemas.openxmlformats.org/drawingml/2006/main">
              <a:ext uri="{FF2B5EF4-FFF2-40B4-BE49-F238E27FC236}">
                <a16:creationId xmlns:a16="http://schemas.microsoft.com/office/drawing/2014/main" id="{054AA190-A1E0-4E6E-8ADF-29EF696207E7}"/>
              </a:ext>
            </a:extLst>
          </p:cNvPr>
          <p:cNvSpPr>
            <a:spLocks xmlns:a="http://schemas.openxmlformats.org/drawingml/2006/main" noGrp="1"/>
          </p:cNvSpPr>
          <p:nvPr/>
        </p:nvSpPr>
        <p:spPr>
          <a:xfrm xmlns:a="http://schemas.openxmlformats.org/drawingml/2006/main" rot="16443000">
            <a:off x="5348623" y="9946878"/>
            <a:ext cx="939998"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6F8B"/>
                </a:solidFill>
                <a:latin typeface="Arial"/>
                <a:ea typeface="Arial"/>
                <a:cs typeface="Arial"/>
              </a:defRPr>
            </a:pPr>
            <a:r>
              <a:rPr sz="2400" b="0">
                <a:solidFill>
                  <a:srgbClr val="086F8B"/>
                </a:solidFill>
                <a:latin typeface="Arial"/>
                <a:ea typeface="Arial"/>
                <a:cs typeface="Arial"/>
              </a:rPr>
              <a:t>SCGS</a:t>
            </a:r>
          </a:p>
        </p:txBody>
      </p:sp>
      <p:sp>
        <p:nvSpPr>
          <p:cNvPr id="161" name="StochasticNonconvexCGSliding-algorithm-5578">
            <a:extLst xmlns:a="http://schemas.openxmlformats.org/drawingml/2006/main">
              <a:ext uri="{FF2B5EF4-FFF2-40B4-BE49-F238E27FC236}">
                <a16:creationId xmlns:a16="http://schemas.microsoft.com/office/drawing/2014/main" id="{422F894A-4B7F-4F8E-8059-32BA5A0CC8D6}"/>
              </a:ext>
            </a:extLst>
          </p:cNvPr>
          <p:cNvSpPr>
            <a:spLocks xmlns:a="http://schemas.openxmlformats.org/drawingml/2006/main" noGrp="1"/>
          </p:cNvSpPr>
          <p:nvPr/>
        </p:nvSpPr>
        <p:spPr>
          <a:xfrm xmlns:a="http://schemas.openxmlformats.org/drawingml/2006/main">
            <a:off x="5088061" y="8785360"/>
            <a:ext cx="571889" cy="799235"/>
          </a:xfrm>
          <a:custGeom xmlns:a="http://schemas.openxmlformats.org/drawingml/2006/main">
            <a:pathLst>
              <a:path w="571889" h="799235">
                <a:moveTo>
                  <a:pt x="453458" y="799235"/>
                </a:moveTo>
                <a:lnTo>
                  <a:pt x="411672" y="792041"/>
                </a:lnTo>
                <a:lnTo>
                  <a:pt x="369978" y="784325"/>
                </a:lnTo>
                <a:lnTo>
                  <a:pt x="328384" y="776088"/>
                </a:lnTo>
                <a:lnTo>
                  <a:pt x="286897" y="767333"/>
                </a:lnTo>
                <a:lnTo>
                  <a:pt x="245522" y="758059"/>
                </a:lnTo>
                <a:lnTo>
                  <a:pt x="204266" y="748268"/>
                </a:lnTo>
                <a:lnTo>
                  <a:pt x="163136" y="737963"/>
                </a:lnTo>
                <a:lnTo>
                  <a:pt x="122138" y="727144"/>
                </a:lnTo>
                <a:lnTo>
                  <a:pt x="81278" y="715813"/>
                </a:lnTo>
                <a:lnTo>
                  <a:pt x="40563" y="703973"/>
                </a:lnTo>
                <a:lnTo>
                  <a:pt x="0" y="691624"/>
                </a:lnTo>
                <a:lnTo>
                  <a:pt x="215284" y="0"/>
                </a:lnTo>
                <a:lnTo>
                  <a:pt x="247184" y="9711"/>
                </a:lnTo>
                <a:lnTo>
                  <a:pt x="279203" y="19023"/>
                </a:lnTo>
                <a:lnTo>
                  <a:pt x="311335" y="27933"/>
                </a:lnTo>
                <a:lnTo>
                  <a:pt x="343576" y="36441"/>
                </a:lnTo>
                <a:lnTo>
                  <a:pt x="375921" y="44546"/>
                </a:lnTo>
                <a:lnTo>
                  <a:pt x="408365" y="52245"/>
                </a:lnTo>
                <a:lnTo>
                  <a:pt x="440903" y="59538"/>
                </a:lnTo>
                <a:lnTo>
                  <a:pt x="473529" y="66424"/>
                </a:lnTo>
                <a:lnTo>
                  <a:pt x="506239" y="72901"/>
                </a:lnTo>
                <a:lnTo>
                  <a:pt x="539028" y="78969"/>
                </a:lnTo>
                <a:lnTo>
                  <a:pt x="571889" y="84626"/>
                </a:lnTo>
                <a:close/>
              </a:path>
            </a:pathLst>
          </a:custGeom>
          <a:gradFill xmlns:a="http://schemas.openxmlformats.org/drawingml/2006/main">
            <a:gsLst>
              <a:gs pos="0">
                <a:srgbClr val="08728F"/>
              </a:gs>
              <a:gs pos="50000">
                <a:srgbClr val="087D9B"/>
              </a:gs>
              <a:gs pos="100000">
                <a:srgbClr val="288EA8"/>
              </a:gs>
            </a:gsLst>
            <a:lin ang="6200999"/>
          </a:gradFill>
          <a:ln xmlns:a="http://schemas.openxmlformats.org/drawingml/2006/main" w="0">
            <a:noFill/>
          </a:ln>
        </p:spPr>
      </p:sp>
      <p:sp>
        <p:nvSpPr>
          <p:cNvPr id="162" name="StochasticNonconvexCGSliding-algorithm-end">
            <a:extLst xmlns:a="http://schemas.openxmlformats.org/drawingml/2006/main">
              <a:ext uri="{FF2B5EF4-FFF2-40B4-BE49-F238E27FC236}">
                <a16:creationId xmlns:a16="http://schemas.microsoft.com/office/drawing/2014/main" id="{C48287F5-C7F0-45D9-9937-8F644978BB0D}"/>
              </a:ext>
            </a:extLst>
          </p:cNvPr>
          <p:cNvSpPr>
            <a:spLocks xmlns:a="http://schemas.openxmlformats.org/drawingml/2006/main" noGrp="1"/>
          </p:cNvSpPr>
          <p:nvPr/>
        </p:nvSpPr>
        <p:spPr>
          <a:xfrm xmlns:a="http://schemas.openxmlformats.org/drawingml/2006/main">
            <a:off x="5088061" y="9453338"/>
            <a:ext cx="457507" cy="131257"/>
          </a:xfrm>
          <a:custGeom xmlns:a="http://schemas.openxmlformats.org/drawingml/2006/main">
            <a:pathLst>
              <a:path w="457507" h="131257">
                <a:moveTo>
                  <a:pt x="453458" y="131257"/>
                </a:moveTo>
                <a:lnTo>
                  <a:pt x="411672" y="124063"/>
                </a:lnTo>
                <a:lnTo>
                  <a:pt x="369978" y="116347"/>
                </a:lnTo>
                <a:lnTo>
                  <a:pt x="328384" y="108111"/>
                </a:lnTo>
                <a:lnTo>
                  <a:pt x="286897" y="99355"/>
                </a:lnTo>
                <a:lnTo>
                  <a:pt x="245522" y="90081"/>
                </a:lnTo>
                <a:lnTo>
                  <a:pt x="204266" y="80290"/>
                </a:lnTo>
                <a:lnTo>
                  <a:pt x="163136" y="69985"/>
                </a:lnTo>
                <a:lnTo>
                  <a:pt x="122138" y="59166"/>
                </a:lnTo>
                <a:lnTo>
                  <a:pt x="81278" y="47835"/>
                </a:lnTo>
                <a:lnTo>
                  <a:pt x="40563" y="35995"/>
                </a:lnTo>
                <a:lnTo>
                  <a:pt x="0" y="23646"/>
                </a:lnTo>
                <a:lnTo>
                  <a:pt x="7360" y="0"/>
                </a:lnTo>
                <a:lnTo>
                  <a:pt x="47628" y="12259"/>
                </a:lnTo>
                <a:lnTo>
                  <a:pt x="88045" y="24013"/>
                </a:lnTo>
                <a:lnTo>
                  <a:pt x="128606" y="35261"/>
                </a:lnTo>
                <a:lnTo>
                  <a:pt x="169305" y="46001"/>
                </a:lnTo>
                <a:lnTo>
                  <a:pt x="210135" y="56231"/>
                </a:lnTo>
                <a:lnTo>
                  <a:pt x="251089" y="65950"/>
                </a:lnTo>
                <a:lnTo>
                  <a:pt x="292162" y="75156"/>
                </a:lnTo>
                <a:lnTo>
                  <a:pt x="333347" y="83848"/>
                </a:lnTo>
                <a:lnTo>
                  <a:pt x="374637" y="92024"/>
                </a:lnTo>
                <a:lnTo>
                  <a:pt x="416026" y="99684"/>
                </a:lnTo>
                <a:lnTo>
                  <a:pt x="457507" y="106825"/>
                </a:lnTo>
                <a:close/>
              </a:path>
            </a:pathLst>
          </a:custGeom>
          <a:solidFill xmlns:a="http://schemas.openxmlformats.org/drawingml/2006/main">
            <a:srgbClr val="08718E"/>
          </a:solidFill>
          <a:ln xmlns:a="http://schemas.openxmlformats.org/drawingml/2006/main" w="0">
            <a:noFill/>
          </a:ln>
        </p:spPr>
      </p:sp>
      <p:sp>
        <p:nvSpPr>
          <p:cNvPr id="163" name="StochasticNonconvexCGSliding-reuse-3999">
            <a:extLst xmlns:a="http://schemas.openxmlformats.org/drawingml/2006/main">
              <a:ext uri="{FF2B5EF4-FFF2-40B4-BE49-F238E27FC236}">
                <a16:creationId xmlns:a16="http://schemas.microsoft.com/office/drawing/2014/main" id="{A705C12D-4BC9-459D-86F5-AEA5AD89C848}"/>
              </a:ext>
            </a:extLst>
          </p:cNvPr>
          <p:cNvSpPr>
            <a:spLocks xmlns:a="http://schemas.openxmlformats.org/drawingml/2006/main" noGrp="1"/>
          </p:cNvSpPr>
          <p:nvPr/>
        </p:nvSpPr>
        <p:spPr>
          <a:xfrm xmlns:a="http://schemas.openxmlformats.org/drawingml/2006/main">
            <a:off x="5303346" y="8111912"/>
            <a:ext cx="471923" cy="758075"/>
          </a:xfrm>
          <a:custGeom xmlns:a="http://schemas.openxmlformats.org/drawingml/2006/main">
            <a:pathLst>
              <a:path w="471923" h="758075">
                <a:moveTo>
                  <a:pt x="356605" y="758075"/>
                </a:moveTo>
                <a:lnTo>
                  <a:pt x="323743" y="752417"/>
                </a:lnTo>
                <a:lnTo>
                  <a:pt x="290955" y="746349"/>
                </a:lnTo>
                <a:lnTo>
                  <a:pt x="258245" y="739872"/>
                </a:lnTo>
                <a:lnTo>
                  <a:pt x="225619" y="732986"/>
                </a:lnTo>
                <a:lnTo>
                  <a:pt x="193081" y="725693"/>
                </a:lnTo>
                <a:lnTo>
                  <a:pt x="160637" y="717994"/>
                </a:lnTo>
                <a:lnTo>
                  <a:pt x="128292" y="709890"/>
                </a:lnTo>
                <a:lnTo>
                  <a:pt x="96051" y="701382"/>
                </a:lnTo>
                <a:lnTo>
                  <a:pt x="63918" y="692471"/>
                </a:lnTo>
                <a:lnTo>
                  <a:pt x="31900" y="683159"/>
                </a:lnTo>
                <a:lnTo>
                  <a:pt x="0" y="673448"/>
                </a:lnTo>
                <a:lnTo>
                  <a:pt x="209627" y="0"/>
                </a:lnTo>
                <a:lnTo>
                  <a:pt x="233090" y="7143"/>
                </a:lnTo>
                <a:lnTo>
                  <a:pt x="256641" y="13992"/>
                </a:lnTo>
                <a:lnTo>
                  <a:pt x="280276" y="20546"/>
                </a:lnTo>
                <a:lnTo>
                  <a:pt x="303990" y="26804"/>
                </a:lnTo>
                <a:lnTo>
                  <a:pt x="327781" y="32765"/>
                </a:lnTo>
                <a:lnTo>
                  <a:pt x="351645" y="38428"/>
                </a:lnTo>
                <a:lnTo>
                  <a:pt x="375578" y="43793"/>
                </a:lnTo>
                <a:lnTo>
                  <a:pt x="399576" y="48857"/>
                </a:lnTo>
                <a:lnTo>
                  <a:pt x="423635" y="53622"/>
                </a:lnTo>
                <a:lnTo>
                  <a:pt x="447752" y="58085"/>
                </a:lnTo>
                <a:lnTo>
                  <a:pt x="471923" y="62246"/>
                </a:lnTo>
                <a:close/>
              </a:path>
            </a:pathLst>
          </a:custGeom>
          <a:gradFill xmlns:a="http://schemas.openxmlformats.org/drawingml/2006/main">
            <a:gsLst>
              <a:gs pos="0">
                <a:srgbClr val="7FBBCB"/>
              </a:gs>
              <a:gs pos="100000">
                <a:srgbClr val="3997AF"/>
              </a:gs>
            </a:gsLst>
            <a:lin ang="6200999"/>
          </a:gradFill>
          <a:ln xmlns:a="http://schemas.openxmlformats.org/drawingml/2006/main" w="0">
            <a:noFill/>
          </a:ln>
        </p:spPr>
      </p:sp>
      <p:sp>
        <p:nvSpPr>
          <p:cNvPr id="164" name="StochasticNonconvexCGSliding-reuse-end">
            <a:extLst xmlns:a="http://schemas.openxmlformats.org/drawingml/2006/main">
              <a:ext uri="{FF2B5EF4-FFF2-40B4-BE49-F238E27FC236}">
                <a16:creationId xmlns:a16="http://schemas.microsoft.com/office/drawing/2014/main" id="{64F7322F-9B26-4CA2-B4B4-0DF30D8A9DF6}"/>
              </a:ext>
            </a:extLst>
          </p:cNvPr>
          <p:cNvSpPr>
            <a:spLocks xmlns:a="http://schemas.openxmlformats.org/drawingml/2006/main" noGrp="1"/>
          </p:cNvSpPr>
          <p:nvPr/>
        </p:nvSpPr>
        <p:spPr>
          <a:xfrm xmlns:a="http://schemas.openxmlformats.org/drawingml/2006/main">
            <a:off x="5505895" y="8111912"/>
            <a:ext cx="269374" cy="85738"/>
          </a:xfrm>
          <a:custGeom xmlns:a="http://schemas.openxmlformats.org/drawingml/2006/main">
            <a:pathLst>
              <a:path w="269374" h="85738">
                <a:moveTo>
                  <a:pt x="265480" y="85738"/>
                </a:moveTo>
                <a:lnTo>
                  <a:pt x="241016" y="81526"/>
                </a:lnTo>
                <a:lnTo>
                  <a:pt x="216606" y="77009"/>
                </a:lnTo>
                <a:lnTo>
                  <a:pt x="192255" y="72187"/>
                </a:lnTo>
                <a:lnTo>
                  <a:pt x="167966" y="67061"/>
                </a:lnTo>
                <a:lnTo>
                  <a:pt x="143742" y="61631"/>
                </a:lnTo>
                <a:lnTo>
                  <a:pt x="119589" y="55899"/>
                </a:lnTo>
                <a:lnTo>
                  <a:pt x="95509" y="49866"/>
                </a:lnTo>
                <a:lnTo>
                  <a:pt x="71506" y="43532"/>
                </a:lnTo>
                <a:lnTo>
                  <a:pt x="47585" y="36898"/>
                </a:lnTo>
                <a:lnTo>
                  <a:pt x="23748" y="29966"/>
                </a:lnTo>
                <a:lnTo>
                  <a:pt x="0" y="22736"/>
                </a:lnTo>
                <a:lnTo>
                  <a:pt x="7077" y="0"/>
                </a:lnTo>
                <a:lnTo>
                  <a:pt x="30541" y="7143"/>
                </a:lnTo>
                <a:lnTo>
                  <a:pt x="54091" y="13992"/>
                </a:lnTo>
                <a:lnTo>
                  <a:pt x="77726" y="20546"/>
                </a:lnTo>
                <a:lnTo>
                  <a:pt x="101441" y="26804"/>
                </a:lnTo>
                <a:lnTo>
                  <a:pt x="125232" y="32765"/>
                </a:lnTo>
                <a:lnTo>
                  <a:pt x="149096" y="38428"/>
                </a:lnTo>
                <a:lnTo>
                  <a:pt x="173028" y="43793"/>
                </a:lnTo>
                <a:lnTo>
                  <a:pt x="197026" y="48857"/>
                </a:lnTo>
                <a:lnTo>
                  <a:pt x="221086" y="53622"/>
                </a:lnTo>
                <a:lnTo>
                  <a:pt x="245203" y="58085"/>
                </a:lnTo>
                <a:lnTo>
                  <a:pt x="269374" y="62246"/>
                </a:lnTo>
                <a:close/>
              </a:path>
            </a:pathLst>
          </a:custGeom>
          <a:solidFill xmlns:a="http://schemas.openxmlformats.org/drawingml/2006/main">
            <a:srgbClr val="218AA5"/>
          </a:solidFill>
          <a:ln xmlns:a="http://schemas.openxmlformats.org/drawingml/2006/main" w="0">
            <a:noFill/>
          </a:ln>
        </p:spPr>
      </p:sp>
      <p:sp>
        <p:nvSpPr>
          <p:cNvPr id="165" name="StochasticNonconvexCGSliding-baseline-gap">
            <a:extLst xmlns:a="http://schemas.openxmlformats.org/drawingml/2006/main">
              <a:ext uri="{FF2B5EF4-FFF2-40B4-BE49-F238E27FC236}">
                <a16:creationId xmlns:a16="http://schemas.microsoft.com/office/drawing/2014/main" id="{04B3AE1F-E26A-499F-8653-CA1E82B75F04}"/>
              </a:ext>
            </a:extLst>
          </p:cNvPr>
          <p:cNvSpPr>
            <a:spLocks xmlns:a="http://schemas.openxmlformats.org/drawingml/2006/main" noGrp="1"/>
          </p:cNvSpPr>
          <p:nvPr/>
        </p:nvSpPr>
        <p:spPr>
          <a:xfrm xmlns:a="http://schemas.openxmlformats.org/drawingml/2006/main">
            <a:off x="5285301" y="8753507"/>
            <a:ext cx="388715" cy="148073"/>
          </a:xfrm>
          <a:custGeom xmlns:a="http://schemas.openxmlformats.org/drawingml/2006/main">
            <a:pathLst>
              <a:path w="388715" h="148073">
                <a:moveTo>
                  <a:pt x="378958" y="148073"/>
                </a:moveTo>
                <a:lnTo>
                  <a:pt x="346924" y="142681"/>
                </a:lnTo>
                <a:lnTo>
                  <a:pt x="314957" y="136903"/>
                </a:lnTo>
                <a:lnTo>
                  <a:pt x="283061" y="130741"/>
                </a:lnTo>
                <a:lnTo>
                  <a:pt x="251243" y="124195"/>
                </a:lnTo>
                <a:lnTo>
                  <a:pt x="219505" y="117266"/>
                </a:lnTo>
                <a:lnTo>
                  <a:pt x="187854" y="109956"/>
                </a:lnTo>
                <a:lnTo>
                  <a:pt x="156292" y="102265"/>
                </a:lnTo>
                <a:lnTo>
                  <a:pt x="124826" y="94195"/>
                </a:lnTo>
                <a:lnTo>
                  <a:pt x="93459" y="85746"/>
                </a:lnTo>
                <a:lnTo>
                  <a:pt x="62196" y="76920"/>
                </a:lnTo>
                <a:lnTo>
                  <a:pt x="31041" y="67718"/>
                </a:lnTo>
                <a:lnTo>
                  <a:pt x="0" y="58142"/>
                </a:lnTo>
                <a:lnTo>
                  <a:pt x="18321" y="0"/>
                </a:lnTo>
                <a:lnTo>
                  <a:pt x="48661" y="9360"/>
                </a:lnTo>
                <a:lnTo>
                  <a:pt x="79111" y="18354"/>
                </a:lnTo>
                <a:lnTo>
                  <a:pt x="109668" y="26980"/>
                </a:lnTo>
                <a:lnTo>
                  <a:pt x="140326" y="35238"/>
                </a:lnTo>
                <a:lnTo>
                  <a:pt x="171081" y="43126"/>
                </a:lnTo>
                <a:lnTo>
                  <a:pt x="201929" y="50643"/>
                </a:lnTo>
                <a:lnTo>
                  <a:pt x="232866" y="57788"/>
                </a:lnTo>
                <a:lnTo>
                  <a:pt x="263886" y="64560"/>
                </a:lnTo>
                <a:lnTo>
                  <a:pt x="294985" y="70958"/>
                </a:lnTo>
                <a:lnTo>
                  <a:pt x="326160" y="76981"/>
                </a:lnTo>
                <a:lnTo>
                  <a:pt x="357404" y="82628"/>
                </a:lnTo>
                <a:lnTo>
                  <a:pt x="388715" y="87899"/>
                </a:lnTo>
                <a:close/>
              </a:path>
            </a:pathLst>
          </a:custGeom>
          <a:solidFill xmlns:a="http://schemas.openxmlformats.org/drawingml/2006/main">
            <a:srgbClr val="FFFFFF"/>
          </a:solidFill>
          <a:ln xmlns:a="http://schemas.openxmlformats.org/drawingml/2006/main" w="0">
            <a:noFill/>
          </a:ln>
        </p:spPr>
      </p:sp>
      <p:sp>
        <p:nvSpPr>
          <p:cNvPr id="166" name="StochasticNonconvexCGSliding-label">
            <a:extLst xmlns:a="http://schemas.openxmlformats.org/drawingml/2006/main">
              <a:ext uri="{FF2B5EF4-FFF2-40B4-BE49-F238E27FC236}">
                <a16:creationId xmlns:a16="http://schemas.microsoft.com/office/drawing/2014/main" id="{BD67A06F-05F0-42ED-86C4-E62F13319C14}"/>
              </a:ext>
            </a:extLst>
          </p:cNvPr>
          <p:cNvSpPr>
            <a:spLocks xmlns:a="http://schemas.openxmlformats.org/drawingml/2006/main" noGrp="1"/>
          </p:cNvSpPr>
          <p:nvPr/>
        </p:nvSpPr>
        <p:spPr>
          <a:xfrm xmlns:a="http://schemas.openxmlformats.org/drawingml/2006/main" rot="17001000">
            <a:off x="4374616" y="10161096"/>
            <a:ext cx="148173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6F8B"/>
                </a:solidFill>
                <a:latin typeface="Arial"/>
                <a:ea typeface="Arial"/>
                <a:cs typeface="Arial"/>
              </a:defRPr>
            </a:pPr>
            <a:r>
              <a:rPr sz="2400" b="0">
                <a:solidFill>
                  <a:srgbClr val="086F8B"/>
                </a:solidFill>
                <a:latin typeface="Arial"/>
                <a:ea typeface="Arial"/>
                <a:cs typeface="Arial"/>
              </a:rPr>
              <a:t>NC-SCGS</a:t>
            </a:r>
          </a:p>
        </p:txBody>
      </p:sp>
      <p:sp>
        <p:nvSpPr>
          <p:cNvPr id="167" name="StochasticNonconvexConditionalGradient-algorithm-20600">
            <a:extLst xmlns:a="http://schemas.openxmlformats.org/drawingml/2006/main">
              <a:ext uri="{FF2B5EF4-FFF2-40B4-BE49-F238E27FC236}">
                <a16:creationId xmlns:a16="http://schemas.microsoft.com/office/drawing/2014/main" id="{A9E89C71-16A8-47A7-A079-7DD0A859E71B}"/>
              </a:ext>
            </a:extLst>
          </p:cNvPr>
          <p:cNvSpPr>
            <a:spLocks xmlns:a="http://schemas.openxmlformats.org/drawingml/2006/main" noGrp="1"/>
          </p:cNvSpPr>
          <p:nvPr/>
        </p:nvSpPr>
        <p:spPr>
          <a:xfrm xmlns:a="http://schemas.openxmlformats.org/drawingml/2006/main">
            <a:off x="4279170" y="8623793"/>
            <a:ext cx="961315" cy="1459602"/>
          </a:xfrm>
          <a:custGeom xmlns:a="http://schemas.openxmlformats.org/drawingml/2006/main">
            <a:pathLst>
              <a:path w="961315" h="1459602">
                <a:moveTo>
                  <a:pt x="514784" y="1459602"/>
                </a:moveTo>
                <a:lnTo>
                  <a:pt x="466820" y="1443023"/>
                </a:lnTo>
                <a:lnTo>
                  <a:pt x="419066" y="1425845"/>
                </a:lnTo>
                <a:lnTo>
                  <a:pt x="371531" y="1408072"/>
                </a:lnTo>
                <a:lnTo>
                  <a:pt x="324222" y="1389705"/>
                </a:lnTo>
                <a:lnTo>
                  <a:pt x="277146" y="1370749"/>
                </a:lnTo>
                <a:lnTo>
                  <a:pt x="230311" y="1351205"/>
                </a:lnTo>
                <a:lnTo>
                  <a:pt x="183724" y="1331078"/>
                </a:lnTo>
                <a:lnTo>
                  <a:pt x="137392" y="1310369"/>
                </a:lnTo>
                <a:lnTo>
                  <a:pt x="91322" y="1289083"/>
                </a:lnTo>
                <a:lnTo>
                  <a:pt x="45523" y="1267222"/>
                </a:lnTo>
                <a:lnTo>
                  <a:pt x="0" y="1244791"/>
                </a:lnTo>
                <a:lnTo>
                  <a:pt x="623073" y="0"/>
                </a:lnTo>
                <a:lnTo>
                  <a:pt x="652984" y="14739"/>
                </a:lnTo>
                <a:lnTo>
                  <a:pt x="683077" y="29102"/>
                </a:lnTo>
                <a:lnTo>
                  <a:pt x="713347" y="43088"/>
                </a:lnTo>
                <a:lnTo>
                  <a:pt x="743790" y="56695"/>
                </a:lnTo>
                <a:lnTo>
                  <a:pt x="774400" y="69920"/>
                </a:lnTo>
                <a:lnTo>
                  <a:pt x="805173" y="82761"/>
                </a:lnTo>
                <a:lnTo>
                  <a:pt x="836105" y="95217"/>
                </a:lnTo>
                <a:lnTo>
                  <a:pt x="867189" y="107284"/>
                </a:lnTo>
                <a:lnTo>
                  <a:pt x="898423" y="118962"/>
                </a:lnTo>
                <a:lnTo>
                  <a:pt x="929799" y="130249"/>
                </a:lnTo>
                <a:lnTo>
                  <a:pt x="961315" y="141143"/>
                </a:lnTo>
                <a:close/>
              </a:path>
            </a:pathLst>
          </a:custGeom>
          <a:gradFill xmlns:a="http://schemas.openxmlformats.org/drawingml/2006/main">
            <a:gsLst>
              <a:gs pos="0">
                <a:srgbClr val="08728F"/>
              </a:gs>
              <a:gs pos="50000">
                <a:srgbClr val="087D9B"/>
              </a:gs>
              <a:gs pos="100000">
                <a:srgbClr val="288EA8"/>
              </a:gs>
            </a:gsLst>
            <a:lin ang="6758999"/>
          </a:gradFill>
          <a:ln xmlns:a="http://schemas.openxmlformats.org/drawingml/2006/main" w="0">
            <a:noFill/>
          </a:ln>
        </p:spPr>
      </p:sp>
      <p:sp>
        <p:nvSpPr>
          <p:cNvPr id="168" name="StochasticNonconvexConditionalGradient-algorithm-end">
            <a:extLst xmlns:a="http://schemas.openxmlformats.org/drawingml/2006/main">
              <a:ext uri="{FF2B5EF4-FFF2-40B4-BE49-F238E27FC236}">
                <a16:creationId xmlns:a16="http://schemas.microsoft.com/office/drawing/2014/main" id="{DE6C4135-C4DE-4FA8-9D54-15D2464B9291}"/>
              </a:ext>
            </a:extLst>
          </p:cNvPr>
          <p:cNvSpPr>
            <a:spLocks xmlns:a="http://schemas.openxmlformats.org/drawingml/2006/main" noGrp="1"/>
          </p:cNvSpPr>
          <p:nvPr/>
        </p:nvSpPr>
        <p:spPr>
          <a:xfrm xmlns:a="http://schemas.openxmlformats.org/drawingml/2006/main">
            <a:off x="4279170" y="9846438"/>
            <a:ext cx="522728" cy="236957"/>
          </a:xfrm>
          <a:custGeom xmlns:a="http://schemas.openxmlformats.org/drawingml/2006/main">
            <a:pathLst>
              <a:path w="522728" h="236957">
                <a:moveTo>
                  <a:pt x="514784" y="236957"/>
                </a:moveTo>
                <a:lnTo>
                  <a:pt x="466820" y="220378"/>
                </a:lnTo>
                <a:lnTo>
                  <a:pt x="419066" y="203200"/>
                </a:lnTo>
                <a:lnTo>
                  <a:pt x="371531" y="185426"/>
                </a:lnTo>
                <a:lnTo>
                  <a:pt x="324222" y="167060"/>
                </a:lnTo>
                <a:lnTo>
                  <a:pt x="277146" y="148103"/>
                </a:lnTo>
                <a:lnTo>
                  <a:pt x="230311" y="128560"/>
                </a:lnTo>
                <a:lnTo>
                  <a:pt x="183724" y="108432"/>
                </a:lnTo>
                <a:lnTo>
                  <a:pt x="137392" y="87724"/>
                </a:lnTo>
                <a:lnTo>
                  <a:pt x="91322" y="66437"/>
                </a:lnTo>
                <a:lnTo>
                  <a:pt x="45523" y="44577"/>
                </a:lnTo>
                <a:lnTo>
                  <a:pt x="0" y="22146"/>
                </a:lnTo>
                <a:lnTo>
                  <a:pt x="11085" y="0"/>
                </a:lnTo>
                <a:lnTo>
                  <a:pt x="56330" y="22295"/>
                </a:lnTo>
                <a:lnTo>
                  <a:pt x="101850" y="44022"/>
                </a:lnTo>
                <a:lnTo>
                  <a:pt x="147638" y="65178"/>
                </a:lnTo>
                <a:lnTo>
                  <a:pt x="193688" y="85760"/>
                </a:lnTo>
                <a:lnTo>
                  <a:pt x="239990" y="105765"/>
                </a:lnTo>
                <a:lnTo>
                  <a:pt x="286540" y="125189"/>
                </a:lnTo>
                <a:lnTo>
                  <a:pt x="333328" y="144030"/>
                </a:lnTo>
                <a:lnTo>
                  <a:pt x="380349" y="162284"/>
                </a:lnTo>
                <a:lnTo>
                  <a:pt x="427594" y="179949"/>
                </a:lnTo>
                <a:lnTo>
                  <a:pt x="475056" y="197022"/>
                </a:lnTo>
                <a:lnTo>
                  <a:pt x="522728" y="213501"/>
                </a:lnTo>
                <a:close/>
              </a:path>
            </a:pathLst>
          </a:custGeom>
          <a:solidFill xmlns:a="http://schemas.openxmlformats.org/drawingml/2006/main">
            <a:srgbClr val="08718E"/>
          </a:solidFill>
          <a:ln xmlns:a="http://schemas.openxmlformats.org/drawingml/2006/main" w="0">
            <a:noFill/>
          </a:ln>
        </p:spPr>
      </p:sp>
      <p:sp>
        <p:nvSpPr>
          <p:cNvPr id="169" name="StochasticNonconvexConditionalGradient-reuse-1513">
            <a:extLst xmlns:a="http://schemas.openxmlformats.org/drawingml/2006/main">
              <a:ext uri="{FF2B5EF4-FFF2-40B4-BE49-F238E27FC236}">
                <a16:creationId xmlns:a16="http://schemas.microsoft.com/office/drawing/2014/main" id="{E595AAD2-9D62-46BA-A6B7-342480150061}"/>
              </a:ext>
            </a:extLst>
          </p:cNvPr>
          <p:cNvSpPr>
            <a:spLocks xmlns:a="http://schemas.openxmlformats.org/drawingml/2006/main" noGrp="1"/>
          </p:cNvSpPr>
          <p:nvPr/>
        </p:nvSpPr>
        <p:spPr>
          <a:xfrm xmlns:a="http://schemas.openxmlformats.org/drawingml/2006/main">
            <a:off x="4902243" y="8235839"/>
            <a:ext cx="477408" cy="529097"/>
          </a:xfrm>
          <a:custGeom xmlns:a="http://schemas.openxmlformats.org/drawingml/2006/main">
            <a:pathLst>
              <a:path w="477408" h="529097">
                <a:moveTo>
                  <a:pt x="338242" y="529097"/>
                </a:moveTo>
                <a:lnTo>
                  <a:pt x="306726" y="518203"/>
                </a:lnTo>
                <a:lnTo>
                  <a:pt x="275349" y="506916"/>
                </a:lnTo>
                <a:lnTo>
                  <a:pt x="244116" y="495238"/>
                </a:lnTo>
                <a:lnTo>
                  <a:pt x="213031" y="483170"/>
                </a:lnTo>
                <a:lnTo>
                  <a:pt x="182100" y="470715"/>
                </a:lnTo>
                <a:lnTo>
                  <a:pt x="151327" y="457874"/>
                </a:lnTo>
                <a:lnTo>
                  <a:pt x="120716" y="444649"/>
                </a:lnTo>
                <a:lnTo>
                  <a:pt x="90274" y="431042"/>
                </a:lnTo>
                <a:lnTo>
                  <a:pt x="60004" y="417056"/>
                </a:lnTo>
                <a:lnTo>
                  <a:pt x="29911" y="402693"/>
                </a:lnTo>
                <a:lnTo>
                  <a:pt x="0" y="387954"/>
                </a:lnTo>
                <a:lnTo>
                  <a:pt x="194188" y="0"/>
                </a:lnTo>
                <a:lnTo>
                  <a:pt x="219234" y="12341"/>
                </a:lnTo>
                <a:lnTo>
                  <a:pt x="244431" y="24368"/>
                </a:lnTo>
                <a:lnTo>
                  <a:pt x="269777" y="36079"/>
                </a:lnTo>
                <a:lnTo>
                  <a:pt x="295268" y="47472"/>
                </a:lnTo>
                <a:lnTo>
                  <a:pt x="320899" y="58546"/>
                </a:lnTo>
                <a:lnTo>
                  <a:pt x="346666" y="69298"/>
                </a:lnTo>
                <a:lnTo>
                  <a:pt x="372566" y="79728"/>
                </a:lnTo>
                <a:lnTo>
                  <a:pt x="398594" y="89832"/>
                </a:lnTo>
                <a:lnTo>
                  <a:pt x="424747" y="99611"/>
                </a:lnTo>
                <a:lnTo>
                  <a:pt x="451019" y="109062"/>
                </a:lnTo>
                <a:lnTo>
                  <a:pt x="477408" y="118183"/>
                </a:lnTo>
                <a:close/>
              </a:path>
            </a:pathLst>
          </a:custGeom>
          <a:gradFill xmlns:a="http://schemas.openxmlformats.org/drawingml/2006/main">
            <a:gsLst>
              <a:gs pos="0">
                <a:srgbClr val="7FBBCB"/>
              </a:gs>
              <a:gs pos="100000">
                <a:srgbClr val="3997AF"/>
              </a:gs>
            </a:gsLst>
            <a:lin ang="6758999"/>
          </a:gradFill>
          <a:ln xmlns:a="http://schemas.openxmlformats.org/drawingml/2006/main" w="0">
            <a:noFill/>
          </a:ln>
        </p:spPr>
      </p:sp>
      <p:sp>
        <p:nvSpPr>
          <p:cNvPr id="170" name="StochasticNonconvexConditionalGradient-reuse-end">
            <a:extLst xmlns:a="http://schemas.openxmlformats.org/drawingml/2006/main">
              <a:ext uri="{FF2B5EF4-FFF2-40B4-BE49-F238E27FC236}">
                <a16:creationId xmlns:a16="http://schemas.microsoft.com/office/drawing/2014/main" id="{F7BB1555-C7F9-44D9-BE86-535C4F89B508}"/>
              </a:ext>
            </a:extLst>
          </p:cNvPr>
          <p:cNvSpPr>
            <a:spLocks xmlns:a="http://schemas.openxmlformats.org/drawingml/2006/main" noGrp="1"/>
          </p:cNvSpPr>
          <p:nvPr/>
        </p:nvSpPr>
        <p:spPr>
          <a:xfrm xmlns:a="http://schemas.openxmlformats.org/drawingml/2006/main">
            <a:off x="5085772" y="8235839"/>
            <a:ext cx="293878" cy="140737"/>
          </a:xfrm>
          <a:custGeom xmlns:a="http://schemas.openxmlformats.org/drawingml/2006/main">
            <a:pathLst>
              <a:path w="293878" h="140737">
                <a:moveTo>
                  <a:pt x="286240" y="140737"/>
                </a:moveTo>
                <a:lnTo>
                  <a:pt x="259570" y="131518"/>
                </a:lnTo>
                <a:lnTo>
                  <a:pt x="233017" y="121967"/>
                </a:lnTo>
                <a:lnTo>
                  <a:pt x="206585" y="112084"/>
                </a:lnTo>
                <a:lnTo>
                  <a:pt x="180280" y="101872"/>
                </a:lnTo>
                <a:lnTo>
                  <a:pt x="154104" y="91331"/>
                </a:lnTo>
                <a:lnTo>
                  <a:pt x="128062" y="80464"/>
                </a:lnTo>
                <a:lnTo>
                  <a:pt x="102157" y="69272"/>
                </a:lnTo>
                <a:lnTo>
                  <a:pt x="76395" y="57758"/>
                </a:lnTo>
                <a:lnTo>
                  <a:pt x="50779" y="45922"/>
                </a:lnTo>
                <a:lnTo>
                  <a:pt x="25312" y="33767"/>
                </a:lnTo>
                <a:lnTo>
                  <a:pt x="0" y="21294"/>
                </a:lnTo>
                <a:lnTo>
                  <a:pt x="10659" y="0"/>
                </a:lnTo>
                <a:lnTo>
                  <a:pt x="35704" y="12341"/>
                </a:lnTo>
                <a:lnTo>
                  <a:pt x="60902" y="24368"/>
                </a:lnTo>
                <a:lnTo>
                  <a:pt x="86248" y="36079"/>
                </a:lnTo>
                <a:lnTo>
                  <a:pt x="111738" y="47472"/>
                </a:lnTo>
                <a:lnTo>
                  <a:pt x="137369" y="58546"/>
                </a:lnTo>
                <a:lnTo>
                  <a:pt x="163136" y="69298"/>
                </a:lnTo>
                <a:lnTo>
                  <a:pt x="189036" y="79728"/>
                </a:lnTo>
                <a:lnTo>
                  <a:pt x="215064" y="89832"/>
                </a:lnTo>
                <a:lnTo>
                  <a:pt x="241217" y="99611"/>
                </a:lnTo>
                <a:lnTo>
                  <a:pt x="267490" y="109062"/>
                </a:lnTo>
                <a:lnTo>
                  <a:pt x="293878" y="118183"/>
                </a:lnTo>
                <a:close/>
              </a:path>
            </a:pathLst>
          </a:custGeom>
          <a:solidFill xmlns:a="http://schemas.openxmlformats.org/drawingml/2006/main">
            <a:srgbClr val="218AA5"/>
          </a:solidFill>
          <a:ln xmlns:a="http://schemas.openxmlformats.org/drawingml/2006/main" w="0">
            <a:noFill/>
          </a:ln>
        </p:spPr>
      </p:sp>
      <p:sp>
        <p:nvSpPr>
          <p:cNvPr id="171" name="StochasticNonconvexConditionalGradient-inbar-tick-5000">
            <a:extLst xmlns:a="http://schemas.openxmlformats.org/drawingml/2006/main">
              <a:ext uri="{FF2B5EF4-FFF2-40B4-BE49-F238E27FC236}">
                <a16:creationId xmlns:a16="http://schemas.microsoft.com/office/drawing/2014/main" id="{1F92A108-25B1-4576-913A-8554AE8CE25A}"/>
              </a:ext>
            </a:extLst>
          </p:cNvPr>
          <p:cNvSpPr>
            <a:spLocks xmlns:a="http://schemas.openxmlformats.org/drawingml/2006/main" noGrp="1"/>
          </p:cNvSpPr>
          <p:nvPr/>
        </p:nvSpPr>
        <p:spPr>
          <a:xfrm xmlns:a="http://schemas.openxmlformats.org/drawingml/2006/main">
            <a:off x="4592505" y="9231521"/>
            <a:ext cx="429975" cy="188837"/>
          </a:xfrm>
          <a:custGeom xmlns:a="http://schemas.openxmlformats.org/drawingml/2006/main">
            <a:pathLst>
              <a:path w="429975" h="188837">
                <a:moveTo>
                  <a:pt x="426003" y="188837"/>
                </a:moveTo>
                <a:lnTo>
                  <a:pt x="386311" y="175117"/>
                </a:lnTo>
                <a:lnTo>
                  <a:pt x="346793" y="160902"/>
                </a:lnTo>
                <a:lnTo>
                  <a:pt x="307456" y="146194"/>
                </a:lnTo>
                <a:lnTo>
                  <a:pt x="268306" y="130995"/>
                </a:lnTo>
                <a:lnTo>
                  <a:pt x="229349" y="115307"/>
                </a:lnTo>
                <a:lnTo>
                  <a:pt x="190591" y="99134"/>
                </a:lnTo>
                <a:lnTo>
                  <a:pt x="152038" y="82478"/>
                </a:lnTo>
                <a:lnTo>
                  <a:pt x="113697" y="65341"/>
                </a:lnTo>
                <a:lnTo>
                  <a:pt x="75573" y="47726"/>
                </a:lnTo>
                <a:lnTo>
                  <a:pt x="37672" y="29636"/>
                </a:lnTo>
                <a:lnTo>
                  <a:pt x="0" y="11073"/>
                </a:lnTo>
                <a:lnTo>
                  <a:pt x="5542" y="0"/>
                </a:lnTo>
                <a:lnTo>
                  <a:pt x="43075" y="18494"/>
                </a:lnTo>
                <a:lnTo>
                  <a:pt x="80836" y="36518"/>
                </a:lnTo>
                <a:lnTo>
                  <a:pt x="118820" y="54068"/>
                </a:lnTo>
                <a:lnTo>
                  <a:pt x="157020" y="71142"/>
                </a:lnTo>
                <a:lnTo>
                  <a:pt x="195431" y="87737"/>
                </a:lnTo>
                <a:lnTo>
                  <a:pt x="234045" y="103850"/>
                </a:lnTo>
                <a:lnTo>
                  <a:pt x="272859" y="119480"/>
                </a:lnTo>
                <a:lnTo>
                  <a:pt x="311865" y="134623"/>
                </a:lnTo>
                <a:lnTo>
                  <a:pt x="351057" y="149277"/>
                </a:lnTo>
                <a:lnTo>
                  <a:pt x="390429" y="163439"/>
                </a:lnTo>
                <a:lnTo>
                  <a:pt x="429975" y="177109"/>
                </a:lnTo>
                <a:close/>
              </a:path>
            </a:pathLst>
          </a:custGeom>
          <a:solidFill xmlns:a="http://schemas.openxmlformats.org/drawingml/2006/main">
            <a:srgbClr val="B2D7E0"/>
          </a:solidFill>
          <a:ln xmlns:a="http://schemas.openxmlformats.org/drawingml/2006/main" w="0">
            <a:noFill/>
          </a:ln>
        </p:spPr>
      </p:sp>
      <p:sp>
        <p:nvSpPr>
          <p:cNvPr id="172" name="StochasticNonconvexConditionalGradient-baseline-gap">
            <a:extLst xmlns:a="http://schemas.openxmlformats.org/drawingml/2006/main">
              <a:ext uri="{FF2B5EF4-FFF2-40B4-BE49-F238E27FC236}">
                <a16:creationId xmlns:a16="http://schemas.microsoft.com/office/drawing/2014/main" id="{18A4EF88-40EE-41F2-9390-0DFDF09BD673}"/>
              </a:ext>
            </a:extLst>
          </p:cNvPr>
          <p:cNvSpPr>
            <a:spLocks xmlns:a="http://schemas.openxmlformats.org/drawingml/2006/main" noGrp="1"/>
          </p:cNvSpPr>
          <p:nvPr/>
        </p:nvSpPr>
        <p:spPr>
          <a:xfrm xmlns:a="http://schemas.openxmlformats.org/drawingml/2006/main">
            <a:off x="4880187" y="8592403"/>
            <a:ext cx="378796" cy="204407"/>
          </a:xfrm>
          <a:custGeom xmlns:a="http://schemas.openxmlformats.org/drawingml/2006/main">
            <a:pathLst>
              <a:path w="378796" h="204407">
                <a:moveTo>
                  <a:pt x="359443" y="204407"/>
                </a:moveTo>
                <a:lnTo>
                  <a:pt x="328702" y="193909"/>
                </a:lnTo>
                <a:lnTo>
                  <a:pt x="298089" y="183041"/>
                </a:lnTo>
                <a:lnTo>
                  <a:pt x="267609" y="171805"/>
                </a:lnTo>
                <a:lnTo>
                  <a:pt x="237266" y="160203"/>
                </a:lnTo>
                <a:lnTo>
                  <a:pt x="207065" y="148237"/>
                </a:lnTo>
                <a:lnTo>
                  <a:pt x="177011" y="135908"/>
                </a:lnTo>
                <a:lnTo>
                  <a:pt x="147107" y="123217"/>
                </a:lnTo>
                <a:lnTo>
                  <a:pt x="117359" y="110168"/>
                </a:lnTo>
                <a:lnTo>
                  <a:pt x="87769" y="96761"/>
                </a:lnTo>
                <a:lnTo>
                  <a:pt x="58344" y="82999"/>
                </a:lnTo>
                <a:lnTo>
                  <a:pt x="29086" y="68884"/>
                </a:lnTo>
                <a:lnTo>
                  <a:pt x="0" y="54417"/>
                </a:lnTo>
                <a:lnTo>
                  <a:pt x="27476" y="0"/>
                </a:lnTo>
                <a:lnTo>
                  <a:pt x="55904" y="14140"/>
                </a:lnTo>
                <a:lnTo>
                  <a:pt x="84501" y="27936"/>
                </a:lnTo>
                <a:lnTo>
                  <a:pt x="113262" y="41387"/>
                </a:lnTo>
                <a:lnTo>
                  <a:pt x="142183" y="54491"/>
                </a:lnTo>
                <a:lnTo>
                  <a:pt x="171259" y="67246"/>
                </a:lnTo>
                <a:lnTo>
                  <a:pt x="200487" y="79649"/>
                </a:lnTo>
                <a:lnTo>
                  <a:pt x="229862" y="91700"/>
                </a:lnTo>
                <a:lnTo>
                  <a:pt x="259380" y="103396"/>
                </a:lnTo>
                <a:lnTo>
                  <a:pt x="289037" y="114736"/>
                </a:lnTo>
                <a:lnTo>
                  <a:pt x="318828" y="125717"/>
                </a:lnTo>
                <a:lnTo>
                  <a:pt x="348749" y="136339"/>
                </a:lnTo>
                <a:lnTo>
                  <a:pt x="378796" y="146600"/>
                </a:lnTo>
                <a:close/>
              </a:path>
            </a:pathLst>
          </a:custGeom>
          <a:solidFill xmlns:a="http://schemas.openxmlformats.org/drawingml/2006/main">
            <a:srgbClr val="FFFFFF"/>
          </a:solidFill>
          <a:ln xmlns:a="http://schemas.openxmlformats.org/drawingml/2006/main" w="0">
            <a:noFill/>
          </a:ln>
        </p:spPr>
      </p:sp>
      <p:sp>
        <p:nvSpPr>
          <p:cNvPr id="173" name="StochasticNonconvexConditionalGradient-label">
            <a:extLst xmlns:a="http://schemas.openxmlformats.org/drawingml/2006/main">
              <a:ext uri="{FF2B5EF4-FFF2-40B4-BE49-F238E27FC236}">
                <a16:creationId xmlns:a16="http://schemas.microsoft.com/office/drawing/2014/main" id="{38943608-A469-49DE-B848-9857F9618A0D}"/>
              </a:ext>
            </a:extLst>
          </p:cNvPr>
          <p:cNvSpPr>
            <a:spLocks xmlns:a="http://schemas.openxmlformats.org/drawingml/2006/main" noGrp="1"/>
          </p:cNvSpPr>
          <p:nvPr/>
        </p:nvSpPr>
        <p:spPr>
          <a:xfrm xmlns:a="http://schemas.openxmlformats.org/drawingml/2006/main" rot="17559000">
            <a:off x="3451029" y="10572264"/>
            <a:ext cx="1498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086F8B"/>
                </a:solidFill>
                <a:latin typeface="Arial"/>
                <a:ea typeface="Arial"/>
                <a:cs typeface="Arial"/>
              </a:defRPr>
            </a:pPr>
            <a:r>
              <a:rPr sz="2400" b="0">
                <a:solidFill>
                  <a:srgbClr val="086F8B"/>
                </a:solidFill>
                <a:latin typeface="Arial"/>
                <a:ea typeface="Arial"/>
                <a:cs typeface="Arial"/>
              </a:rPr>
              <a:t>NC-VRCG</a:t>
            </a:r>
          </a:p>
        </p:txBody>
      </p:sp>
      <p:sp>
        <p:nvSpPr>
          <p:cNvPr id="174" name="StochasticGradientSliding-algorithm-53702">
            <a:extLst xmlns:a="http://schemas.openxmlformats.org/drawingml/2006/main">
              <a:ext uri="{FF2B5EF4-FFF2-40B4-BE49-F238E27FC236}">
                <a16:creationId xmlns:a16="http://schemas.microsoft.com/office/drawing/2014/main" id="{8835503A-F2C4-47BF-AACE-E4B8F1210FB1}"/>
              </a:ext>
            </a:extLst>
          </p:cNvPr>
          <p:cNvSpPr>
            <a:spLocks xmlns:a="http://schemas.openxmlformats.org/drawingml/2006/main" noGrp="1"/>
          </p:cNvSpPr>
          <p:nvPr/>
        </p:nvSpPr>
        <p:spPr>
          <a:xfrm xmlns:a="http://schemas.openxmlformats.org/drawingml/2006/main">
            <a:off x="3077747" y="8343648"/>
            <a:ext cx="1684350" cy="2150916"/>
          </a:xfrm>
          <a:custGeom xmlns:a="http://schemas.openxmlformats.org/drawingml/2006/main">
            <a:pathLst>
              <a:path w="1684350" h="2150916">
                <a:moveTo>
                  <a:pt x="560240" y="2150916"/>
                </a:moveTo>
                <a:lnTo>
                  <a:pt x="507225" y="2119852"/>
                </a:lnTo>
                <a:lnTo>
                  <a:pt x="454602" y="2088127"/>
                </a:lnTo>
                <a:lnTo>
                  <a:pt x="402381" y="2055747"/>
                </a:lnTo>
                <a:lnTo>
                  <a:pt x="350568" y="2022717"/>
                </a:lnTo>
                <a:lnTo>
                  <a:pt x="299172" y="1989041"/>
                </a:lnTo>
                <a:lnTo>
                  <a:pt x="248201" y="1954726"/>
                </a:lnTo>
                <a:lnTo>
                  <a:pt x="197664" y="1919776"/>
                </a:lnTo>
                <a:lnTo>
                  <a:pt x="147567" y="1884196"/>
                </a:lnTo>
                <a:lnTo>
                  <a:pt x="97919" y="1847994"/>
                </a:lnTo>
                <a:lnTo>
                  <a:pt x="48727" y="1811173"/>
                </a:lnTo>
                <a:lnTo>
                  <a:pt x="0" y="1773740"/>
                </a:lnTo>
                <a:lnTo>
                  <a:pt x="1380322" y="0"/>
                </a:lnTo>
                <a:lnTo>
                  <a:pt x="1406765" y="20314"/>
                </a:lnTo>
                <a:lnTo>
                  <a:pt x="1433460" y="40296"/>
                </a:lnTo>
                <a:lnTo>
                  <a:pt x="1460403" y="59942"/>
                </a:lnTo>
                <a:lnTo>
                  <a:pt x="1487589" y="79250"/>
                </a:lnTo>
                <a:lnTo>
                  <a:pt x="1515015" y="98216"/>
                </a:lnTo>
                <a:lnTo>
                  <a:pt x="1542675" y="116839"/>
                </a:lnTo>
                <a:lnTo>
                  <a:pt x="1570566" y="135113"/>
                </a:lnTo>
                <a:lnTo>
                  <a:pt x="1598684" y="153038"/>
                </a:lnTo>
                <a:lnTo>
                  <a:pt x="1627023" y="170610"/>
                </a:lnTo>
                <a:lnTo>
                  <a:pt x="1655580" y="187826"/>
                </a:lnTo>
                <a:lnTo>
                  <a:pt x="1684350" y="204684"/>
                </a:lnTo>
                <a:close/>
              </a:path>
            </a:pathLst>
          </a:custGeom>
          <a:gradFill xmlns:a="http://schemas.openxmlformats.org/drawingml/2006/main">
            <a:gsLst>
              <a:gs pos="0">
                <a:srgbClr val="134A5A"/>
              </a:gs>
              <a:gs pos="50000">
                <a:srgbClr val="144F5F"/>
              </a:gs>
              <a:gs pos="100000">
                <a:srgbClr val="336674"/>
              </a:gs>
            </a:gsLst>
            <a:lin ang="7436999"/>
          </a:gradFill>
          <a:ln xmlns:a="http://schemas.openxmlformats.org/drawingml/2006/main" w="0">
            <a:noFill/>
          </a:ln>
        </p:spPr>
      </p:sp>
      <p:sp>
        <p:nvSpPr>
          <p:cNvPr id="175" name="StochasticGradientSliding-algorithm-end">
            <a:extLst xmlns:a="http://schemas.openxmlformats.org/drawingml/2006/main">
              <a:ext uri="{FF2B5EF4-FFF2-40B4-BE49-F238E27FC236}">
                <a16:creationId xmlns:a16="http://schemas.microsoft.com/office/drawing/2014/main" id="{21AC6E96-32C1-41CF-9D0B-17C4DEA5357A}"/>
              </a:ext>
            </a:extLst>
          </p:cNvPr>
          <p:cNvSpPr>
            <a:spLocks xmlns:a="http://schemas.openxmlformats.org/drawingml/2006/main" noGrp="1"/>
          </p:cNvSpPr>
          <p:nvPr/>
        </p:nvSpPr>
        <p:spPr>
          <a:xfrm xmlns:a="http://schemas.openxmlformats.org/drawingml/2006/main">
            <a:off x="3077747" y="10097844"/>
            <a:ext cx="572626" cy="396720"/>
          </a:xfrm>
          <a:custGeom xmlns:a="http://schemas.openxmlformats.org/drawingml/2006/main">
            <a:pathLst>
              <a:path w="572626" h="396720">
                <a:moveTo>
                  <a:pt x="560240" y="396720"/>
                </a:moveTo>
                <a:lnTo>
                  <a:pt x="507225" y="365656"/>
                </a:lnTo>
                <a:lnTo>
                  <a:pt x="454602" y="333931"/>
                </a:lnTo>
                <a:lnTo>
                  <a:pt x="402381" y="301551"/>
                </a:lnTo>
                <a:lnTo>
                  <a:pt x="350568" y="268521"/>
                </a:lnTo>
                <a:lnTo>
                  <a:pt x="299172" y="234845"/>
                </a:lnTo>
                <a:lnTo>
                  <a:pt x="248201" y="200530"/>
                </a:lnTo>
                <a:lnTo>
                  <a:pt x="197664" y="165580"/>
                </a:lnTo>
                <a:lnTo>
                  <a:pt x="147567" y="130001"/>
                </a:lnTo>
                <a:lnTo>
                  <a:pt x="97919" y="93798"/>
                </a:lnTo>
                <a:lnTo>
                  <a:pt x="48727" y="56977"/>
                </a:lnTo>
                <a:lnTo>
                  <a:pt x="0" y="19544"/>
                </a:lnTo>
                <a:lnTo>
                  <a:pt x="15209" y="0"/>
                </a:lnTo>
                <a:lnTo>
                  <a:pt x="63691" y="37244"/>
                </a:lnTo>
                <a:lnTo>
                  <a:pt x="112635" y="73879"/>
                </a:lnTo>
                <a:lnTo>
                  <a:pt x="162033" y="109900"/>
                </a:lnTo>
                <a:lnTo>
                  <a:pt x="211877" y="145300"/>
                </a:lnTo>
                <a:lnTo>
                  <a:pt x="262160" y="180073"/>
                </a:lnTo>
                <a:lnTo>
                  <a:pt x="312874" y="214216"/>
                </a:lnTo>
                <a:lnTo>
                  <a:pt x="364011" y="247722"/>
                </a:lnTo>
                <a:lnTo>
                  <a:pt x="415562" y="280586"/>
                </a:lnTo>
                <a:lnTo>
                  <a:pt x="467521" y="312803"/>
                </a:lnTo>
                <a:lnTo>
                  <a:pt x="519878" y="344367"/>
                </a:lnTo>
                <a:lnTo>
                  <a:pt x="572626" y="375275"/>
                </a:lnTo>
                <a:close/>
              </a:path>
            </a:pathLst>
          </a:custGeom>
          <a:solidFill xmlns:a="http://schemas.openxmlformats.org/drawingml/2006/main">
            <a:srgbClr val="134959"/>
          </a:solidFill>
          <a:ln xmlns:a="http://schemas.openxmlformats.org/drawingml/2006/main" w="0">
            <a:noFill/>
          </a:ln>
        </p:spPr>
      </p:sp>
      <p:sp>
        <p:nvSpPr>
          <p:cNvPr id="176" name="StochasticGradientSliding-reuse-1685">
            <a:extLst xmlns:a="http://schemas.openxmlformats.org/drawingml/2006/main">
              <a:ext uri="{FF2B5EF4-FFF2-40B4-BE49-F238E27FC236}">
                <a16:creationId xmlns:a16="http://schemas.microsoft.com/office/drawing/2014/main" id="{19B27F86-C561-46E1-A584-2D12A83E61D6}"/>
              </a:ext>
            </a:extLst>
          </p:cNvPr>
          <p:cNvSpPr>
            <a:spLocks xmlns:a="http://schemas.openxmlformats.org/drawingml/2006/main" noGrp="1"/>
          </p:cNvSpPr>
          <p:nvPr/>
        </p:nvSpPr>
        <p:spPr>
          <a:xfrm xmlns:a="http://schemas.openxmlformats.org/drawingml/2006/main">
            <a:off x="4458069" y="7982328"/>
            <a:ext cx="533016" cy="566004"/>
          </a:xfrm>
          <a:custGeom xmlns:a="http://schemas.openxmlformats.org/drawingml/2006/main">
            <a:pathLst>
              <a:path w="533016" h="566004">
                <a:moveTo>
                  <a:pt x="304028" y="566004"/>
                </a:moveTo>
                <a:lnTo>
                  <a:pt x="275258" y="549147"/>
                </a:lnTo>
                <a:lnTo>
                  <a:pt x="246701" y="531930"/>
                </a:lnTo>
                <a:lnTo>
                  <a:pt x="218362" y="514359"/>
                </a:lnTo>
                <a:lnTo>
                  <a:pt x="190244" y="496434"/>
                </a:lnTo>
                <a:lnTo>
                  <a:pt x="162353" y="478159"/>
                </a:lnTo>
                <a:lnTo>
                  <a:pt x="134693" y="459537"/>
                </a:lnTo>
                <a:lnTo>
                  <a:pt x="107267" y="440570"/>
                </a:lnTo>
                <a:lnTo>
                  <a:pt x="80081" y="421262"/>
                </a:lnTo>
                <a:lnTo>
                  <a:pt x="53138" y="401616"/>
                </a:lnTo>
                <a:lnTo>
                  <a:pt x="26443" y="381634"/>
                </a:lnTo>
                <a:lnTo>
                  <a:pt x="0" y="361320"/>
                </a:lnTo>
                <a:lnTo>
                  <a:pt x="281179" y="0"/>
                </a:lnTo>
                <a:lnTo>
                  <a:pt x="303083" y="16827"/>
                </a:lnTo>
                <a:lnTo>
                  <a:pt x="325195" y="33378"/>
                </a:lnTo>
                <a:lnTo>
                  <a:pt x="347513" y="49652"/>
                </a:lnTo>
                <a:lnTo>
                  <a:pt x="370032" y="65645"/>
                </a:lnTo>
                <a:lnTo>
                  <a:pt x="392749" y="81356"/>
                </a:lnTo>
                <a:lnTo>
                  <a:pt x="415662" y="96781"/>
                </a:lnTo>
                <a:lnTo>
                  <a:pt x="438765" y="111919"/>
                </a:lnTo>
                <a:lnTo>
                  <a:pt x="462055" y="126767"/>
                </a:lnTo>
                <a:lnTo>
                  <a:pt x="485530" y="141322"/>
                </a:lnTo>
                <a:lnTo>
                  <a:pt x="509185" y="155583"/>
                </a:lnTo>
                <a:lnTo>
                  <a:pt x="533016" y="169546"/>
                </a:lnTo>
                <a:close/>
              </a:path>
            </a:pathLst>
          </a:custGeom>
          <a:gradFill xmlns:a="http://schemas.openxmlformats.org/drawingml/2006/main">
            <a:gsLst>
              <a:gs pos="0">
                <a:srgbClr val="85A3AC"/>
              </a:gs>
              <a:gs pos="100000">
                <a:srgbClr val="43727F"/>
              </a:gs>
            </a:gsLst>
            <a:lin ang="7436999"/>
          </a:gradFill>
          <a:ln xmlns:a="http://schemas.openxmlformats.org/drawingml/2006/main" w="0">
            <a:noFill/>
          </a:ln>
        </p:spPr>
      </p:sp>
      <p:sp>
        <p:nvSpPr>
          <p:cNvPr id="177" name="StochasticGradientSliding-reuse-end">
            <a:extLst xmlns:a="http://schemas.openxmlformats.org/drawingml/2006/main">
              <a:ext uri="{FF2B5EF4-FFF2-40B4-BE49-F238E27FC236}">
                <a16:creationId xmlns:a16="http://schemas.microsoft.com/office/drawing/2014/main" id="{FD5CD158-4CAF-4D6A-B1F2-75A935B3F009}"/>
              </a:ext>
            </a:extLst>
          </p:cNvPr>
          <p:cNvSpPr>
            <a:spLocks xmlns:a="http://schemas.openxmlformats.org/drawingml/2006/main" noGrp="1"/>
          </p:cNvSpPr>
          <p:nvPr/>
        </p:nvSpPr>
        <p:spPr>
          <a:xfrm xmlns:a="http://schemas.openxmlformats.org/drawingml/2006/main">
            <a:off x="4724623" y="7982328"/>
            <a:ext cx="266461" cy="190166"/>
          </a:xfrm>
          <a:custGeom xmlns:a="http://schemas.openxmlformats.org/drawingml/2006/main">
            <a:pathLst>
              <a:path w="266461" h="190166">
                <a:moveTo>
                  <a:pt x="254551" y="190166"/>
                </a:moveTo>
                <a:lnTo>
                  <a:pt x="230463" y="176052"/>
                </a:lnTo>
                <a:lnTo>
                  <a:pt x="206554" y="161638"/>
                </a:lnTo>
                <a:lnTo>
                  <a:pt x="182826" y="146926"/>
                </a:lnTo>
                <a:lnTo>
                  <a:pt x="159284" y="131918"/>
                </a:lnTo>
                <a:lnTo>
                  <a:pt x="135932" y="116617"/>
                </a:lnTo>
                <a:lnTo>
                  <a:pt x="112773" y="101025"/>
                </a:lnTo>
                <a:lnTo>
                  <a:pt x="89811" y="85145"/>
                </a:lnTo>
                <a:lnTo>
                  <a:pt x="67049" y="68980"/>
                </a:lnTo>
                <a:lnTo>
                  <a:pt x="44491" y="52530"/>
                </a:lnTo>
                <a:lnTo>
                  <a:pt x="22140" y="35801"/>
                </a:lnTo>
                <a:lnTo>
                  <a:pt x="0" y="18793"/>
                </a:lnTo>
                <a:lnTo>
                  <a:pt x="14624" y="0"/>
                </a:lnTo>
                <a:lnTo>
                  <a:pt x="36528" y="16827"/>
                </a:lnTo>
                <a:lnTo>
                  <a:pt x="58640" y="33378"/>
                </a:lnTo>
                <a:lnTo>
                  <a:pt x="80958" y="49652"/>
                </a:lnTo>
                <a:lnTo>
                  <a:pt x="103477" y="65645"/>
                </a:lnTo>
                <a:lnTo>
                  <a:pt x="126195" y="81356"/>
                </a:lnTo>
                <a:lnTo>
                  <a:pt x="149107" y="96781"/>
                </a:lnTo>
                <a:lnTo>
                  <a:pt x="172210" y="111919"/>
                </a:lnTo>
                <a:lnTo>
                  <a:pt x="195501" y="126767"/>
                </a:lnTo>
                <a:lnTo>
                  <a:pt x="218975" y="141322"/>
                </a:lnTo>
                <a:lnTo>
                  <a:pt x="242630" y="155583"/>
                </a:lnTo>
                <a:lnTo>
                  <a:pt x="266461" y="169546"/>
                </a:lnTo>
                <a:close/>
              </a:path>
            </a:pathLst>
          </a:custGeom>
          <a:solidFill xmlns:a="http://schemas.openxmlformats.org/drawingml/2006/main">
            <a:srgbClr val="2C616F"/>
          </a:solidFill>
          <a:ln xmlns:a="http://schemas.openxmlformats.org/drawingml/2006/main" w="0">
            <a:noFill/>
          </a:ln>
        </p:spPr>
      </p:sp>
      <p:sp>
        <p:nvSpPr>
          <p:cNvPr id="178" name="StochasticGradientSliding-inbar-tick-5000">
            <a:extLst xmlns:a="http://schemas.openxmlformats.org/drawingml/2006/main">
              <a:ext uri="{FF2B5EF4-FFF2-40B4-BE49-F238E27FC236}">
                <a16:creationId xmlns:a16="http://schemas.microsoft.com/office/drawing/2014/main" id="{AD9F4728-916F-4140-AB10-6997BF02A5A3}"/>
              </a:ext>
            </a:extLst>
          </p:cNvPr>
          <p:cNvSpPr>
            <a:spLocks xmlns:a="http://schemas.openxmlformats.org/drawingml/2006/main" noGrp="1"/>
          </p:cNvSpPr>
          <p:nvPr/>
        </p:nvSpPr>
        <p:spPr>
          <a:xfrm xmlns:a="http://schemas.openxmlformats.org/drawingml/2006/main">
            <a:off x="4033084" y="8879989"/>
            <a:ext cx="389106" cy="267564"/>
          </a:xfrm>
          <a:custGeom xmlns:a="http://schemas.openxmlformats.org/drawingml/2006/main">
            <a:pathLst>
              <a:path w="389106" h="267564">
                <a:moveTo>
                  <a:pt x="382913" y="267564"/>
                </a:moveTo>
                <a:lnTo>
                  <a:pt x="346678" y="246332"/>
                </a:lnTo>
                <a:lnTo>
                  <a:pt x="310712" y="224649"/>
                </a:lnTo>
                <a:lnTo>
                  <a:pt x="275019" y="202518"/>
                </a:lnTo>
                <a:lnTo>
                  <a:pt x="239606" y="179943"/>
                </a:lnTo>
                <a:lnTo>
                  <a:pt x="204478" y="156926"/>
                </a:lnTo>
                <a:lnTo>
                  <a:pt x="169641" y="133472"/>
                </a:lnTo>
                <a:lnTo>
                  <a:pt x="135099" y="109584"/>
                </a:lnTo>
                <a:lnTo>
                  <a:pt x="100859" y="85267"/>
                </a:lnTo>
                <a:lnTo>
                  <a:pt x="66926" y="60523"/>
                </a:lnTo>
                <a:lnTo>
                  <a:pt x="33304" y="35357"/>
                </a:lnTo>
                <a:lnTo>
                  <a:pt x="0" y="9772"/>
                </a:lnTo>
                <a:lnTo>
                  <a:pt x="7605" y="0"/>
                </a:lnTo>
                <a:lnTo>
                  <a:pt x="40786" y="25490"/>
                </a:lnTo>
                <a:lnTo>
                  <a:pt x="74284" y="50564"/>
                </a:lnTo>
                <a:lnTo>
                  <a:pt x="108092" y="75216"/>
                </a:lnTo>
                <a:lnTo>
                  <a:pt x="142206" y="99444"/>
                </a:lnTo>
                <a:lnTo>
                  <a:pt x="176620" y="123244"/>
                </a:lnTo>
                <a:lnTo>
                  <a:pt x="211329" y="146611"/>
                </a:lnTo>
                <a:lnTo>
                  <a:pt x="246328" y="169543"/>
                </a:lnTo>
                <a:lnTo>
                  <a:pt x="281610" y="192036"/>
                </a:lnTo>
                <a:lnTo>
                  <a:pt x="317171" y="214085"/>
                </a:lnTo>
                <a:lnTo>
                  <a:pt x="353005" y="235688"/>
                </a:lnTo>
                <a:lnTo>
                  <a:pt x="389106" y="256842"/>
                </a:lnTo>
                <a:close/>
              </a:path>
            </a:pathLst>
          </a:custGeom>
          <a:solidFill xmlns:a="http://schemas.openxmlformats.org/drawingml/2006/main">
            <a:srgbClr val="B6C8CD"/>
          </a:solidFill>
          <a:ln xmlns:a="http://schemas.openxmlformats.org/drawingml/2006/main" w="0">
            <a:noFill/>
          </a:ln>
        </p:spPr>
      </p:sp>
      <p:sp>
        <p:nvSpPr>
          <p:cNvPr id="179" name="StochasticGradientSliding-inbar-tick-20000">
            <a:extLst xmlns:a="http://schemas.openxmlformats.org/drawingml/2006/main">
              <a:ext uri="{FF2B5EF4-FFF2-40B4-BE49-F238E27FC236}">
                <a16:creationId xmlns:a16="http://schemas.microsoft.com/office/drawing/2014/main" id="{F0B3DDEA-4331-459F-A663-F948C071A4F3}"/>
              </a:ext>
            </a:extLst>
          </p:cNvPr>
          <p:cNvSpPr>
            <a:spLocks xmlns:a="http://schemas.openxmlformats.org/drawingml/2006/main" noGrp="1"/>
          </p:cNvSpPr>
          <p:nvPr/>
        </p:nvSpPr>
        <p:spPr>
          <a:xfrm xmlns:a="http://schemas.openxmlformats.org/drawingml/2006/main">
            <a:off x="3611902" y="9421217"/>
            <a:ext cx="467284" cy="320197"/>
          </a:xfrm>
          <a:custGeom xmlns:a="http://schemas.openxmlformats.org/drawingml/2006/main">
            <a:pathLst>
              <a:path w="467284" h="320197">
                <a:moveTo>
                  <a:pt x="461091" y="320197"/>
                </a:moveTo>
                <a:lnTo>
                  <a:pt x="417459" y="294631"/>
                </a:lnTo>
                <a:lnTo>
                  <a:pt x="374149" y="268520"/>
                </a:lnTo>
                <a:lnTo>
                  <a:pt x="331169" y="241871"/>
                </a:lnTo>
                <a:lnTo>
                  <a:pt x="288526" y="214686"/>
                </a:lnTo>
                <a:lnTo>
                  <a:pt x="246226" y="186970"/>
                </a:lnTo>
                <a:lnTo>
                  <a:pt x="204276" y="158728"/>
                </a:lnTo>
                <a:lnTo>
                  <a:pt x="162682" y="129963"/>
                </a:lnTo>
                <a:lnTo>
                  <a:pt x="121451" y="100680"/>
                </a:lnTo>
                <a:lnTo>
                  <a:pt x="80590" y="70885"/>
                </a:lnTo>
                <a:lnTo>
                  <a:pt x="40104" y="40580"/>
                </a:lnTo>
                <a:lnTo>
                  <a:pt x="0" y="9772"/>
                </a:lnTo>
                <a:lnTo>
                  <a:pt x="7605" y="0"/>
                </a:lnTo>
                <a:lnTo>
                  <a:pt x="47586" y="30714"/>
                </a:lnTo>
                <a:lnTo>
                  <a:pt x="87948" y="60925"/>
                </a:lnTo>
                <a:lnTo>
                  <a:pt x="128684" y="90630"/>
                </a:lnTo>
                <a:lnTo>
                  <a:pt x="169789" y="119823"/>
                </a:lnTo>
                <a:lnTo>
                  <a:pt x="211255" y="148500"/>
                </a:lnTo>
                <a:lnTo>
                  <a:pt x="253077" y="176656"/>
                </a:lnTo>
                <a:lnTo>
                  <a:pt x="295248" y="204287"/>
                </a:lnTo>
                <a:lnTo>
                  <a:pt x="337760" y="231388"/>
                </a:lnTo>
                <a:lnTo>
                  <a:pt x="380608" y="257956"/>
                </a:lnTo>
                <a:lnTo>
                  <a:pt x="423785" y="283986"/>
                </a:lnTo>
                <a:lnTo>
                  <a:pt x="467284" y="309475"/>
                </a:lnTo>
                <a:close/>
              </a:path>
            </a:pathLst>
          </a:custGeom>
          <a:solidFill xmlns:a="http://schemas.openxmlformats.org/drawingml/2006/main">
            <a:srgbClr val="B6C8CD"/>
          </a:solidFill>
          <a:ln xmlns:a="http://schemas.openxmlformats.org/drawingml/2006/main" w="0">
            <a:noFill/>
          </a:ln>
        </p:spPr>
      </p:sp>
      <p:sp>
        <p:nvSpPr>
          <p:cNvPr id="180" name="StochasticGradientSliding-baseline-gap">
            <a:extLst xmlns:a="http://schemas.openxmlformats.org/drawingml/2006/main">
              <a:ext uri="{FF2B5EF4-FFF2-40B4-BE49-F238E27FC236}">
                <a16:creationId xmlns:a16="http://schemas.microsoft.com/office/drawing/2014/main" id="{59C07967-90F1-4AFB-9B9A-49795DE77B31}"/>
              </a:ext>
            </a:extLst>
          </p:cNvPr>
          <p:cNvSpPr>
            <a:spLocks xmlns:a="http://schemas.openxmlformats.org/drawingml/2006/main" noGrp="1"/>
          </p:cNvSpPr>
          <p:nvPr/>
        </p:nvSpPr>
        <p:spPr>
          <a:xfrm xmlns:a="http://schemas.openxmlformats.org/drawingml/2006/main">
            <a:off x="4431929" y="8313929"/>
            <a:ext cx="353390" cy="265492"/>
          </a:xfrm>
          <a:custGeom xmlns:a="http://schemas.openxmlformats.org/drawingml/2006/main">
            <a:pathLst>
              <a:path w="353390" h="265492">
                <a:moveTo>
                  <a:pt x="323086" y="265492"/>
                </a:moveTo>
                <a:lnTo>
                  <a:pt x="294997" y="249174"/>
                </a:lnTo>
                <a:lnTo>
                  <a:pt x="267107" y="232518"/>
                </a:lnTo>
                <a:lnTo>
                  <a:pt x="239419" y="215528"/>
                </a:lnTo>
                <a:lnTo>
                  <a:pt x="211938" y="198205"/>
                </a:lnTo>
                <a:lnTo>
                  <a:pt x="184668" y="180553"/>
                </a:lnTo>
                <a:lnTo>
                  <a:pt x="157612" y="162574"/>
                </a:lnTo>
                <a:lnTo>
                  <a:pt x="130775" y="144270"/>
                </a:lnTo>
                <a:lnTo>
                  <a:pt x="104160" y="125645"/>
                </a:lnTo>
                <a:lnTo>
                  <a:pt x="77771" y="106700"/>
                </a:lnTo>
                <a:lnTo>
                  <a:pt x="51612" y="87439"/>
                </a:lnTo>
                <a:lnTo>
                  <a:pt x="25687" y="67864"/>
                </a:lnTo>
                <a:lnTo>
                  <a:pt x="0" y="47978"/>
                </a:lnTo>
                <a:lnTo>
                  <a:pt x="37606" y="0"/>
                </a:lnTo>
                <a:lnTo>
                  <a:pt x="62713" y="19436"/>
                </a:lnTo>
                <a:lnTo>
                  <a:pt x="88052" y="38569"/>
                </a:lnTo>
                <a:lnTo>
                  <a:pt x="113619" y="57395"/>
                </a:lnTo>
                <a:lnTo>
                  <a:pt x="139412" y="75911"/>
                </a:lnTo>
                <a:lnTo>
                  <a:pt x="165425" y="94116"/>
                </a:lnTo>
                <a:lnTo>
                  <a:pt x="191656" y="112006"/>
                </a:lnTo>
                <a:lnTo>
                  <a:pt x="218101" y="129579"/>
                </a:lnTo>
                <a:lnTo>
                  <a:pt x="244755" y="146832"/>
                </a:lnTo>
                <a:lnTo>
                  <a:pt x="271615" y="163763"/>
                </a:lnTo>
                <a:lnTo>
                  <a:pt x="298676" y="180369"/>
                </a:lnTo>
                <a:lnTo>
                  <a:pt x="325936" y="196649"/>
                </a:lnTo>
                <a:lnTo>
                  <a:pt x="353390" y="212598"/>
                </a:lnTo>
                <a:close/>
              </a:path>
            </a:pathLst>
          </a:custGeom>
          <a:solidFill xmlns:a="http://schemas.openxmlformats.org/drawingml/2006/main">
            <a:srgbClr val="FFFFFF"/>
          </a:solidFill>
          <a:ln xmlns:a="http://schemas.openxmlformats.org/drawingml/2006/main" w="0">
            <a:noFill/>
          </a:ln>
        </p:spPr>
      </p:sp>
      <p:sp>
        <p:nvSpPr>
          <p:cNvPr id="181" name="StochasticGradientSliding-label">
            <a:extLst xmlns:a="http://schemas.openxmlformats.org/drawingml/2006/main">
              <a:ext uri="{FF2B5EF4-FFF2-40B4-BE49-F238E27FC236}">
                <a16:creationId xmlns:a16="http://schemas.microsoft.com/office/drawing/2014/main" id="{0011FC02-AF6E-4557-B53A-8B9B272CF121}"/>
              </a:ext>
            </a:extLst>
          </p:cNvPr>
          <p:cNvSpPr>
            <a:spLocks xmlns:a="http://schemas.openxmlformats.org/drawingml/2006/main" noGrp="1"/>
          </p:cNvSpPr>
          <p:nvPr/>
        </p:nvSpPr>
        <p:spPr>
          <a:xfrm xmlns:a="http://schemas.openxmlformats.org/drawingml/2006/main" rot="18237000">
            <a:off x="2726590" y="10499456"/>
            <a:ext cx="71988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34858"/>
                </a:solidFill>
                <a:latin typeface="Arial"/>
                <a:ea typeface="Arial"/>
                <a:cs typeface="Arial"/>
              </a:defRPr>
            </a:pPr>
            <a:r>
              <a:rPr sz="2400" b="0">
                <a:solidFill>
                  <a:srgbClr val="134858"/>
                </a:solidFill>
                <a:latin typeface="Arial"/>
                <a:ea typeface="Arial"/>
                <a:cs typeface="Arial"/>
              </a:rPr>
              <a:t>SGS</a:t>
            </a:r>
          </a:p>
        </p:txBody>
      </p:sp>
      <p:sp>
        <p:nvSpPr>
          <p:cNvPr id="182" name="PullWithMemoryDGD-algorithm-3304">
            <a:extLst xmlns:a="http://schemas.openxmlformats.org/drawingml/2006/main">
              <a:ext uri="{FF2B5EF4-FFF2-40B4-BE49-F238E27FC236}">
                <a16:creationId xmlns:a16="http://schemas.microsoft.com/office/drawing/2014/main" id="{9EA45783-AFD0-4F36-8122-397F77E6A3CA}"/>
              </a:ext>
            </a:extLst>
          </p:cNvPr>
          <p:cNvSpPr>
            <a:spLocks xmlns:a="http://schemas.openxmlformats.org/drawingml/2006/main" noGrp="1"/>
          </p:cNvSpPr>
          <p:nvPr/>
        </p:nvSpPr>
        <p:spPr>
          <a:xfrm xmlns:a="http://schemas.openxmlformats.org/drawingml/2006/main">
            <a:off x="3352610" y="7640357"/>
            <a:ext cx="669607" cy="626056"/>
          </a:xfrm>
          <a:custGeom xmlns:a="http://schemas.openxmlformats.org/drawingml/2006/main">
            <a:pathLst>
              <a:path w="669607" h="626056">
                <a:moveTo>
                  <a:pt x="236123" y="626056"/>
                </a:moveTo>
                <a:lnTo>
                  <a:pt x="210634" y="594124"/>
                </a:lnTo>
                <a:lnTo>
                  <a:pt x="185552" y="561872"/>
                </a:lnTo>
                <a:lnTo>
                  <a:pt x="160880" y="529305"/>
                </a:lnTo>
                <a:lnTo>
                  <a:pt x="136623" y="496427"/>
                </a:lnTo>
                <a:lnTo>
                  <a:pt x="112784" y="463245"/>
                </a:lnTo>
                <a:lnTo>
                  <a:pt x="89368" y="429764"/>
                </a:lnTo>
                <a:lnTo>
                  <a:pt x="66377" y="395988"/>
                </a:lnTo>
                <a:lnTo>
                  <a:pt x="43817" y="361924"/>
                </a:lnTo>
                <a:lnTo>
                  <a:pt x="21690" y="327577"/>
                </a:lnTo>
                <a:lnTo>
                  <a:pt x="0" y="292952"/>
                </a:lnTo>
                <a:lnTo>
                  <a:pt x="474307" y="0"/>
                </a:lnTo>
                <a:lnTo>
                  <a:pt x="492247" y="28638"/>
                </a:lnTo>
                <a:lnTo>
                  <a:pt x="510549" y="57047"/>
                </a:lnTo>
                <a:lnTo>
                  <a:pt x="529209" y="85222"/>
                </a:lnTo>
                <a:lnTo>
                  <a:pt x="548224" y="113158"/>
                </a:lnTo>
                <a:lnTo>
                  <a:pt x="567592" y="140851"/>
                </a:lnTo>
                <a:lnTo>
                  <a:pt x="587309" y="168296"/>
                </a:lnTo>
                <a:lnTo>
                  <a:pt x="607372" y="195489"/>
                </a:lnTo>
                <a:lnTo>
                  <a:pt x="627779" y="222426"/>
                </a:lnTo>
                <a:lnTo>
                  <a:pt x="648525" y="249102"/>
                </a:lnTo>
                <a:lnTo>
                  <a:pt x="669607" y="275513"/>
                </a:lnTo>
                <a:close/>
              </a:path>
            </a:pathLst>
          </a:custGeom>
          <a:gradFill xmlns:a="http://schemas.openxmlformats.org/drawingml/2006/main">
            <a:gsLst>
              <a:gs pos="0">
                <a:srgbClr val="2370A4"/>
              </a:gs>
              <a:gs pos="50000">
                <a:srgbClr val="267BB3"/>
              </a:gs>
              <a:gs pos="100000">
                <a:srgbClr val="428CBD"/>
              </a:gs>
            </a:gsLst>
            <a:lin ang="8680125"/>
          </a:gradFill>
          <a:ln xmlns:a="http://schemas.openxmlformats.org/drawingml/2006/main" w="0">
            <a:noFill/>
          </a:ln>
        </p:spPr>
      </p:sp>
      <p:sp>
        <p:nvSpPr>
          <p:cNvPr id="183" name="PullWithMemoryDGD-algorithm-end">
            <a:extLst xmlns:a="http://schemas.openxmlformats.org/drawingml/2006/main">
              <a:ext uri="{FF2B5EF4-FFF2-40B4-BE49-F238E27FC236}">
                <a16:creationId xmlns:a16="http://schemas.microsoft.com/office/drawing/2014/main" id="{C230E6DF-2BCF-446F-A283-C9E58742634F}"/>
              </a:ext>
            </a:extLst>
          </p:cNvPr>
          <p:cNvSpPr>
            <a:spLocks xmlns:a="http://schemas.openxmlformats.org/drawingml/2006/main" noGrp="1"/>
          </p:cNvSpPr>
          <p:nvPr/>
        </p:nvSpPr>
        <p:spPr>
          <a:xfrm xmlns:a="http://schemas.openxmlformats.org/drawingml/2006/main">
            <a:off x="3352610" y="7920296"/>
            <a:ext cx="255380" cy="346117"/>
          </a:xfrm>
          <a:custGeom xmlns:a="http://schemas.openxmlformats.org/drawingml/2006/main">
            <a:pathLst>
              <a:path w="255380" h="346117">
                <a:moveTo>
                  <a:pt x="236123" y="346117"/>
                </a:moveTo>
                <a:lnTo>
                  <a:pt x="210634" y="314186"/>
                </a:lnTo>
                <a:lnTo>
                  <a:pt x="185552" y="281933"/>
                </a:lnTo>
                <a:lnTo>
                  <a:pt x="160880" y="249366"/>
                </a:lnTo>
                <a:lnTo>
                  <a:pt x="136623" y="216489"/>
                </a:lnTo>
                <a:lnTo>
                  <a:pt x="112784" y="183307"/>
                </a:lnTo>
                <a:lnTo>
                  <a:pt x="89368" y="149825"/>
                </a:lnTo>
                <a:lnTo>
                  <a:pt x="66377" y="116050"/>
                </a:lnTo>
                <a:lnTo>
                  <a:pt x="43817" y="81986"/>
                </a:lnTo>
                <a:lnTo>
                  <a:pt x="21690" y="47639"/>
                </a:lnTo>
                <a:lnTo>
                  <a:pt x="0" y="13014"/>
                </a:lnTo>
                <a:lnTo>
                  <a:pt x="21070" y="0"/>
                </a:lnTo>
                <a:lnTo>
                  <a:pt x="42593" y="34359"/>
                </a:lnTo>
                <a:lnTo>
                  <a:pt x="64550" y="68442"/>
                </a:lnTo>
                <a:lnTo>
                  <a:pt x="86938" y="102245"/>
                </a:lnTo>
                <a:lnTo>
                  <a:pt x="109751" y="135761"/>
                </a:lnTo>
                <a:lnTo>
                  <a:pt x="132988" y="168985"/>
                </a:lnTo>
                <a:lnTo>
                  <a:pt x="156643" y="201912"/>
                </a:lnTo>
                <a:lnTo>
                  <a:pt x="180714" y="234537"/>
                </a:lnTo>
                <a:lnTo>
                  <a:pt x="205197" y="266854"/>
                </a:lnTo>
                <a:lnTo>
                  <a:pt x="230086" y="298859"/>
                </a:lnTo>
                <a:lnTo>
                  <a:pt x="255380" y="330545"/>
                </a:lnTo>
                <a:close/>
              </a:path>
            </a:pathLst>
          </a:custGeom>
          <a:solidFill xmlns:a="http://schemas.openxmlformats.org/drawingml/2006/main">
            <a:srgbClr val="2270A2"/>
          </a:solidFill>
          <a:ln xmlns:a="http://schemas.openxmlformats.org/drawingml/2006/main" w="0">
            <a:noFill/>
          </a:ln>
        </p:spPr>
      </p:sp>
      <p:sp>
        <p:nvSpPr>
          <p:cNvPr id="184" name="PullWithMemoryDGD-reuse-483">
            <a:extLst xmlns:a="http://schemas.openxmlformats.org/drawingml/2006/main">
              <a:ext uri="{FF2B5EF4-FFF2-40B4-BE49-F238E27FC236}">
                <a16:creationId xmlns:a16="http://schemas.microsoft.com/office/drawing/2014/main" id="{CF0025D0-A00D-4532-9CAD-D4E3B113874B}"/>
              </a:ext>
            </a:extLst>
          </p:cNvPr>
          <p:cNvSpPr>
            <a:spLocks xmlns:a="http://schemas.openxmlformats.org/drawingml/2006/main" noGrp="1"/>
          </p:cNvSpPr>
          <p:nvPr/>
        </p:nvSpPr>
        <p:spPr>
          <a:xfrm xmlns:a="http://schemas.openxmlformats.org/drawingml/2006/main">
            <a:off x="3826917" y="7511548"/>
            <a:ext cx="385900" cy="404323"/>
          </a:xfrm>
          <a:custGeom xmlns:a="http://schemas.openxmlformats.org/drawingml/2006/main">
            <a:pathLst>
              <a:path w="385900" h="404323">
                <a:moveTo>
                  <a:pt x="195300" y="404323"/>
                </a:moveTo>
                <a:lnTo>
                  <a:pt x="174217" y="377912"/>
                </a:lnTo>
                <a:lnTo>
                  <a:pt x="153471" y="351236"/>
                </a:lnTo>
                <a:lnTo>
                  <a:pt x="133065" y="324299"/>
                </a:lnTo>
                <a:lnTo>
                  <a:pt x="113002" y="297106"/>
                </a:lnTo>
                <a:lnTo>
                  <a:pt x="93285" y="269661"/>
                </a:lnTo>
                <a:lnTo>
                  <a:pt x="73917" y="241968"/>
                </a:lnTo>
                <a:lnTo>
                  <a:pt x="54901" y="214032"/>
                </a:lnTo>
                <a:lnTo>
                  <a:pt x="36241" y="185857"/>
                </a:lnTo>
                <a:lnTo>
                  <a:pt x="17940" y="157448"/>
                </a:lnTo>
                <a:lnTo>
                  <a:pt x="0" y="128810"/>
                </a:lnTo>
                <a:lnTo>
                  <a:pt x="208550" y="0"/>
                </a:lnTo>
                <a:lnTo>
                  <a:pt x="224842" y="26006"/>
                </a:lnTo>
                <a:lnTo>
                  <a:pt x="241461" y="51804"/>
                </a:lnTo>
                <a:lnTo>
                  <a:pt x="258406" y="77389"/>
                </a:lnTo>
                <a:lnTo>
                  <a:pt x="275674" y="102758"/>
                </a:lnTo>
                <a:lnTo>
                  <a:pt x="293261" y="127905"/>
                </a:lnTo>
                <a:lnTo>
                  <a:pt x="311166" y="152828"/>
                </a:lnTo>
                <a:lnTo>
                  <a:pt x="329386" y="177522"/>
                </a:lnTo>
                <a:lnTo>
                  <a:pt x="347916" y="201983"/>
                </a:lnTo>
                <a:lnTo>
                  <a:pt x="366756" y="226207"/>
                </a:lnTo>
                <a:lnTo>
                  <a:pt x="385900" y="250191"/>
                </a:lnTo>
                <a:close/>
              </a:path>
            </a:pathLst>
          </a:custGeom>
          <a:gradFill xmlns:a="http://schemas.openxmlformats.org/drawingml/2006/main">
            <a:gsLst>
              <a:gs pos="0">
                <a:srgbClr val="8EBAD7"/>
              </a:gs>
              <a:gs pos="100000">
                <a:srgbClr val="5195C2"/>
              </a:gs>
            </a:gsLst>
            <a:lin ang="8680125"/>
          </a:gradFill>
          <a:ln xmlns:a="http://schemas.openxmlformats.org/drawingml/2006/main" w="0">
            <a:noFill/>
          </a:ln>
        </p:spPr>
      </p:sp>
      <p:sp>
        <p:nvSpPr>
          <p:cNvPr id="185" name="PullWithMemoryDGD-reuse-end">
            <a:extLst xmlns:a="http://schemas.openxmlformats.org/drawingml/2006/main">
              <a:ext uri="{FF2B5EF4-FFF2-40B4-BE49-F238E27FC236}">
                <a16:creationId xmlns:a16="http://schemas.microsoft.com/office/drawing/2014/main" id="{0111969A-4630-4D54-A043-0F3E630543BA}"/>
              </a:ext>
            </a:extLst>
          </p:cNvPr>
          <p:cNvSpPr>
            <a:spLocks xmlns:a="http://schemas.openxmlformats.org/drawingml/2006/main" noGrp="1"/>
          </p:cNvSpPr>
          <p:nvPr/>
        </p:nvSpPr>
        <p:spPr>
          <a:xfrm xmlns:a="http://schemas.openxmlformats.org/drawingml/2006/main">
            <a:off x="4015208" y="7511548"/>
            <a:ext cx="197609" cy="265164"/>
          </a:xfrm>
          <a:custGeom xmlns:a="http://schemas.openxmlformats.org/drawingml/2006/main">
            <a:pathLst>
              <a:path w="197609" h="265164">
                <a:moveTo>
                  <a:pt x="179094" y="265164"/>
                </a:moveTo>
                <a:lnTo>
                  <a:pt x="159761" y="240944"/>
                </a:lnTo>
                <a:lnTo>
                  <a:pt x="140736" y="216482"/>
                </a:lnTo>
                <a:lnTo>
                  <a:pt x="122023" y="191781"/>
                </a:lnTo>
                <a:lnTo>
                  <a:pt x="103625" y="166844"/>
                </a:lnTo>
                <a:lnTo>
                  <a:pt x="85544" y="141676"/>
                </a:lnTo>
                <a:lnTo>
                  <a:pt x="67783" y="116281"/>
                </a:lnTo>
                <a:lnTo>
                  <a:pt x="50346" y="90663"/>
                </a:lnTo>
                <a:lnTo>
                  <a:pt x="33234" y="64827"/>
                </a:lnTo>
                <a:lnTo>
                  <a:pt x="16451" y="38775"/>
                </a:lnTo>
                <a:lnTo>
                  <a:pt x="0" y="12513"/>
                </a:lnTo>
                <a:lnTo>
                  <a:pt x="20260" y="0"/>
                </a:lnTo>
                <a:lnTo>
                  <a:pt x="36551" y="26006"/>
                </a:lnTo>
                <a:lnTo>
                  <a:pt x="53170" y="51804"/>
                </a:lnTo>
                <a:lnTo>
                  <a:pt x="70115" y="77389"/>
                </a:lnTo>
                <a:lnTo>
                  <a:pt x="87383" y="102758"/>
                </a:lnTo>
                <a:lnTo>
                  <a:pt x="104971" y="127905"/>
                </a:lnTo>
                <a:lnTo>
                  <a:pt x="122875" y="152828"/>
                </a:lnTo>
                <a:lnTo>
                  <a:pt x="141095" y="177522"/>
                </a:lnTo>
                <a:lnTo>
                  <a:pt x="159626" y="201983"/>
                </a:lnTo>
                <a:lnTo>
                  <a:pt x="178465" y="226207"/>
                </a:lnTo>
                <a:lnTo>
                  <a:pt x="197609" y="250191"/>
                </a:lnTo>
                <a:close/>
              </a:path>
            </a:pathLst>
          </a:custGeom>
          <a:solidFill xmlns:a="http://schemas.openxmlformats.org/drawingml/2006/main">
            <a:srgbClr val="3C88BB"/>
          </a:solidFill>
          <a:ln xmlns:a="http://schemas.openxmlformats.org/drawingml/2006/main" w="0">
            <a:noFill/>
          </a:ln>
        </p:spPr>
      </p:sp>
      <p:sp>
        <p:nvSpPr>
          <p:cNvPr id="186" name="PullWithMemoryDGD-baseline-gap">
            <a:extLst xmlns:a="http://schemas.openxmlformats.org/drawingml/2006/main">
              <a:ext uri="{FF2B5EF4-FFF2-40B4-BE49-F238E27FC236}">
                <a16:creationId xmlns:a16="http://schemas.microsoft.com/office/drawing/2014/main" id="{39403E21-A1EE-4F7F-A0B0-73A916800873}"/>
              </a:ext>
            </a:extLst>
          </p:cNvPr>
          <p:cNvSpPr>
            <a:spLocks xmlns:a="http://schemas.openxmlformats.org/drawingml/2006/main" noGrp="1"/>
          </p:cNvSpPr>
          <p:nvPr/>
        </p:nvSpPr>
        <p:spPr>
          <a:xfrm xmlns:a="http://schemas.openxmlformats.org/drawingml/2006/main">
            <a:off x="3796051" y="7616502"/>
            <a:ext cx="255666" cy="325845"/>
          </a:xfrm>
          <a:custGeom xmlns:a="http://schemas.openxmlformats.org/drawingml/2006/main">
            <a:pathLst>
              <a:path w="255666" h="325845">
                <a:moveTo>
                  <a:pt x="208399" y="325845"/>
                </a:moveTo>
                <a:lnTo>
                  <a:pt x="187850" y="300300"/>
                </a:lnTo>
                <a:lnTo>
                  <a:pt x="167614" y="274506"/>
                </a:lnTo>
                <a:lnTo>
                  <a:pt x="147692" y="248469"/>
                </a:lnTo>
                <a:lnTo>
                  <a:pt x="128088" y="222191"/>
                </a:lnTo>
                <a:lnTo>
                  <a:pt x="108805" y="195677"/>
                </a:lnTo>
                <a:lnTo>
                  <a:pt x="89846" y="168931"/>
                </a:lnTo>
                <a:lnTo>
                  <a:pt x="71213" y="141956"/>
                </a:lnTo>
                <a:lnTo>
                  <a:pt x="52909" y="114757"/>
                </a:lnTo>
                <a:lnTo>
                  <a:pt x="34937" y="87337"/>
                </a:lnTo>
                <a:lnTo>
                  <a:pt x="17300" y="59701"/>
                </a:lnTo>
                <a:lnTo>
                  <a:pt x="0" y="31853"/>
                </a:lnTo>
                <a:lnTo>
                  <a:pt x="51976" y="0"/>
                </a:lnTo>
                <a:lnTo>
                  <a:pt x="68885" y="27219"/>
                </a:lnTo>
                <a:lnTo>
                  <a:pt x="86124" y="54231"/>
                </a:lnTo>
                <a:lnTo>
                  <a:pt x="103690" y="81031"/>
                </a:lnTo>
                <a:lnTo>
                  <a:pt x="121580" y="107615"/>
                </a:lnTo>
                <a:lnTo>
                  <a:pt x="139791" y="133980"/>
                </a:lnTo>
                <a:lnTo>
                  <a:pt x="158322" y="160122"/>
                </a:lnTo>
                <a:lnTo>
                  <a:pt x="177170" y="186037"/>
                </a:lnTo>
                <a:lnTo>
                  <a:pt x="196331" y="211721"/>
                </a:lnTo>
                <a:lnTo>
                  <a:pt x="215802" y="237170"/>
                </a:lnTo>
                <a:lnTo>
                  <a:pt x="235582" y="262380"/>
                </a:lnTo>
                <a:lnTo>
                  <a:pt x="255666" y="287349"/>
                </a:lnTo>
                <a:close/>
              </a:path>
            </a:pathLst>
          </a:custGeom>
          <a:solidFill xmlns:a="http://schemas.openxmlformats.org/drawingml/2006/main">
            <a:srgbClr val="FFFFFF"/>
          </a:solidFill>
          <a:ln xmlns:a="http://schemas.openxmlformats.org/drawingml/2006/main" w="0">
            <a:noFill/>
          </a:ln>
        </p:spPr>
      </p:sp>
      <p:sp>
        <p:nvSpPr>
          <p:cNvPr id="187" name="PullWithMemoryDGD-label">
            <a:extLst xmlns:a="http://schemas.openxmlformats.org/drawingml/2006/main">
              <a:ext uri="{FF2B5EF4-FFF2-40B4-BE49-F238E27FC236}">
                <a16:creationId xmlns:a16="http://schemas.microsoft.com/office/drawing/2014/main" id="{F4F51626-828F-421A-966C-9D05CB322C64}"/>
              </a:ext>
            </a:extLst>
          </p:cNvPr>
          <p:cNvSpPr>
            <a:spLocks xmlns:a="http://schemas.openxmlformats.org/drawingml/2006/main" noGrp="1"/>
          </p:cNvSpPr>
          <p:nvPr/>
        </p:nvSpPr>
        <p:spPr>
          <a:xfrm xmlns:a="http://schemas.openxmlformats.org/drawingml/2006/main" rot="19480125">
            <a:off x="1827017" y="8452245"/>
            <a:ext cx="1701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26D9F"/>
                </a:solidFill>
                <a:latin typeface="Arial"/>
                <a:ea typeface="Arial"/>
                <a:cs typeface="Arial"/>
              </a:defRPr>
            </a:pPr>
            <a:r>
              <a:rPr sz="2400" b="0">
                <a:solidFill>
                  <a:srgbClr val="226D9F"/>
                </a:solidFill>
                <a:latin typeface="Arial"/>
                <a:ea typeface="Arial"/>
                <a:cs typeface="Arial"/>
              </a:rPr>
              <a:t>PULM-DGD</a:t>
            </a:r>
          </a:p>
        </p:txBody>
      </p:sp>
      <p:sp>
        <p:nvSpPr>
          <p:cNvPr id="188" name="Lion-algorithm-5572">
            <a:extLst xmlns:a="http://schemas.openxmlformats.org/drawingml/2006/main">
              <a:ext uri="{FF2B5EF4-FFF2-40B4-BE49-F238E27FC236}">
                <a16:creationId xmlns:a16="http://schemas.microsoft.com/office/drawing/2014/main" id="{E86CCEB7-D6BD-4F22-B478-D32F500AC48D}"/>
              </a:ext>
            </a:extLst>
          </p:cNvPr>
          <p:cNvSpPr>
            <a:spLocks xmlns:a="http://schemas.openxmlformats.org/drawingml/2006/main" noGrp="1"/>
          </p:cNvSpPr>
          <p:nvPr/>
        </p:nvSpPr>
        <p:spPr>
          <a:xfrm xmlns:a="http://schemas.openxmlformats.org/drawingml/2006/main">
            <a:off x="2987787" y="7305059"/>
            <a:ext cx="817933" cy="671343"/>
          </a:xfrm>
          <a:custGeom xmlns:a="http://schemas.openxmlformats.org/drawingml/2006/main">
            <a:pathLst>
              <a:path w="817933" h="671343">
                <a:moveTo>
                  <a:pt x="196229" y="671343"/>
                </a:moveTo>
                <a:lnTo>
                  <a:pt x="174447" y="634306"/>
                </a:lnTo>
                <a:lnTo>
                  <a:pt x="153136" y="596997"/>
                </a:lnTo>
                <a:lnTo>
                  <a:pt x="132300" y="559420"/>
                </a:lnTo>
                <a:lnTo>
                  <a:pt x="111941" y="521582"/>
                </a:lnTo>
                <a:lnTo>
                  <a:pt x="92063" y="483490"/>
                </a:lnTo>
                <a:lnTo>
                  <a:pt x="72670" y="445149"/>
                </a:lnTo>
                <a:lnTo>
                  <a:pt x="53764" y="406565"/>
                </a:lnTo>
                <a:lnTo>
                  <a:pt x="35348" y="367744"/>
                </a:lnTo>
                <a:lnTo>
                  <a:pt x="17426" y="328694"/>
                </a:lnTo>
                <a:lnTo>
                  <a:pt x="0" y="289419"/>
                </a:lnTo>
                <a:lnTo>
                  <a:pt x="663598" y="0"/>
                </a:lnTo>
                <a:lnTo>
                  <a:pt x="677304" y="30890"/>
                </a:lnTo>
                <a:lnTo>
                  <a:pt x="691400" y="61603"/>
                </a:lnTo>
                <a:lnTo>
                  <a:pt x="705884" y="92135"/>
                </a:lnTo>
                <a:lnTo>
                  <a:pt x="720754" y="122482"/>
                </a:lnTo>
                <a:lnTo>
                  <a:pt x="736007" y="152637"/>
                </a:lnTo>
                <a:lnTo>
                  <a:pt x="751640" y="182597"/>
                </a:lnTo>
                <a:lnTo>
                  <a:pt x="767652" y="212356"/>
                </a:lnTo>
                <a:lnTo>
                  <a:pt x="784040" y="241910"/>
                </a:lnTo>
                <a:lnTo>
                  <a:pt x="800802" y="271254"/>
                </a:lnTo>
                <a:lnTo>
                  <a:pt x="817933" y="300383"/>
                </a:lnTo>
                <a:close/>
              </a:path>
            </a:pathLst>
          </a:custGeom>
          <a:gradFill xmlns:a="http://schemas.openxmlformats.org/drawingml/2006/main">
            <a:gsLst>
              <a:gs pos="0">
                <a:srgbClr val="2C61B4"/>
              </a:gs>
              <a:gs pos="50000">
                <a:srgbClr val="3069C5"/>
              </a:gs>
              <a:gs pos="100000">
                <a:srgbClr val="4B7DCD"/>
              </a:gs>
            </a:gsLst>
            <a:lin ang="9168374"/>
          </a:gradFill>
          <a:ln xmlns:a="http://schemas.openxmlformats.org/drawingml/2006/main" w="0">
            <a:noFill/>
          </a:ln>
        </p:spPr>
      </p:sp>
      <p:sp>
        <p:nvSpPr>
          <p:cNvPr id="189" name="Lion-algorithm-end">
            <a:extLst xmlns:a="http://schemas.openxmlformats.org/drawingml/2006/main">
              <a:ext uri="{FF2B5EF4-FFF2-40B4-BE49-F238E27FC236}">
                <a16:creationId xmlns:a16="http://schemas.microsoft.com/office/drawing/2014/main" id="{77FF6446-97C6-4291-849E-DE2BB59499AA}"/>
              </a:ext>
            </a:extLst>
          </p:cNvPr>
          <p:cNvSpPr>
            <a:spLocks xmlns:a="http://schemas.openxmlformats.org/drawingml/2006/main" noGrp="1"/>
          </p:cNvSpPr>
          <p:nvPr/>
        </p:nvSpPr>
        <p:spPr>
          <a:xfrm xmlns:a="http://schemas.openxmlformats.org/drawingml/2006/main">
            <a:off x="2987787" y="7584578"/>
            <a:ext cx="217496" cy="391824"/>
          </a:xfrm>
          <a:custGeom xmlns:a="http://schemas.openxmlformats.org/drawingml/2006/main">
            <a:pathLst>
              <a:path w="217496" h="391824">
                <a:moveTo>
                  <a:pt x="196229" y="391824"/>
                </a:moveTo>
                <a:lnTo>
                  <a:pt x="174447" y="354787"/>
                </a:lnTo>
                <a:lnTo>
                  <a:pt x="153136" y="317478"/>
                </a:lnTo>
                <a:lnTo>
                  <a:pt x="132300" y="279901"/>
                </a:lnTo>
                <a:lnTo>
                  <a:pt x="111941" y="242064"/>
                </a:lnTo>
                <a:lnTo>
                  <a:pt x="92063" y="203971"/>
                </a:lnTo>
                <a:lnTo>
                  <a:pt x="72670" y="165630"/>
                </a:lnTo>
                <a:lnTo>
                  <a:pt x="53764" y="127046"/>
                </a:lnTo>
                <a:lnTo>
                  <a:pt x="35348" y="88225"/>
                </a:lnTo>
                <a:lnTo>
                  <a:pt x="17426" y="49175"/>
                </a:lnTo>
                <a:lnTo>
                  <a:pt x="0" y="9900"/>
                </a:lnTo>
                <a:lnTo>
                  <a:pt x="22700" y="0"/>
                </a:lnTo>
                <a:lnTo>
                  <a:pt x="39999" y="38988"/>
                </a:lnTo>
                <a:lnTo>
                  <a:pt x="57790" y="77753"/>
                </a:lnTo>
                <a:lnTo>
                  <a:pt x="76071" y="116290"/>
                </a:lnTo>
                <a:lnTo>
                  <a:pt x="94839" y="154592"/>
                </a:lnTo>
                <a:lnTo>
                  <a:pt x="114091" y="192653"/>
                </a:lnTo>
                <a:lnTo>
                  <a:pt x="133824" y="230468"/>
                </a:lnTo>
                <a:lnTo>
                  <a:pt x="154034" y="268029"/>
                </a:lnTo>
                <a:lnTo>
                  <a:pt x="174718" y="305331"/>
                </a:lnTo>
                <a:lnTo>
                  <a:pt x="195873" y="342368"/>
                </a:lnTo>
                <a:lnTo>
                  <a:pt x="217496" y="379134"/>
                </a:lnTo>
                <a:close/>
              </a:path>
            </a:pathLst>
          </a:custGeom>
          <a:solidFill xmlns:a="http://schemas.openxmlformats.org/drawingml/2006/main">
            <a:srgbClr val="2B60B2"/>
          </a:solidFill>
          <a:ln xmlns:a="http://schemas.openxmlformats.org/drawingml/2006/main" w="0">
            <a:noFill/>
          </a:ln>
        </p:spPr>
      </p:sp>
      <p:sp>
        <p:nvSpPr>
          <p:cNvPr id="190" name="Lion-reuse-897">
            <a:extLst xmlns:a="http://schemas.openxmlformats.org/drawingml/2006/main">
              <a:ext uri="{FF2B5EF4-FFF2-40B4-BE49-F238E27FC236}">
                <a16:creationId xmlns:a16="http://schemas.microsoft.com/office/drawing/2014/main" id="{5C6CF5A5-62B3-41BF-A1BC-6A0EDB4092C1}"/>
              </a:ext>
            </a:extLst>
          </p:cNvPr>
          <p:cNvSpPr>
            <a:spLocks xmlns:a="http://schemas.openxmlformats.org/drawingml/2006/main" noGrp="1"/>
          </p:cNvSpPr>
          <p:nvPr/>
        </p:nvSpPr>
        <p:spPr>
          <a:xfrm xmlns:a="http://schemas.openxmlformats.org/drawingml/2006/main">
            <a:off x="3651386" y="7171518"/>
            <a:ext cx="441196" cy="433925"/>
          </a:xfrm>
          <a:custGeom xmlns:a="http://schemas.openxmlformats.org/drawingml/2006/main">
            <a:pathLst>
              <a:path w="441196" h="433925">
                <a:moveTo>
                  <a:pt x="154335" y="433925"/>
                </a:moveTo>
                <a:lnTo>
                  <a:pt x="137203" y="404795"/>
                </a:lnTo>
                <a:lnTo>
                  <a:pt x="120442" y="375451"/>
                </a:lnTo>
                <a:lnTo>
                  <a:pt x="104054" y="345897"/>
                </a:lnTo>
                <a:lnTo>
                  <a:pt x="88042" y="316138"/>
                </a:lnTo>
                <a:lnTo>
                  <a:pt x="72408" y="286178"/>
                </a:lnTo>
                <a:lnTo>
                  <a:pt x="57155" y="256023"/>
                </a:lnTo>
                <a:lnTo>
                  <a:pt x="42285" y="225677"/>
                </a:lnTo>
                <a:lnTo>
                  <a:pt x="27802" y="195144"/>
                </a:lnTo>
                <a:lnTo>
                  <a:pt x="13706" y="164431"/>
                </a:lnTo>
                <a:lnTo>
                  <a:pt x="0" y="133541"/>
                </a:lnTo>
                <a:lnTo>
                  <a:pt x="306192" y="0"/>
                </a:lnTo>
                <a:lnTo>
                  <a:pt x="318181" y="27021"/>
                </a:lnTo>
                <a:lnTo>
                  <a:pt x="330511" y="53887"/>
                </a:lnTo>
                <a:lnTo>
                  <a:pt x="343181" y="80595"/>
                </a:lnTo>
                <a:lnTo>
                  <a:pt x="356188" y="107140"/>
                </a:lnTo>
                <a:lnTo>
                  <a:pt x="369531" y="133519"/>
                </a:lnTo>
                <a:lnTo>
                  <a:pt x="383206" y="159726"/>
                </a:lnTo>
                <a:lnTo>
                  <a:pt x="397213" y="185758"/>
                </a:lnTo>
                <a:lnTo>
                  <a:pt x="411548" y="211610"/>
                </a:lnTo>
                <a:lnTo>
                  <a:pt x="426210" y="237279"/>
                </a:lnTo>
                <a:lnTo>
                  <a:pt x="441196" y="262760"/>
                </a:lnTo>
                <a:close/>
              </a:path>
            </a:pathLst>
          </a:custGeom>
          <a:gradFill xmlns:a="http://schemas.openxmlformats.org/drawingml/2006/main">
            <a:gsLst>
              <a:gs pos="0">
                <a:srgbClr val="93B1E1"/>
              </a:gs>
              <a:gs pos="100000">
                <a:srgbClr val="5987D1"/>
              </a:gs>
            </a:gsLst>
            <a:lin ang="9168374"/>
          </a:gradFill>
          <a:ln xmlns:a="http://schemas.openxmlformats.org/drawingml/2006/main" w="0">
            <a:noFill/>
          </a:ln>
        </p:spPr>
      </p:sp>
      <p:sp>
        <p:nvSpPr>
          <p:cNvPr id="191" name="Lion-reuse-end">
            <a:extLst xmlns:a="http://schemas.openxmlformats.org/drawingml/2006/main">
              <a:ext uri="{FF2B5EF4-FFF2-40B4-BE49-F238E27FC236}">
                <a16:creationId xmlns:a16="http://schemas.microsoft.com/office/drawing/2014/main" id="{B3A01FA0-6DB5-452C-BDBE-58DF69A95CB1}"/>
              </a:ext>
            </a:extLst>
          </p:cNvPr>
          <p:cNvSpPr>
            <a:spLocks xmlns:a="http://schemas.openxmlformats.org/drawingml/2006/main" noGrp="1"/>
          </p:cNvSpPr>
          <p:nvPr/>
        </p:nvSpPr>
        <p:spPr>
          <a:xfrm xmlns:a="http://schemas.openxmlformats.org/drawingml/2006/main">
            <a:off x="3935751" y="7171518"/>
            <a:ext cx="156831" cy="274961"/>
          </a:xfrm>
          <a:custGeom xmlns:a="http://schemas.openxmlformats.org/drawingml/2006/main">
            <a:pathLst>
              <a:path w="156831" h="274961">
                <a:moveTo>
                  <a:pt x="136382" y="274961"/>
                </a:moveTo>
                <a:lnTo>
                  <a:pt x="121243" y="249220"/>
                </a:lnTo>
                <a:lnTo>
                  <a:pt x="106432" y="223290"/>
                </a:lnTo>
                <a:lnTo>
                  <a:pt x="91950" y="197174"/>
                </a:lnTo>
                <a:lnTo>
                  <a:pt x="77801" y="170876"/>
                </a:lnTo>
                <a:lnTo>
                  <a:pt x="63985" y="144401"/>
                </a:lnTo>
                <a:lnTo>
                  <a:pt x="50507" y="117754"/>
                </a:lnTo>
                <a:lnTo>
                  <a:pt x="37367" y="90937"/>
                </a:lnTo>
                <a:lnTo>
                  <a:pt x="24568" y="63957"/>
                </a:lnTo>
                <a:lnTo>
                  <a:pt x="12111" y="36816"/>
                </a:lnTo>
                <a:lnTo>
                  <a:pt x="0" y="9520"/>
                </a:lnTo>
                <a:lnTo>
                  <a:pt x="21827" y="0"/>
                </a:lnTo>
                <a:lnTo>
                  <a:pt x="33816" y="27021"/>
                </a:lnTo>
                <a:lnTo>
                  <a:pt x="46146" y="53887"/>
                </a:lnTo>
                <a:lnTo>
                  <a:pt x="58816" y="80595"/>
                </a:lnTo>
                <a:lnTo>
                  <a:pt x="71823" y="107140"/>
                </a:lnTo>
                <a:lnTo>
                  <a:pt x="85166" y="133519"/>
                </a:lnTo>
                <a:lnTo>
                  <a:pt x="98841" y="159726"/>
                </a:lnTo>
                <a:lnTo>
                  <a:pt x="112848" y="185758"/>
                </a:lnTo>
                <a:lnTo>
                  <a:pt x="127183" y="211610"/>
                </a:lnTo>
                <a:lnTo>
                  <a:pt x="141845" y="237279"/>
                </a:lnTo>
                <a:lnTo>
                  <a:pt x="156831" y="262760"/>
                </a:lnTo>
                <a:close/>
              </a:path>
            </a:pathLst>
          </a:custGeom>
          <a:solidFill xmlns:a="http://schemas.openxmlformats.org/drawingml/2006/main">
            <a:srgbClr val="4578CB"/>
          </a:solidFill>
          <a:ln xmlns:a="http://schemas.openxmlformats.org/drawingml/2006/main" w="0">
            <a:noFill/>
          </a:ln>
        </p:spPr>
      </p:sp>
      <p:sp>
        <p:nvSpPr>
          <p:cNvPr id="192" name="Lion-baseline-gap">
            <a:extLst xmlns:a="http://schemas.openxmlformats.org/drawingml/2006/main">
              <a:ext uri="{FF2B5EF4-FFF2-40B4-BE49-F238E27FC236}">
                <a16:creationId xmlns:a16="http://schemas.microsoft.com/office/drawing/2014/main" id="{6EFB6D15-CF40-43D4-B611-C681D365A8D5}"/>
              </a:ext>
            </a:extLst>
          </p:cNvPr>
          <p:cNvSpPr>
            <a:spLocks xmlns:a="http://schemas.openxmlformats.org/drawingml/2006/main" noGrp="1"/>
          </p:cNvSpPr>
          <p:nvPr/>
        </p:nvSpPr>
        <p:spPr>
          <a:xfrm xmlns:a="http://schemas.openxmlformats.org/drawingml/2006/main">
            <a:off x="3619698" y="7284432"/>
            <a:ext cx="216926" cy="344706"/>
          </a:xfrm>
          <a:custGeom xmlns:a="http://schemas.openxmlformats.org/drawingml/2006/main">
            <a:pathLst>
              <a:path w="216926" h="344706">
                <a:moveTo>
                  <a:pt x="164686" y="344706"/>
                </a:moveTo>
                <a:lnTo>
                  <a:pt x="147961" y="316509"/>
                </a:lnTo>
                <a:lnTo>
                  <a:pt x="131579" y="288111"/>
                </a:lnTo>
                <a:lnTo>
                  <a:pt x="115543" y="259516"/>
                </a:lnTo>
                <a:lnTo>
                  <a:pt x="99856" y="230728"/>
                </a:lnTo>
                <a:lnTo>
                  <a:pt x="84520" y="201751"/>
                </a:lnTo>
                <a:lnTo>
                  <a:pt x="69538" y="172590"/>
                </a:lnTo>
                <a:lnTo>
                  <a:pt x="54911" y="143250"/>
                </a:lnTo>
                <a:lnTo>
                  <a:pt x="40641" y="113733"/>
                </a:lnTo>
                <a:lnTo>
                  <a:pt x="26732" y="84046"/>
                </a:lnTo>
                <a:lnTo>
                  <a:pt x="13184" y="54192"/>
                </a:lnTo>
                <a:lnTo>
                  <a:pt x="0" y="24175"/>
                </a:lnTo>
                <a:lnTo>
                  <a:pt x="55962" y="0"/>
                </a:lnTo>
                <a:lnTo>
                  <a:pt x="68848" y="29338"/>
                </a:lnTo>
                <a:lnTo>
                  <a:pt x="82089" y="58518"/>
                </a:lnTo>
                <a:lnTo>
                  <a:pt x="95684" y="87535"/>
                </a:lnTo>
                <a:lnTo>
                  <a:pt x="109631" y="116384"/>
                </a:lnTo>
                <a:lnTo>
                  <a:pt x="123928" y="145062"/>
                </a:lnTo>
                <a:lnTo>
                  <a:pt x="138572" y="173563"/>
                </a:lnTo>
                <a:lnTo>
                  <a:pt x="153561" y="201885"/>
                </a:lnTo>
                <a:lnTo>
                  <a:pt x="168894" y="230022"/>
                </a:lnTo>
                <a:lnTo>
                  <a:pt x="184567" y="257971"/>
                </a:lnTo>
                <a:lnTo>
                  <a:pt x="200578" y="285728"/>
                </a:lnTo>
                <a:lnTo>
                  <a:pt x="216926" y="313288"/>
                </a:lnTo>
                <a:close/>
              </a:path>
            </a:pathLst>
          </a:custGeom>
          <a:solidFill xmlns:a="http://schemas.openxmlformats.org/drawingml/2006/main">
            <a:srgbClr val="FFFFFF"/>
          </a:solidFill>
          <a:ln xmlns:a="http://schemas.openxmlformats.org/drawingml/2006/main" w="0">
            <a:noFill/>
          </a:ln>
        </p:spPr>
      </p:sp>
      <p:sp>
        <p:nvSpPr>
          <p:cNvPr id="193" name="Lion-label">
            <a:extLst xmlns:a="http://schemas.openxmlformats.org/drawingml/2006/main">
              <a:ext uri="{FF2B5EF4-FFF2-40B4-BE49-F238E27FC236}">
                <a16:creationId xmlns:a16="http://schemas.microsoft.com/office/drawing/2014/main" id="{1930BE07-413A-424F-BC9A-A8242B8DAC19}"/>
              </a:ext>
            </a:extLst>
          </p:cNvPr>
          <p:cNvSpPr>
            <a:spLocks xmlns:a="http://schemas.openxmlformats.org/drawingml/2006/main" noGrp="1"/>
          </p:cNvSpPr>
          <p:nvPr/>
        </p:nvSpPr>
        <p:spPr>
          <a:xfrm xmlns:a="http://schemas.openxmlformats.org/drawingml/2006/main" rot="19968375">
            <a:off x="2361782" y="7780323"/>
            <a:ext cx="65246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A5EAE"/>
                </a:solidFill>
                <a:latin typeface="Arial"/>
                <a:ea typeface="Arial"/>
                <a:cs typeface="Arial"/>
              </a:defRPr>
            </a:pPr>
            <a:r>
              <a:rPr sz="2400" b="0">
                <a:solidFill>
                  <a:srgbClr val="2A5EAE"/>
                </a:solidFill>
                <a:latin typeface="Arial"/>
                <a:ea typeface="Arial"/>
                <a:cs typeface="Arial"/>
              </a:rPr>
              <a:t>Lion</a:t>
            </a:r>
          </a:p>
        </p:txBody>
      </p:sp>
      <p:sp>
        <p:nvSpPr>
          <p:cNvPr id="194" name="PAGE-algorithm-6221">
            <a:extLst xmlns:a="http://schemas.openxmlformats.org/drawingml/2006/main">
              <a:ext uri="{FF2B5EF4-FFF2-40B4-BE49-F238E27FC236}">
                <a16:creationId xmlns:a16="http://schemas.microsoft.com/office/drawing/2014/main" id="{FFD9811C-BE0C-426C-A08F-A275BFCEC91B}"/>
              </a:ext>
            </a:extLst>
          </p:cNvPr>
          <p:cNvSpPr>
            <a:spLocks xmlns:a="http://schemas.openxmlformats.org/drawingml/2006/main" noGrp="1"/>
          </p:cNvSpPr>
          <p:nvPr/>
        </p:nvSpPr>
        <p:spPr>
          <a:xfrm xmlns:a="http://schemas.openxmlformats.org/drawingml/2006/main">
            <a:off x="2787674" y="6948291"/>
            <a:ext cx="847670" cy="614241"/>
          </a:xfrm>
          <a:custGeom xmlns:a="http://schemas.openxmlformats.org/drawingml/2006/main">
            <a:pathLst>
              <a:path w="847670" h="614241">
                <a:moveTo>
                  <a:pt x="141888" y="614241"/>
                </a:moveTo>
                <a:lnTo>
                  <a:pt x="125370" y="574013"/>
                </a:lnTo>
                <a:lnTo>
                  <a:pt x="109364" y="533580"/>
                </a:lnTo>
                <a:lnTo>
                  <a:pt x="93871" y="492947"/>
                </a:lnTo>
                <a:lnTo>
                  <a:pt x="78894" y="452121"/>
                </a:lnTo>
                <a:lnTo>
                  <a:pt x="64436" y="411108"/>
                </a:lnTo>
                <a:lnTo>
                  <a:pt x="50498" y="369916"/>
                </a:lnTo>
                <a:lnTo>
                  <a:pt x="37084" y="328550"/>
                </a:lnTo>
                <a:lnTo>
                  <a:pt x="24195" y="287018"/>
                </a:lnTo>
                <a:lnTo>
                  <a:pt x="11833" y="245325"/>
                </a:lnTo>
                <a:lnTo>
                  <a:pt x="0" y="203479"/>
                </a:lnTo>
                <a:lnTo>
                  <a:pt x="737408" y="0"/>
                </a:lnTo>
                <a:lnTo>
                  <a:pt x="746603" y="32519"/>
                </a:lnTo>
                <a:lnTo>
                  <a:pt x="756210" y="64918"/>
                </a:lnTo>
                <a:lnTo>
                  <a:pt x="766226" y="97193"/>
                </a:lnTo>
                <a:lnTo>
                  <a:pt x="776650" y="129339"/>
                </a:lnTo>
                <a:lnTo>
                  <a:pt x="787481" y="161349"/>
                </a:lnTo>
                <a:lnTo>
                  <a:pt x="798717" y="193221"/>
                </a:lnTo>
                <a:lnTo>
                  <a:pt x="810355" y="224947"/>
                </a:lnTo>
                <a:lnTo>
                  <a:pt x="822395" y="256523"/>
                </a:lnTo>
                <a:lnTo>
                  <a:pt x="834834" y="287944"/>
                </a:lnTo>
                <a:lnTo>
                  <a:pt x="847670" y="319205"/>
                </a:lnTo>
                <a:close/>
              </a:path>
            </a:pathLst>
          </a:custGeom>
          <a:gradFill xmlns:a="http://schemas.openxmlformats.org/drawingml/2006/main">
            <a:gsLst>
              <a:gs pos="0">
                <a:srgbClr val="4150A9"/>
              </a:gs>
              <a:gs pos="50000">
                <a:srgbClr val="4856B9"/>
              </a:gs>
              <a:gs pos="100000">
                <a:srgbClr val="606CC2"/>
              </a:gs>
            </a:gsLst>
            <a:lin ang="9656624"/>
          </a:gradFill>
          <a:ln xmlns:a="http://schemas.openxmlformats.org/drawingml/2006/main" w="0">
            <a:noFill/>
          </a:ln>
        </p:spPr>
      </p:sp>
      <p:sp>
        <p:nvSpPr>
          <p:cNvPr id="195" name="PAGE-algorithm-end">
            <a:extLst xmlns:a="http://schemas.openxmlformats.org/drawingml/2006/main">
              <a:ext uri="{FF2B5EF4-FFF2-40B4-BE49-F238E27FC236}">
                <a16:creationId xmlns:a16="http://schemas.microsoft.com/office/drawing/2014/main" id="{377231E8-FD76-4629-B019-FDA62E3ED914}"/>
              </a:ext>
            </a:extLst>
          </p:cNvPr>
          <p:cNvSpPr>
            <a:spLocks xmlns:a="http://schemas.openxmlformats.org/drawingml/2006/main" noGrp="1"/>
          </p:cNvSpPr>
          <p:nvPr/>
        </p:nvSpPr>
        <p:spPr>
          <a:xfrm xmlns:a="http://schemas.openxmlformats.org/drawingml/2006/main">
            <a:off x="2787674" y="7145183"/>
            <a:ext cx="164737" cy="417349"/>
          </a:xfrm>
          <a:custGeom xmlns:a="http://schemas.openxmlformats.org/drawingml/2006/main">
            <a:pathLst>
              <a:path w="164737" h="417349">
                <a:moveTo>
                  <a:pt x="141888" y="417349"/>
                </a:moveTo>
                <a:lnTo>
                  <a:pt x="125370" y="377121"/>
                </a:lnTo>
                <a:lnTo>
                  <a:pt x="109364" y="336688"/>
                </a:lnTo>
                <a:lnTo>
                  <a:pt x="93871" y="296055"/>
                </a:lnTo>
                <a:lnTo>
                  <a:pt x="78894" y="255229"/>
                </a:lnTo>
                <a:lnTo>
                  <a:pt x="64436" y="214216"/>
                </a:lnTo>
                <a:lnTo>
                  <a:pt x="50498" y="173024"/>
                </a:lnTo>
                <a:lnTo>
                  <a:pt x="37084" y="131658"/>
                </a:lnTo>
                <a:lnTo>
                  <a:pt x="24195" y="90126"/>
                </a:lnTo>
                <a:lnTo>
                  <a:pt x="11833" y="48433"/>
                </a:lnTo>
                <a:lnTo>
                  <a:pt x="0" y="6587"/>
                </a:lnTo>
                <a:lnTo>
                  <a:pt x="23873" y="0"/>
                </a:lnTo>
                <a:lnTo>
                  <a:pt x="35620" y="41544"/>
                </a:lnTo>
                <a:lnTo>
                  <a:pt x="47893" y="82935"/>
                </a:lnTo>
                <a:lnTo>
                  <a:pt x="60689" y="124168"/>
                </a:lnTo>
                <a:lnTo>
                  <a:pt x="74007" y="165235"/>
                </a:lnTo>
                <a:lnTo>
                  <a:pt x="87844" y="206130"/>
                </a:lnTo>
                <a:lnTo>
                  <a:pt x="102197" y="246847"/>
                </a:lnTo>
                <a:lnTo>
                  <a:pt x="117066" y="287379"/>
                </a:lnTo>
                <a:lnTo>
                  <a:pt x="132447" y="327718"/>
                </a:lnTo>
                <a:lnTo>
                  <a:pt x="148338" y="367860"/>
                </a:lnTo>
                <a:lnTo>
                  <a:pt x="164737" y="407797"/>
                </a:lnTo>
                <a:close/>
              </a:path>
            </a:pathLst>
          </a:custGeom>
          <a:solidFill xmlns:a="http://schemas.openxmlformats.org/drawingml/2006/main">
            <a:srgbClr val="404FA8"/>
          </a:solidFill>
          <a:ln xmlns:a="http://schemas.openxmlformats.org/drawingml/2006/main" w="0">
            <a:noFill/>
          </a:ln>
        </p:spPr>
      </p:sp>
      <p:sp>
        <p:nvSpPr>
          <p:cNvPr id="196" name="PAGE-reuse-1083">
            <a:extLst xmlns:a="http://schemas.openxmlformats.org/drawingml/2006/main">
              <a:ext uri="{FF2B5EF4-FFF2-40B4-BE49-F238E27FC236}">
                <a16:creationId xmlns:a16="http://schemas.microsoft.com/office/drawing/2014/main" id="{5A5FB8DA-3490-4E33-8BB5-3885967219F8}"/>
              </a:ext>
            </a:extLst>
          </p:cNvPr>
          <p:cNvSpPr>
            <a:spLocks xmlns:a="http://schemas.openxmlformats.org/drawingml/2006/main" noGrp="1"/>
          </p:cNvSpPr>
          <p:nvPr/>
        </p:nvSpPr>
        <p:spPr>
          <a:xfrm xmlns:a="http://schemas.openxmlformats.org/drawingml/2006/main">
            <a:off x="3525082" y="6850657"/>
            <a:ext cx="448913" cy="416839"/>
          </a:xfrm>
          <a:custGeom xmlns:a="http://schemas.openxmlformats.org/drawingml/2006/main">
            <a:pathLst>
              <a:path w="448913" h="416839">
                <a:moveTo>
                  <a:pt x="110262" y="416839"/>
                </a:moveTo>
                <a:lnTo>
                  <a:pt x="97426" y="385578"/>
                </a:lnTo>
                <a:lnTo>
                  <a:pt x="84987" y="354157"/>
                </a:lnTo>
                <a:lnTo>
                  <a:pt x="72947" y="322581"/>
                </a:lnTo>
                <a:lnTo>
                  <a:pt x="61309" y="290855"/>
                </a:lnTo>
                <a:lnTo>
                  <a:pt x="50073" y="258984"/>
                </a:lnTo>
                <a:lnTo>
                  <a:pt x="39242" y="226973"/>
                </a:lnTo>
                <a:lnTo>
                  <a:pt x="28818" y="194827"/>
                </a:lnTo>
                <a:lnTo>
                  <a:pt x="18802" y="162552"/>
                </a:lnTo>
                <a:lnTo>
                  <a:pt x="9195" y="130153"/>
                </a:lnTo>
                <a:lnTo>
                  <a:pt x="0" y="97634"/>
                </a:lnTo>
                <a:lnTo>
                  <a:pt x="353826" y="0"/>
                </a:lnTo>
                <a:lnTo>
                  <a:pt x="361756" y="28043"/>
                </a:lnTo>
                <a:lnTo>
                  <a:pt x="370040" y="55983"/>
                </a:lnTo>
                <a:lnTo>
                  <a:pt x="378678" y="83817"/>
                </a:lnTo>
                <a:lnTo>
                  <a:pt x="387668" y="111538"/>
                </a:lnTo>
                <a:lnTo>
                  <a:pt x="397008" y="139143"/>
                </a:lnTo>
                <a:lnTo>
                  <a:pt x="406697" y="166628"/>
                </a:lnTo>
                <a:lnTo>
                  <a:pt x="416734" y="193988"/>
                </a:lnTo>
                <a:lnTo>
                  <a:pt x="427117" y="221219"/>
                </a:lnTo>
                <a:lnTo>
                  <a:pt x="437843" y="248315"/>
                </a:lnTo>
                <a:lnTo>
                  <a:pt x="448913" y="275274"/>
                </a:lnTo>
                <a:close/>
              </a:path>
            </a:pathLst>
          </a:custGeom>
          <a:gradFill xmlns:a="http://schemas.openxmlformats.org/drawingml/2006/main">
            <a:gsLst>
              <a:gs pos="0">
                <a:srgbClr val="A0A7DB"/>
              </a:gs>
              <a:gs pos="100000">
                <a:srgbClr val="6D78C7"/>
              </a:gs>
            </a:gsLst>
            <a:lin ang="9656624"/>
          </a:gradFill>
          <a:ln xmlns:a="http://schemas.openxmlformats.org/drawingml/2006/main" w="0">
            <a:noFill/>
          </a:ln>
        </p:spPr>
      </p:sp>
      <p:sp>
        <p:nvSpPr>
          <p:cNvPr id="197" name="PAGE-reuse-end">
            <a:extLst xmlns:a="http://schemas.openxmlformats.org/drawingml/2006/main">
              <a:ext uri="{FF2B5EF4-FFF2-40B4-BE49-F238E27FC236}">
                <a16:creationId xmlns:a16="http://schemas.microsoft.com/office/drawing/2014/main" id="{82E0429D-78B2-4762-AE39-455FC680A397}"/>
              </a:ext>
            </a:extLst>
          </p:cNvPr>
          <p:cNvSpPr>
            <a:spLocks xmlns:a="http://schemas.openxmlformats.org/drawingml/2006/main" noGrp="1"/>
          </p:cNvSpPr>
          <p:nvPr/>
        </p:nvSpPr>
        <p:spPr>
          <a:xfrm xmlns:a="http://schemas.openxmlformats.org/drawingml/2006/main">
            <a:off x="3855954" y="6850657"/>
            <a:ext cx="118041" cy="284458"/>
          </a:xfrm>
          <a:custGeom xmlns:a="http://schemas.openxmlformats.org/drawingml/2006/main">
            <a:pathLst>
              <a:path w="118041" h="284458">
                <a:moveTo>
                  <a:pt x="96071" y="284458"/>
                </a:moveTo>
                <a:lnTo>
                  <a:pt x="84887" y="257220"/>
                </a:lnTo>
                <a:lnTo>
                  <a:pt x="74049" y="229843"/>
                </a:lnTo>
                <a:lnTo>
                  <a:pt x="63559" y="202331"/>
                </a:lnTo>
                <a:lnTo>
                  <a:pt x="53419" y="174688"/>
                </a:lnTo>
                <a:lnTo>
                  <a:pt x="43629" y="146918"/>
                </a:lnTo>
                <a:lnTo>
                  <a:pt x="34192" y="119027"/>
                </a:lnTo>
                <a:lnTo>
                  <a:pt x="25109" y="91019"/>
                </a:lnTo>
                <a:lnTo>
                  <a:pt x="16382" y="62897"/>
                </a:lnTo>
                <a:lnTo>
                  <a:pt x="8012" y="34668"/>
                </a:lnTo>
                <a:lnTo>
                  <a:pt x="0" y="6334"/>
                </a:lnTo>
                <a:lnTo>
                  <a:pt x="22955" y="0"/>
                </a:lnTo>
                <a:lnTo>
                  <a:pt x="30884" y="28043"/>
                </a:lnTo>
                <a:lnTo>
                  <a:pt x="39169" y="55983"/>
                </a:lnTo>
                <a:lnTo>
                  <a:pt x="47807" y="83817"/>
                </a:lnTo>
                <a:lnTo>
                  <a:pt x="56796" y="111538"/>
                </a:lnTo>
                <a:lnTo>
                  <a:pt x="66137" y="139143"/>
                </a:lnTo>
                <a:lnTo>
                  <a:pt x="75826" y="166628"/>
                </a:lnTo>
                <a:lnTo>
                  <a:pt x="85863" y="193988"/>
                </a:lnTo>
                <a:lnTo>
                  <a:pt x="96245" y="221219"/>
                </a:lnTo>
                <a:lnTo>
                  <a:pt x="106972" y="248315"/>
                </a:lnTo>
                <a:lnTo>
                  <a:pt x="118041" y="275274"/>
                </a:lnTo>
                <a:close/>
              </a:path>
            </a:pathLst>
          </a:custGeom>
          <a:solidFill xmlns:a="http://schemas.openxmlformats.org/drawingml/2006/main">
            <a:srgbClr val="5A67C0"/>
          </a:solidFill>
          <a:ln xmlns:a="http://schemas.openxmlformats.org/drawingml/2006/main" w="0">
            <a:noFill/>
          </a:ln>
        </p:spPr>
      </p:sp>
      <p:sp>
        <p:nvSpPr>
          <p:cNvPr id="198" name="PAGE-inbar-tick-5000">
            <a:extLst xmlns:a="http://schemas.openxmlformats.org/drawingml/2006/main">
              <a:ext uri="{FF2B5EF4-FFF2-40B4-BE49-F238E27FC236}">
                <a16:creationId xmlns:a16="http://schemas.microsoft.com/office/drawing/2014/main" id="{D4987437-4A31-42FC-80D1-B3EB99D0CF60}"/>
              </a:ext>
            </a:extLst>
          </p:cNvPr>
          <p:cNvSpPr>
            <a:spLocks xmlns:a="http://schemas.openxmlformats.org/drawingml/2006/main" noGrp="1"/>
          </p:cNvSpPr>
          <p:nvPr/>
        </p:nvSpPr>
        <p:spPr>
          <a:xfrm xmlns:a="http://schemas.openxmlformats.org/drawingml/2006/main">
            <a:off x="2858021" y="7129066"/>
            <a:ext cx="150295" cy="405321"/>
          </a:xfrm>
          <a:custGeom xmlns:a="http://schemas.openxmlformats.org/drawingml/2006/main">
            <a:pathLst>
              <a:path w="150295" h="405321">
                <a:moveTo>
                  <a:pt x="138871" y="405321"/>
                </a:moveTo>
                <a:lnTo>
                  <a:pt x="122704" y="365949"/>
                </a:lnTo>
                <a:lnTo>
                  <a:pt x="107038" y="326375"/>
                </a:lnTo>
                <a:lnTo>
                  <a:pt x="91875" y="286606"/>
                </a:lnTo>
                <a:lnTo>
                  <a:pt x="77216" y="246648"/>
                </a:lnTo>
                <a:lnTo>
                  <a:pt x="63066" y="206508"/>
                </a:lnTo>
                <a:lnTo>
                  <a:pt x="49424" y="166191"/>
                </a:lnTo>
                <a:lnTo>
                  <a:pt x="36295" y="125705"/>
                </a:lnTo>
                <a:lnTo>
                  <a:pt x="23680" y="85055"/>
                </a:lnTo>
                <a:lnTo>
                  <a:pt x="11581" y="44250"/>
                </a:lnTo>
                <a:lnTo>
                  <a:pt x="0" y="3294"/>
                </a:lnTo>
                <a:lnTo>
                  <a:pt x="11936" y="0"/>
                </a:lnTo>
                <a:lnTo>
                  <a:pt x="23475" y="40805"/>
                </a:lnTo>
                <a:lnTo>
                  <a:pt x="35529" y="81460"/>
                </a:lnTo>
                <a:lnTo>
                  <a:pt x="48098" y="121960"/>
                </a:lnTo>
                <a:lnTo>
                  <a:pt x="61179" y="162297"/>
                </a:lnTo>
                <a:lnTo>
                  <a:pt x="74769" y="202465"/>
                </a:lnTo>
                <a:lnTo>
                  <a:pt x="88868" y="242457"/>
                </a:lnTo>
                <a:lnTo>
                  <a:pt x="103472" y="282268"/>
                </a:lnTo>
                <a:lnTo>
                  <a:pt x="118580" y="321890"/>
                </a:lnTo>
                <a:lnTo>
                  <a:pt x="134188" y="361318"/>
                </a:lnTo>
                <a:lnTo>
                  <a:pt x="150295" y="400545"/>
                </a:lnTo>
                <a:close/>
              </a:path>
            </a:pathLst>
          </a:custGeom>
          <a:solidFill xmlns:a="http://schemas.openxmlformats.org/drawingml/2006/main">
            <a:srgbClr val="C6CBE9"/>
          </a:solidFill>
          <a:ln xmlns:a="http://schemas.openxmlformats.org/drawingml/2006/main" w="0">
            <a:noFill/>
          </a:ln>
        </p:spPr>
      </p:sp>
      <p:sp>
        <p:nvSpPr>
          <p:cNvPr id="199" name="PAGE-baseline-gap">
            <a:extLst xmlns:a="http://schemas.openxmlformats.org/drawingml/2006/main">
              <a:ext uri="{FF2B5EF4-FFF2-40B4-BE49-F238E27FC236}">
                <a16:creationId xmlns:a16="http://schemas.microsoft.com/office/drawing/2014/main" id="{95CEA8D9-FB02-4CFB-A6C3-05357EDCF633}"/>
              </a:ext>
            </a:extLst>
          </p:cNvPr>
          <p:cNvSpPr>
            <a:spLocks xmlns:a="http://schemas.openxmlformats.org/drawingml/2006/main" noGrp="1"/>
          </p:cNvSpPr>
          <p:nvPr/>
        </p:nvSpPr>
        <p:spPr>
          <a:xfrm xmlns:a="http://schemas.openxmlformats.org/drawingml/2006/main">
            <a:off x="3493212" y="6931308"/>
            <a:ext cx="173819" cy="356625"/>
          </a:xfrm>
          <a:custGeom xmlns:a="http://schemas.openxmlformats.org/drawingml/2006/main">
            <a:pathLst>
              <a:path w="173819" h="356625">
                <a:moveTo>
                  <a:pt x="117657" y="356625"/>
                </a:moveTo>
                <a:lnTo>
                  <a:pt x="105091" y="326344"/>
                </a:lnTo>
                <a:lnTo>
                  <a:pt x="92894" y="295913"/>
                </a:lnTo>
                <a:lnTo>
                  <a:pt x="81067" y="265336"/>
                </a:lnTo>
                <a:lnTo>
                  <a:pt x="69613" y="234618"/>
                </a:lnTo>
                <a:lnTo>
                  <a:pt x="58533" y="203762"/>
                </a:lnTo>
                <a:lnTo>
                  <a:pt x="47829" y="172774"/>
                </a:lnTo>
                <a:lnTo>
                  <a:pt x="37503" y="141659"/>
                </a:lnTo>
                <a:lnTo>
                  <a:pt x="27555" y="110420"/>
                </a:lnTo>
                <a:lnTo>
                  <a:pt x="17988" y="79062"/>
                </a:lnTo>
                <a:lnTo>
                  <a:pt x="8802" y="47591"/>
                </a:lnTo>
                <a:lnTo>
                  <a:pt x="0" y="16010"/>
                </a:lnTo>
                <a:lnTo>
                  <a:pt x="58820" y="0"/>
                </a:lnTo>
                <a:lnTo>
                  <a:pt x="67423" y="30867"/>
                </a:lnTo>
                <a:lnTo>
                  <a:pt x="76401" y="61627"/>
                </a:lnTo>
                <a:lnTo>
                  <a:pt x="85752" y="92276"/>
                </a:lnTo>
                <a:lnTo>
                  <a:pt x="95475" y="122809"/>
                </a:lnTo>
                <a:lnTo>
                  <a:pt x="105569" y="153222"/>
                </a:lnTo>
                <a:lnTo>
                  <a:pt x="116031" y="183509"/>
                </a:lnTo>
                <a:lnTo>
                  <a:pt x="126860" y="213667"/>
                </a:lnTo>
                <a:lnTo>
                  <a:pt x="138055" y="243692"/>
                </a:lnTo>
                <a:lnTo>
                  <a:pt x="149615" y="273578"/>
                </a:lnTo>
                <a:lnTo>
                  <a:pt x="161536" y="303321"/>
                </a:lnTo>
                <a:lnTo>
                  <a:pt x="173819" y="332918"/>
                </a:lnTo>
                <a:close/>
              </a:path>
            </a:pathLst>
          </a:custGeom>
          <a:solidFill xmlns:a="http://schemas.openxmlformats.org/drawingml/2006/main">
            <a:srgbClr val="FFFFFF"/>
          </a:solidFill>
          <a:ln xmlns:a="http://schemas.openxmlformats.org/drawingml/2006/main" w="0">
            <a:noFill/>
          </a:ln>
        </p:spPr>
      </p:sp>
      <p:sp>
        <p:nvSpPr>
          <p:cNvPr id="200" name="PAGE-label">
            <a:extLst xmlns:a="http://schemas.openxmlformats.org/drawingml/2006/main">
              <a:ext uri="{FF2B5EF4-FFF2-40B4-BE49-F238E27FC236}">
                <a16:creationId xmlns:a16="http://schemas.microsoft.com/office/drawing/2014/main" id="{457EAEB6-52B8-44EF-9D62-1BEB7413E873}"/>
              </a:ext>
            </a:extLst>
          </p:cNvPr>
          <p:cNvSpPr>
            <a:spLocks xmlns:a="http://schemas.openxmlformats.org/drawingml/2006/main" noGrp="1"/>
          </p:cNvSpPr>
          <p:nvPr/>
        </p:nvSpPr>
        <p:spPr>
          <a:xfrm xmlns:a="http://schemas.openxmlformats.org/drawingml/2006/main" rot="20456625">
            <a:off x="1846189" y="7337875"/>
            <a:ext cx="923181"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3E4EA4"/>
                </a:solidFill>
                <a:latin typeface="Arial"/>
                <a:ea typeface="Arial"/>
                <a:cs typeface="Arial"/>
              </a:defRPr>
            </a:pPr>
            <a:r>
              <a:rPr sz="2400" b="0">
                <a:solidFill>
                  <a:srgbClr val="3E4EA4"/>
                </a:solidFill>
                <a:latin typeface="Arial"/>
                <a:ea typeface="Arial"/>
                <a:cs typeface="Arial"/>
              </a:rPr>
              <a:t>PAGE</a:t>
            </a:r>
          </a:p>
        </p:txBody>
      </p:sp>
      <p:sp>
        <p:nvSpPr>
          <p:cNvPr id="201" name="AMSGrad-algorithm-7392">
            <a:extLst xmlns:a="http://schemas.openxmlformats.org/drawingml/2006/main">
              <a:ext uri="{FF2B5EF4-FFF2-40B4-BE49-F238E27FC236}">
                <a16:creationId xmlns:a16="http://schemas.microsoft.com/office/drawing/2014/main" id="{00F90C41-4C07-4EE3-A693-315650C31921}"/>
              </a:ext>
            </a:extLst>
          </p:cNvPr>
          <p:cNvSpPr>
            <a:spLocks xmlns:a="http://schemas.openxmlformats.org/drawingml/2006/main" noGrp="1"/>
          </p:cNvSpPr>
          <p:nvPr/>
        </p:nvSpPr>
        <p:spPr>
          <a:xfrm xmlns:a="http://schemas.openxmlformats.org/drawingml/2006/main">
            <a:off x="2623429" y="6577237"/>
            <a:ext cx="891091" cy="541067"/>
          </a:xfrm>
          <a:custGeom xmlns:a="http://schemas.openxmlformats.org/drawingml/2006/main">
            <a:pathLst>
              <a:path w="891091" h="541067">
                <a:moveTo>
                  <a:pt x="83969" y="541067"/>
                </a:moveTo>
                <a:lnTo>
                  <a:pt x="73098" y="498060"/>
                </a:lnTo>
                <a:lnTo>
                  <a:pt x="62772" y="454919"/>
                </a:lnTo>
                <a:lnTo>
                  <a:pt x="52995" y="411651"/>
                </a:lnTo>
                <a:lnTo>
                  <a:pt x="43766" y="368262"/>
                </a:lnTo>
                <a:lnTo>
                  <a:pt x="35088" y="324760"/>
                </a:lnTo>
                <a:lnTo>
                  <a:pt x="26961" y="281151"/>
                </a:lnTo>
                <a:lnTo>
                  <a:pt x="19388" y="237443"/>
                </a:lnTo>
                <a:lnTo>
                  <a:pt x="12370" y="193642"/>
                </a:lnTo>
                <a:lnTo>
                  <a:pt x="5907" y="149756"/>
                </a:lnTo>
                <a:lnTo>
                  <a:pt x="0" y="105792"/>
                </a:lnTo>
                <a:lnTo>
                  <a:pt x="827122" y="0"/>
                </a:lnTo>
                <a:lnTo>
                  <a:pt x="831622" y="33493"/>
                </a:lnTo>
                <a:lnTo>
                  <a:pt x="836546" y="66926"/>
                </a:lnTo>
                <a:lnTo>
                  <a:pt x="841893" y="100294"/>
                </a:lnTo>
                <a:lnTo>
                  <a:pt x="847662" y="133591"/>
                </a:lnTo>
                <a:lnTo>
                  <a:pt x="853853" y="166813"/>
                </a:lnTo>
                <a:lnTo>
                  <a:pt x="860464" y="199953"/>
                </a:lnTo>
                <a:lnTo>
                  <a:pt x="867494" y="233007"/>
                </a:lnTo>
                <a:lnTo>
                  <a:pt x="874943" y="265970"/>
                </a:lnTo>
                <a:lnTo>
                  <a:pt x="882809" y="298835"/>
                </a:lnTo>
                <a:lnTo>
                  <a:pt x="891091" y="331598"/>
                </a:lnTo>
                <a:close/>
              </a:path>
            </a:pathLst>
          </a:custGeom>
          <a:gradFill xmlns:a="http://schemas.openxmlformats.org/drawingml/2006/main">
            <a:gsLst>
              <a:gs pos="0">
                <a:srgbClr val="67419F"/>
              </a:gs>
              <a:gs pos="50000">
                <a:srgbClr val="7345AE"/>
              </a:gs>
              <a:gs pos="100000">
                <a:srgbClr val="855DB9"/>
              </a:gs>
            </a:gsLst>
            <a:lin ang="10144874"/>
          </a:gradFill>
          <a:ln xmlns:a="http://schemas.openxmlformats.org/drawingml/2006/main" w="0">
            <a:noFill/>
          </a:ln>
        </p:spPr>
      </p:sp>
      <p:sp>
        <p:nvSpPr>
          <p:cNvPr id="202" name="AMSGrad-algorithm-end">
            <a:extLst xmlns:a="http://schemas.openxmlformats.org/drawingml/2006/main">
              <a:ext uri="{FF2B5EF4-FFF2-40B4-BE49-F238E27FC236}">
                <a16:creationId xmlns:a16="http://schemas.microsoft.com/office/drawing/2014/main" id="{DFBEE7E2-E2A7-4C50-8053-8D38908D5AA0}"/>
              </a:ext>
            </a:extLst>
          </p:cNvPr>
          <p:cNvSpPr>
            <a:spLocks xmlns:a="http://schemas.openxmlformats.org/drawingml/2006/main" noGrp="1"/>
          </p:cNvSpPr>
          <p:nvPr/>
        </p:nvSpPr>
        <p:spPr>
          <a:xfrm xmlns:a="http://schemas.openxmlformats.org/drawingml/2006/main">
            <a:off x="2623429" y="6679887"/>
            <a:ext cx="107939" cy="438417"/>
          </a:xfrm>
          <a:custGeom xmlns:a="http://schemas.openxmlformats.org/drawingml/2006/main">
            <a:pathLst>
              <a:path w="107939" h="438417">
                <a:moveTo>
                  <a:pt x="83969" y="438417"/>
                </a:moveTo>
                <a:lnTo>
                  <a:pt x="73098" y="395411"/>
                </a:lnTo>
                <a:lnTo>
                  <a:pt x="62772" y="352269"/>
                </a:lnTo>
                <a:lnTo>
                  <a:pt x="52995" y="309001"/>
                </a:lnTo>
                <a:lnTo>
                  <a:pt x="43766" y="265612"/>
                </a:lnTo>
                <a:lnTo>
                  <a:pt x="35088" y="222110"/>
                </a:lnTo>
                <a:lnTo>
                  <a:pt x="26961" y="178501"/>
                </a:lnTo>
                <a:lnTo>
                  <a:pt x="19388" y="134793"/>
                </a:lnTo>
                <a:lnTo>
                  <a:pt x="12370" y="90992"/>
                </a:lnTo>
                <a:lnTo>
                  <a:pt x="5907" y="47106"/>
                </a:lnTo>
                <a:lnTo>
                  <a:pt x="0" y="3142"/>
                </a:lnTo>
                <a:lnTo>
                  <a:pt x="24565" y="0"/>
                </a:lnTo>
                <a:lnTo>
                  <a:pt x="30430" y="43653"/>
                </a:lnTo>
                <a:lnTo>
                  <a:pt x="36847" y="87229"/>
                </a:lnTo>
                <a:lnTo>
                  <a:pt x="43816" y="130720"/>
                </a:lnTo>
                <a:lnTo>
                  <a:pt x="51336" y="174119"/>
                </a:lnTo>
                <a:lnTo>
                  <a:pt x="59404" y="217419"/>
                </a:lnTo>
                <a:lnTo>
                  <a:pt x="68021" y="260614"/>
                </a:lnTo>
                <a:lnTo>
                  <a:pt x="77185" y="303696"/>
                </a:lnTo>
                <a:lnTo>
                  <a:pt x="86893" y="346658"/>
                </a:lnTo>
                <a:lnTo>
                  <a:pt x="97145" y="389494"/>
                </a:lnTo>
                <a:lnTo>
                  <a:pt x="107939" y="432196"/>
                </a:lnTo>
                <a:close/>
              </a:path>
            </a:pathLst>
          </a:custGeom>
          <a:solidFill xmlns:a="http://schemas.openxmlformats.org/drawingml/2006/main">
            <a:srgbClr val="65419E"/>
          </a:solidFill>
          <a:ln xmlns:a="http://schemas.openxmlformats.org/drawingml/2006/main" w="0">
            <a:noFill/>
          </a:ln>
        </p:spPr>
      </p:sp>
      <p:sp>
        <p:nvSpPr>
          <p:cNvPr id="203" name="AMSGrad-reuse-554">
            <a:extLst xmlns:a="http://schemas.openxmlformats.org/drawingml/2006/main">
              <a:ext uri="{FF2B5EF4-FFF2-40B4-BE49-F238E27FC236}">
                <a16:creationId xmlns:a16="http://schemas.microsoft.com/office/drawing/2014/main" id="{FF4306A4-BC7C-4CD2-8FE7-DE80A562396D}"/>
              </a:ext>
            </a:extLst>
          </p:cNvPr>
          <p:cNvSpPr>
            <a:spLocks xmlns:a="http://schemas.openxmlformats.org/drawingml/2006/main" noGrp="1"/>
          </p:cNvSpPr>
          <p:nvPr/>
        </p:nvSpPr>
        <p:spPr>
          <a:xfrm xmlns:a="http://schemas.openxmlformats.org/drawingml/2006/main">
            <a:off x="3450551" y="6543931"/>
            <a:ext cx="318072" cy="364904"/>
          </a:xfrm>
          <a:custGeom xmlns:a="http://schemas.openxmlformats.org/drawingml/2006/main">
            <a:pathLst>
              <a:path w="318072" h="364904">
                <a:moveTo>
                  <a:pt x="63968" y="364904"/>
                </a:moveTo>
                <a:lnTo>
                  <a:pt x="55687" y="332141"/>
                </a:lnTo>
                <a:lnTo>
                  <a:pt x="47821" y="299276"/>
                </a:lnTo>
                <a:lnTo>
                  <a:pt x="40372" y="266313"/>
                </a:lnTo>
                <a:lnTo>
                  <a:pt x="33341" y="233259"/>
                </a:lnTo>
                <a:lnTo>
                  <a:pt x="26730" y="200119"/>
                </a:lnTo>
                <a:lnTo>
                  <a:pt x="20540" y="166897"/>
                </a:lnTo>
                <a:lnTo>
                  <a:pt x="14770" y="133600"/>
                </a:lnTo>
                <a:lnTo>
                  <a:pt x="9423" y="100232"/>
                </a:lnTo>
                <a:lnTo>
                  <a:pt x="4500" y="66799"/>
                </a:lnTo>
                <a:lnTo>
                  <a:pt x="0" y="33306"/>
                </a:lnTo>
                <a:lnTo>
                  <a:pt x="260400" y="0"/>
                </a:lnTo>
                <a:lnTo>
                  <a:pt x="264457" y="30196"/>
                </a:lnTo>
                <a:lnTo>
                  <a:pt x="268896" y="60338"/>
                </a:lnTo>
                <a:lnTo>
                  <a:pt x="273717" y="90421"/>
                </a:lnTo>
                <a:lnTo>
                  <a:pt x="278918" y="120441"/>
                </a:lnTo>
                <a:lnTo>
                  <a:pt x="284499" y="150393"/>
                </a:lnTo>
                <a:lnTo>
                  <a:pt x="290460" y="180271"/>
                </a:lnTo>
                <a:lnTo>
                  <a:pt x="296798" y="210072"/>
                </a:lnTo>
                <a:lnTo>
                  <a:pt x="303514" y="239790"/>
                </a:lnTo>
                <a:lnTo>
                  <a:pt x="310606" y="269420"/>
                </a:lnTo>
                <a:lnTo>
                  <a:pt x="318072" y="298958"/>
                </a:lnTo>
                <a:close/>
              </a:path>
            </a:pathLst>
          </a:custGeom>
          <a:gradFill xmlns:a="http://schemas.openxmlformats.org/drawingml/2006/main">
            <a:gsLst>
              <a:gs pos="0">
                <a:srgbClr val="B69ED5"/>
              </a:gs>
              <a:gs pos="100000">
                <a:srgbClr val="8F6ABE"/>
              </a:gs>
            </a:gsLst>
            <a:lin ang="10144874"/>
          </a:gradFill>
          <a:ln xmlns:a="http://schemas.openxmlformats.org/drawingml/2006/main" w="0">
            <a:noFill/>
          </a:ln>
        </p:spPr>
      </p:sp>
      <p:sp>
        <p:nvSpPr>
          <p:cNvPr id="204" name="AMSGrad-reuse-end">
            <a:extLst xmlns:a="http://schemas.openxmlformats.org/drawingml/2006/main">
              <a:ext uri="{FF2B5EF4-FFF2-40B4-BE49-F238E27FC236}">
                <a16:creationId xmlns:a16="http://schemas.microsoft.com/office/drawing/2014/main" id="{F44CE95E-0D77-4139-AAEC-47340E5FEE05}"/>
              </a:ext>
            </a:extLst>
          </p:cNvPr>
          <p:cNvSpPr>
            <a:spLocks xmlns:a="http://schemas.openxmlformats.org/drawingml/2006/main" noGrp="1"/>
          </p:cNvSpPr>
          <p:nvPr/>
        </p:nvSpPr>
        <p:spPr>
          <a:xfrm xmlns:a="http://schemas.openxmlformats.org/drawingml/2006/main">
            <a:off x="3687331" y="6543931"/>
            <a:ext cx="81292" cy="304940"/>
          </a:xfrm>
          <a:custGeom xmlns:a="http://schemas.openxmlformats.org/drawingml/2006/main">
            <a:pathLst>
              <a:path w="81292" h="304940">
                <a:moveTo>
                  <a:pt x="58243" y="304940"/>
                </a:moveTo>
                <a:lnTo>
                  <a:pt x="50702" y="275109"/>
                </a:lnTo>
                <a:lnTo>
                  <a:pt x="43541" y="245185"/>
                </a:lnTo>
                <a:lnTo>
                  <a:pt x="36758" y="215173"/>
                </a:lnTo>
                <a:lnTo>
                  <a:pt x="30357" y="185078"/>
                </a:lnTo>
                <a:lnTo>
                  <a:pt x="24338" y="154903"/>
                </a:lnTo>
                <a:lnTo>
                  <a:pt x="18701" y="124655"/>
                </a:lnTo>
                <a:lnTo>
                  <a:pt x="13448" y="94338"/>
                </a:lnTo>
                <a:lnTo>
                  <a:pt x="8580" y="63957"/>
                </a:lnTo>
                <a:lnTo>
                  <a:pt x="4097" y="33516"/>
                </a:lnTo>
                <a:lnTo>
                  <a:pt x="0" y="3021"/>
                </a:lnTo>
                <a:lnTo>
                  <a:pt x="23620" y="0"/>
                </a:lnTo>
                <a:lnTo>
                  <a:pt x="27677" y="30196"/>
                </a:lnTo>
                <a:lnTo>
                  <a:pt x="32116" y="60338"/>
                </a:lnTo>
                <a:lnTo>
                  <a:pt x="36936" y="90421"/>
                </a:lnTo>
                <a:lnTo>
                  <a:pt x="42138" y="120441"/>
                </a:lnTo>
                <a:lnTo>
                  <a:pt x="47719" y="150393"/>
                </a:lnTo>
                <a:lnTo>
                  <a:pt x="53680" y="180271"/>
                </a:lnTo>
                <a:lnTo>
                  <a:pt x="60018" y="210072"/>
                </a:lnTo>
                <a:lnTo>
                  <a:pt x="66734" y="239790"/>
                </a:lnTo>
                <a:lnTo>
                  <a:pt x="73825" y="269420"/>
                </a:lnTo>
                <a:lnTo>
                  <a:pt x="81292" y="298958"/>
                </a:lnTo>
                <a:close/>
              </a:path>
            </a:pathLst>
          </a:custGeom>
          <a:solidFill xmlns:a="http://schemas.openxmlformats.org/drawingml/2006/main">
            <a:srgbClr val="8158B6"/>
          </a:solidFill>
          <a:ln xmlns:a="http://schemas.openxmlformats.org/drawingml/2006/main" w="0">
            <a:noFill/>
          </a:ln>
        </p:spPr>
      </p:sp>
      <p:sp>
        <p:nvSpPr>
          <p:cNvPr id="205" name="AMSGrad-inbar-tick-5000">
            <a:extLst xmlns:a="http://schemas.openxmlformats.org/drawingml/2006/main">
              <a:ext uri="{FF2B5EF4-FFF2-40B4-BE49-F238E27FC236}">
                <a16:creationId xmlns:a16="http://schemas.microsoft.com/office/drawing/2014/main" id="{B59F0E56-6D6B-4A01-94CD-F5A3E1910BCE}"/>
              </a:ext>
            </a:extLst>
          </p:cNvPr>
          <p:cNvSpPr>
            <a:spLocks xmlns:a="http://schemas.openxmlformats.org/drawingml/2006/main" noGrp="1"/>
          </p:cNvSpPr>
          <p:nvPr/>
        </p:nvSpPr>
        <p:spPr>
          <a:xfrm xmlns:a="http://schemas.openxmlformats.org/drawingml/2006/main">
            <a:off x="2764152" y="6663459"/>
            <a:ext cx="92551" cy="419207"/>
          </a:xfrm>
          <a:custGeom xmlns:a="http://schemas.openxmlformats.org/drawingml/2006/main">
            <a:pathLst>
              <a:path w="92551" h="419207">
                <a:moveTo>
                  <a:pt x="80566" y="419207"/>
                </a:moveTo>
                <a:lnTo>
                  <a:pt x="70135" y="377943"/>
                </a:lnTo>
                <a:lnTo>
                  <a:pt x="60229" y="336550"/>
                </a:lnTo>
                <a:lnTo>
                  <a:pt x="50847" y="295035"/>
                </a:lnTo>
                <a:lnTo>
                  <a:pt x="41992" y="253405"/>
                </a:lnTo>
                <a:lnTo>
                  <a:pt x="33666" y="211666"/>
                </a:lnTo>
                <a:lnTo>
                  <a:pt x="25869" y="169824"/>
                </a:lnTo>
                <a:lnTo>
                  <a:pt x="18603" y="127887"/>
                </a:lnTo>
                <a:lnTo>
                  <a:pt x="11868" y="85861"/>
                </a:lnTo>
                <a:lnTo>
                  <a:pt x="5667" y="43754"/>
                </a:lnTo>
                <a:lnTo>
                  <a:pt x="0" y="1571"/>
                </a:lnTo>
                <a:lnTo>
                  <a:pt x="12282" y="0"/>
                </a:lnTo>
                <a:lnTo>
                  <a:pt x="17929" y="42027"/>
                </a:lnTo>
                <a:lnTo>
                  <a:pt x="24107" y="83980"/>
                </a:lnTo>
                <a:lnTo>
                  <a:pt x="30816" y="125850"/>
                </a:lnTo>
                <a:lnTo>
                  <a:pt x="38056" y="167633"/>
                </a:lnTo>
                <a:lnTo>
                  <a:pt x="45824" y="209320"/>
                </a:lnTo>
                <a:lnTo>
                  <a:pt x="54120" y="250906"/>
                </a:lnTo>
                <a:lnTo>
                  <a:pt x="62942" y="292383"/>
                </a:lnTo>
                <a:lnTo>
                  <a:pt x="72289" y="333745"/>
                </a:lnTo>
                <a:lnTo>
                  <a:pt x="82159" y="374985"/>
                </a:lnTo>
                <a:lnTo>
                  <a:pt x="92551" y="416097"/>
                </a:lnTo>
                <a:close/>
              </a:path>
            </a:pathLst>
          </a:custGeom>
          <a:solidFill xmlns:a="http://schemas.openxmlformats.org/drawingml/2006/main">
            <a:srgbClr val="D4C5E6"/>
          </a:solidFill>
          <a:ln xmlns:a="http://schemas.openxmlformats.org/drawingml/2006/main" w="0">
            <a:noFill/>
          </a:ln>
        </p:spPr>
      </p:sp>
      <p:sp>
        <p:nvSpPr>
          <p:cNvPr id="206" name="AMSGrad-baseline-gap">
            <a:extLst xmlns:a="http://schemas.openxmlformats.org/drawingml/2006/main">
              <a:ext uri="{FF2B5EF4-FFF2-40B4-BE49-F238E27FC236}">
                <a16:creationId xmlns:a16="http://schemas.microsoft.com/office/drawing/2014/main" id="{905153BE-6D77-4CFF-A311-03515F01B579}"/>
              </a:ext>
            </a:extLst>
          </p:cNvPr>
          <p:cNvSpPr>
            <a:spLocks xmlns:a="http://schemas.openxmlformats.org/drawingml/2006/main" noGrp="1"/>
          </p:cNvSpPr>
          <p:nvPr/>
        </p:nvSpPr>
        <p:spPr>
          <a:xfrm xmlns:a="http://schemas.openxmlformats.org/drawingml/2006/main">
            <a:off x="3419139" y="6564239"/>
            <a:ext cx="127210" cy="361363"/>
          </a:xfrm>
          <a:custGeom xmlns:a="http://schemas.openxmlformats.org/drawingml/2006/main">
            <a:pathLst>
              <a:path w="127210" h="361363">
                <a:moveTo>
                  <a:pt x="68259" y="361363"/>
                </a:moveTo>
                <a:lnTo>
                  <a:pt x="60105" y="329608"/>
                </a:lnTo>
                <a:lnTo>
                  <a:pt x="52338" y="297757"/>
                </a:lnTo>
                <a:lnTo>
                  <a:pt x="44959" y="265814"/>
                </a:lnTo>
                <a:lnTo>
                  <a:pt x="37969" y="233783"/>
                </a:lnTo>
                <a:lnTo>
                  <a:pt x="31368" y="201670"/>
                </a:lnTo>
                <a:lnTo>
                  <a:pt x="25158" y="169479"/>
                </a:lnTo>
                <a:lnTo>
                  <a:pt x="19340" y="137215"/>
                </a:lnTo>
                <a:lnTo>
                  <a:pt x="13914" y="104882"/>
                </a:lnTo>
                <a:lnTo>
                  <a:pt x="8882" y="72486"/>
                </a:lnTo>
                <a:lnTo>
                  <a:pt x="4243" y="40032"/>
                </a:lnTo>
                <a:lnTo>
                  <a:pt x="0" y="7523"/>
                </a:lnTo>
                <a:lnTo>
                  <a:pt x="60494" y="0"/>
                </a:lnTo>
                <a:lnTo>
                  <a:pt x="64642" y="31774"/>
                </a:lnTo>
                <a:lnTo>
                  <a:pt x="69175" y="63495"/>
                </a:lnTo>
                <a:lnTo>
                  <a:pt x="74094" y="95159"/>
                </a:lnTo>
                <a:lnTo>
                  <a:pt x="79397" y="126761"/>
                </a:lnTo>
                <a:lnTo>
                  <a:pt x="85083" y="158296"/>
                </a:lnTo>
                <a:lnTo>
                  <a:pt x="91153" y="189760"/>
                </a:lnTo>
                <a:lnTo>
                  <a:pt x="97605" y="221147"/>
                </a:lnTo>
                <a:lnTo>
                  <a:pt x="104437" y="252454"/>
                </a:lnTo>
                <a:lnTo>
                  <a:pt x="111650" y="283675"/>
                </a:lnTo>
                <a:lnTo>
                  <a:pt x="119241" y="314807"/>
                </a:lnTo>
                <a:lnTo>
                  <a:pt x="127210" y="345843"/>
                </a:lnTo>
                <a:close/>
              </a:path>
            </a:pathLst>
          </a:custGeom>
          <a:solidFill xmlns:a="http://schemas.openxmlformats.org/drawingml/2006/main">
            <a:srgbClr val="FFFFFF"/>
          </a:solidFill>
          <a:ln xmlns:a="http://schemas.openxmlformats.org/drawingml/2006/main" w="0">
            <a:noFill/>
          </a:ln>
        </p:spPr>
      </p:sp>
      <p:sp>
        <p:nvSpPr>
          <p:cNvPr id="207" name="AMSGrad-label">
            <a:extLst xmlns:a="http://schemas.openxmlformats.org/drawingml/2006/main">
              <a:ext uri="{FF2B5EF4-FFF2-40B4-BE49-F238E27FC236}">
                <a16:creationId xmlns:a16="http://schemas.microsoft.com/office/drawing/2014/main" id="{810A09F9-C9BA-45F0-B700-C79A3ED8FE6F}"/>
              </a:ext>
            </a:extLst>
          </p:cNvPr>
          <p:cNvSpPr>
            <a:spLocks xmlns:a="http://schemas.openxmlformats.org/drawingml/2006/main" noGrp="1"/>
          </p:cNvSpPr>
          <p:nvPr/>
        </p:nvSpPr>
        <p:spPr>
          <a:xfrm xmlns:a="http://schemas.openxmlformats.org/drawingml/2006/main" rot="20944875">
            <a:off x="1144774" y="6848044"/>
            <a:ext cx="141431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62409A"/>
                </a:solidFill>
                <a:latin typeface="Arial"/>
                <a:ea typeface="Arial"/>
                <a:cs typeface="Arial"/>
              </a:defRPr>
            </a:pPr>
            <a:r>
              <a:rPr sz="2400" b="0">
                <a:solidFill>
                  <a:srgbClr val="62409A"/>
                </a:solidFill>
                <a:latin typeface="Arial"/>
                <a:ea typeface="Arial"/>
                <a:cs typeface="Arial"/>
              </a:rPr>
              <a:t>AMSGrad</a:t>
            </a:r>
          </a:p>
        </p:txBody>
      </p:sp>
      <p:sp>
        <p:nvSpPr>
          <p:cNvPr id="208" name="SPIDER-algorithm-8647">
            <a:extLst xmlns:a="http://schemas.openxmlformats.org/drawingml/2006/main">
              <a:ext uri="{FF2B5EF4-FFF2-40B4-BE49-F238E27FC236}">
                <a16:creationId xmlns:a16="http://schemas.microsoft.com/office/drawing/2014/main" id="{40DCB2AD-0785-49CF-A3CD-AEB3A5926B7B}"/>
              </a:ext>
            </a:extLst>
          </p:cNvPr>
          <p:cNvSpPr>
            <a:spLocks xmlns:a="http://schemas.openxmlformats.org/drawingml/2006/main" noGrp="1"/>
          </p:cNvSpPr>
          <p:nvPr/>
        </p:nvSpPr>
        <p:spPr>
          <a:xfrm xmlns:a="http://schemas.openxmlformats.org/drawingml/2006/main">
            <a:off x="2527136" y="6186010"/>
            <a:ext cx="918544" cy="451380"/>
          </a:xfrm>
          <a:custGeom xmlns:a="http://schemas.openxmlformats.org/drawingml/2006/main">
            <a:pathLst>
              <a:path w="918544" h="451380">
                <a:moveTo>
                  <a:pt x="22311" y="451380"/>
                </a:moveTo>
                <a:lnTo>
                  <a:pt x="17547" y="406411"/>
                </a:lnTo>
                <a:lnTo>
                  <a:pt x="13352" y="361385"/>
                </a:lnTo>
                <a:lnTo>
                  <a:pt x="9728" y="316309"/>
                </a:lnTo>
                <a:lnTo>
                  <a:pt x="6676" y="271191"/>
                </a:lnTo>
                <a:lnTo>
                  <a:pt x="4196" y="226038"/>
                </a:lnTo>
                <a:lnTo>
                  <a:pt x="2288" y="180857"/>
                </a:lnTo>
                <a:lnTo>
                  <a:pt x="952" y="135655"/>
                </a:lnTo>
                <a:lnTo>
                  <a:pt x="190" y="90440"/>
                </a:lnTo>
                <a:lnTo>
                  <a:pt x="0" y="45220"/>
                </a:lnTo>
                <a:lnTo>
                  <a:pt x="383" y="0"/>
                </a:lnTo>
                <a:lnTo>
                  <a:pt x="902157" y="13359"/>
                </a:lnTo>
                <a:lnTo>
                  <a:pt x="901871" y="47152"/>
                </a:lnTo>
                <a:lnTo>
                  <a:pt x="902012" y="80945"/>
                </a:lnTo>
                <a:lnTo>
                  <a:pt x="902582" y="114734"/>
                </a:lnTo>
                <a:lnTo>
                  <a:pt x="903580" y="148513"/>
                </a:lnTo>
                <a:lnTo>
                  <a:pt x="905006" y="182276"/>
                </a:lnTo>
                <a:lnTo>
                  <a:pt x="906860" y="216019"/>
                </a:lnTo>
                <a:lnTo>
                  <a:pt x="909141" y="249735"/>
                </a:lnTo>
                <a:lnTo>
                  <a:pt x="911849" y="283420"/>
                </a:lnTo>
                <a:lnTo>
                  <a:pt x="914983" y="317068"/>
                </a:lnTo>
                <a:lnTo>
                  <a:pt x="918544" y="350674"/>
                </a:lnTo>
                <a:close/>
              </a:path>
            </a:pathLst>
          </a:custGeom>
          <a:gradFill xmlns:a="http://schemas.openxmlformats.org/drawingml/2006/main">
            <a:gsLst>
              <a:gs pos="0">
                <a:srgbClr val="4E429F"/>
              </a:gs>
              <a:gs pos="50000">
                <a:srgbClr val="5746AE"/>
              </a:gs>
              <a:gs pos="100000">
                <a:srgbClr val="6D5EB9"/>
              </a:gs>
            </a:gsLst>
            <a:lin ang="10633125"/>
          </a:gradFill>
          <a:ln xmlns:a="http://schemas.openxmlformats.org/drawingml/2006/main" w="0">
            <a:noFill/>
          </a:ln>
        </p:spPr>
      </p:sp>
      <p:sp>
        <p:nvSpPr>
          <p:cNvPr id="209" name="SPIDER-algorithm-end">
            <a:extLst xmlns:a="http://schemas.openxmlformats.org/drawingml/2006/main">
              <a:ext uri="{FF2B5EF4-FFF2-40B4-BE49-F238E27FC236}">
                <a16:creationId xmlns:a16="http://schemas.microsoft.com/office/drawing/2014/main" id="{E4E7724D-DC0B-4A34-B612-3DF7E68DB3FF}"/>
              </a:ext>
            </a:extLst>
          </p:cNvPr>
          <p:cNvSpPr>
            <a:spLocks xmlns:a="http://schemas.openxmlformats.org/drawingml/2006/main" noGrp="1"/>
          </p:cNvSpPr>
          <p:nvPr/>
        </p:nvSpPr>
        <p:spPr>
          <a:xfrm xmlns:a="http://schemas.openxmlformats.org/drawingml/2006/main">
            <a:off x="2527136" y="6186010"/>
            <a:ext cx="46922" cy="451380"/>
          </a:xfrm>
          <a:custGeom xmlns:a="http://schemas.openxmlformats.org/drawingml/2006/main">
            <a:pathLst>
              <a:path w="46922" h="451380">
                <a:moveTo>
                  <a:pt x="22311" y="451380"/>
                </a:moveTo>
                <a:lnTo>
                  <a:pt x="17547" y="406411"/>
                </a:lnTo>
                <a:lnTo>
                  <a:pt x="13352" y="361385"/>
                </a:lnTo>
                <a:lnTo>
                  <a:pt x="9728" y="316309"/>
                </a:lnTo>
                <a:lnTo>
                  <a:pt x="6676" y="271191"/>
                </a:lnTo>
                <a:lnTo>
                  <a:pt x="4196" y="226038"/>
                </a:lnTo>
                <a:lnTo>
                  <a:pt x="2288" y="180857"/>
                </a:lnTo>
                <a:lnTo>
                  <a:pt x="952" y="135655"/>
                </a:lnTo>
                <a:lnTo>
                  <a:pt x="190" y="90440"/>
                </a:lnTo>
                <a:lnTo>
                  <a:pt x="0" y="45220"/>
                </a:lnTo>
                <a:lnTo>
                  <a:pt x="383" y="0"/>
                </a:lnTo>
                <a:lnTo>
                  <a:pt x="25146" y="367"/>
                </a:lnTo>
                <a:lnTo>
                  <a:pt x="24765" y="45273"/>
                </a:lnTo>
                <a:lnTo>
                  <a:pt x="24953" y="90180"/>
                </a:lnTo>
                <a:lnTo>
                  <a:pt x="25711" y="135081"/>
                </a:lnTo>
                <a:lnTo>
                  <a:pt x="27037" y="179968"/>
                </a:lnTo>
                <a:lnTo>
                  <a:pt x="28932" y="224836"/>
                </a:lnTo>
                <a:lnTo>
                  <a:pt x="31395" y="269676"/>
                </a:lnTo>
                <a:lnTo>
                  <a:pt x="34426" y="314481"/>
                </a:lnTo>
                <a:lnTo>
                  <a:pt x="38024" y="359244"/>
                </a:lnTo>
                <a:lnTo>
                  <a:pt x="42190" y="403957"/>
                </a:lnTo>
                <a:lnTo>
                  <a:pt x="46922" y="448615"/>
                </a:lnTo>
                <a:close/>
              </a:path>
            </a:pathLst>
          </a:custGeom>
          <a:solidFill xmlns:a="http://schemas.openxmlformats.org/drawingml/2006/main">
            <a:srgbClr val="4D419E"/>
          </a:solidFill>
          <a:ln xmlns:a="http://schemas.openxmlformats.org/drawingml/2006/main" w="0">
            <a:noFill/>
          </a:ln>
        </p:spPr>
      </p:sp>
      <p:sp>
        <p:nvSpPr>
          <p:cNvPr id="210" name="SPIDER-reuse-2638">
            <a:extLst xmlns:a="http://schemas.openxmlformats.org/drawingml/2006/main">
              <a:ext uri="{FF2B5EF4-FFF2-40B4-BE49-F238E27FC236}">
                <a16:creationId xmlns:a16="http://schemas.microsoft.com/office/drawing/2014/main" id="{D75B4A68-5BD4-4B07-B403-6223CFE9CF89}"/>
              </a:ext>
            </a:extLst>
          </p:cNvPr>
          <p:cNvSpPr>
            <a:spLocks xmlns:a="http://schemas.openxmlformats.org/drawingml/2006/main" noGrp="1"/>
          </p:cNvSpPr>
          <p:nvPr/>
        </p:nvSpPr>
        <p:spPr>
          <a:xfrm xmlns:a="http://schemas.openxmlformats.org/drawingml/2006/main">
            <a:off x="3429006" y="6199369"/>
            <a:ext cx="585950" cy="337314"/>
          </a:xfrm>
          <a:custGeom xmlns:a="http://schemas.openxmlformats.org/drawingml/2006/main">
            <a:pathLst>
              <a:path w="585950" h="337314">
                <a:moveTo>
                  <a:pt x="16673" y="337314"/>
                </a:moveTo>
                <a:lnTo>
                  <a:pt x="13113" y="303709"/>
                </a:lnTo>
                <a:lnTo>
                  <a:pt x="9978" y="270061"/>
                </a:lnTo>
                <a:lnTo>
                  <a:pt x="7270" y="236376"/>
                </a:lnTo>
                <a:lnTo>
                  <a:pt x="4989" y="202659"/>
                </a:lnTo>
                <a:lnTo>
                  <a:pt x="3135" y="168917"/>
                </a:lnTo>
                <a:lnTo>
                  <a:pt x="1710" y="135153"/>
                </a:lnTo>
                <a:lnTo>
                  <a:pt x="712" y="101374"/>
                </a:lnTo>
                <a:lnTo>
                  <a:pt x="142" y="67586"/>
                </a:lnTo>
                <a:lnTo>
                  <a:pt x="0" y="33792"/>
                </a:lnTo>
                <a:lnTo>
                  <a:pt x="286" y="0"/>
                </a:lnTo>
                <a:lnTo>
                  <a:pt x="573083" y="8486"/>
                </a:lnTo>
                <a:lnTo>
                  <a:pt x="572858" y="35020"/>
                </a:lnTo>
                <a:lnTo>
                  <a:pt x="572969" y="61554"/>
                </a:lnTo>
                <a:lnTo>
                  <a:pt x="573416" y="88085"/>
                </a:lnTo>
                <a:lnTo>
                  <a:pt x="574200" y="114609"/>
                </a:lnTo>
                <a:lnTo>
                  <a:pt x="575320" y="141120"/>
                </a:lnTo>
                <a:lnTo>
                  <a:pt x="576775" y="167615"/>
                </a:lnTo>
                <a:lnTo>
                  <a:pt x="578566" y="194089"/>
                </a:lnTo>
                <a:lnTo>
                  <a:pt x="580692" y="220539"/>
                </a:lnTo>
                <a:lnTo>
                  <a:pt x="583154" y="246959"/>
                </a:lnTo>
                <a:lnTo>
                  <a:pt x="585950" y="273346"/>
                </a:lnTo>
                <a:close/>
              </a:path>
            </a:pathLst>
          </a:custGeom>
          <a:gradFill xmlns:a="http://schemas.openxmlformats.org/drawingml/2006/main">
            <a:gsLst>
              <a:gs pos="0">
                <a:srgbClr val="A89FD5"/>
              </a:gs>
              <a:gs pos="100000">
                <a:srgbClr val="796BBE"/>
              </a:gs>
            </a:gsLst>
            <a:lin ang="10633125"/>
          </a:gradFill>
          <a:ln xmlns:a="http://schemas.openxmlformats.org/drawingml/2006/main" w="0">
            <a:noFill/>
          </a:ln>
        </p:spPr>
      </p:sp>
      <p:sp>
        <p:nvSpPr>
          <p:cNvPr id="211" name="SPIDER-reuse-end">
            <a:extLst xmlns:a="http://schemas.openxmlformats.org/drawingml/2006/main">
              <a:ext uri="{FF2B5EF4-FFF2-40B4-BE49-F238E27FC236}">
                <a16:creationId xmlns:a16="http://schemas.microsoft.com/office/drawing/2014/main" id="{8DE22E47-1671-4FF5-AE23-4C90C74C2ADF}"/>
              </a:ext>
            </a:extLst>
          </p:cNvPr>
          <p:cNvSpPr>
            <a:spLocks xmlns:a="http://schemas.openxmlformats.org/drawingml/2006/main" noGrp="1"/>
          </p:cNvSpPr>
          <p:nvPr/>
        </p:nvSpPr>
        <p:spPr>
          <a:xfrm xmlns:a="http://schemas.openxmlformats.org/drawingml/2006/main">
            <a:off x="3978051" y="6207502"/>
            <a:ext cx="36904" cy="267872"/>
          </a:xfrm>
          <a:custGeom xmlns:a="http://schemas.openxmlformats.org/drawingml/2006/main">
            <a:pathLst>
              <a:path w="36904" h="267872">
                <a:moveTo>
                  <a:pt x="13241" y="267872"/>
                </a:moveTo>
                <a:lnTo>
                  <a:pt x="10413" y="241185"/>
                </a:lnTo>
                <a:lnTo>
                  <a:pt x="7924" y="214464"/>
                </a:lnTo>
                <a:lnTo>
                  <a:pt x="5773" y="187714"/>
                </a:lnTo>
                <a:lnTo>
                  <a:pt x="3962" y="160939"/>
                </a:lnTo>
                <a:lnTo>
                  <a:pt x="2490" y="134142"/>
                </a:lnTo>
                <a:lnTo>
                  <a:pt x="1358" y="107330"/>
                </a:lnTo>
                <a:lnTo>
                  <a:pt x="565" y="80505"/>
                </a:lnTo>
                <a:lnTo>
                  <a:pt x="113" y="53672"/>
                </a:lnTo>
                <a:lnTo>
                  <a:pt x="0" y="26836"/>
                </a:lnTo>
                <a:lnTo>
                  <a:pt x="228" y="0"/>
                </a:lnTo>
                <a:lnTo>
                  <a:pt x="24037" y="353"/>
                </a:lnTo>
                <a:lnTo>
                  <a:pt x="23812" y="26887"/>
                </a:lnTo>
                <a:lnTo>
                  <a:pt x="23924" y="53421"/>
                </a:lnTo>
                <a:lnTo>
                  <a:pt x="24371" y="79952"/>
                </a:lnTo>
                <a:lnTo>
                  <a:pt x="25155" y="106476"/>
                </a:lnTo>
                <a:lnTo>
                  <a:pt x="26274" y="132987"/>
                </a:lnTo>
                <a:lnTo>
                  <a:pt x="27730" y="159482"/>
                </a:lnTo>
                <a:lnTo>
                  <a:pt x="29521" y="185956"/>
                </a:lnTo>
                <a:lnTo>
                  <a:pt x="31647" y="212406"/>
                </a:lnTo>
                <a:lnTo>
                  <a:pt x="34108" y="238826"/>
                </a:lnTo>
                <a:lnTo>
                  <a:pt x="36904" y="265213"/>
                </a:lnTo>
                <a:close/>
              </a:path>
            </a:pathLst>
          </a:custGeom>
          <a:solidFill xmlns:a="http://schemas.openxmlformats.org/drawingml/2006/main">
            <a:srgbClr val="6859B6"/>
          </a:solidFill>
          <a:ln xmlns:a="http://schemas.openxmlformats.org/drawingml/2006/main" w="0">
            <a:noFill/>
          </a:ln>
        </p:spPr>
      </p:sp>
      <p:sp>
        <p:nvSpPr>
          <p:cNvPr id="212" name="SPIDER-inbar-tick-5000">
            <a:extLst xmlns:a="http://schemas.openxmlformats.org/drawingml/2006/main">
              <a:ext uri="{FF2B5EF4-FFF2-40B4-BE49-F238E27FC236}">
                <a16:creationId xmlns:a16="http://schemas.microsoft.com/office/drawing/2014/main" id="{3FB3D68B-8B14-4302-BF7D-AEC2C0B1C9CA}"/>
              </a:ext>
            </a:extLst>
          </p:cNvPr>
          <p:cNvSpPr>
            <a:spLocks xmlns:a="http://schemas.openxmlformats.org/drawingml/2006/main" noGrp="1"/>
          </p:cNvSpPr>
          <p:nvPr/>
        </p:nvSpPr>
        <p:spPr>
          <a:xfrm xmlns:a="http://schemas.openxmlformats.org/drawingml/2006/main">
            <a:off x="2737016" y="6189118"/>
            <a:ext cx="33304" cy="424835"/>
          </a:xfrm>
          <a:custGeom xmlns:a="http://schemas.openxmlformats.org/drawingml/2006/main">
            <a:pathLst>
              <a:path w="33304" h="424835">
                <a:moveTo>
                  <a:pt x="20999" y="424835"/>
                </a:moveTo>
                <a:lnTo>
                  <a:pt x="16515" y="382510"/>
                </a:lnTo>
                <a:lnTo>
                  <a:pt x="12567" y="340132"/>
                </a:lnTo>
                <a:lnTo>
                  <a:pt x="9156" y="297707"/>
                </a:lnTo>
                <a:lnTo>
                  <a:pt x="6283" y="255242"/>
                </a:lnTo>
                <a:lnTo>
                  <a:pt x="3949" y="212745"/>
                </a:lnTo>
                <a:lnTo>
                  <a:pt x="2153" y="170221"/>
                </a:lnTo>
                <a:lnTo>
                  <a:pt x="896" y="127677"/>
                </a:lnTo>
                <a:lnTo>
                  <a:pt x="178" y="85122"/>
                </a:lnTo>
                <a:lnTo>
                  <a:pt x="0" y="42560"/>
                </a:lnTo>
                <a:lnTo>
                  <a:pt x="361" y="0"/>
                </a:lnTo>
                <a:lnTo>
                  <a:pt x="12742" y="183"/>
                </a:lnTo>
                <a:lnTo>
                  <a:pt x="12382" y="42587"/>
                </a:lnTo>
                <a:lnTo>
                  <a:pt x="12560" y="84991"/>
                </a:lnTo>
                <a:lnTo>
                  <a:pt x="13275" y="127390"/>
                </a:lnTo>
                <a:lnTo>
                  <a:pt x="14528" y="169777"/>
                </a:lnTo>
                <a:lnTo>
                  <a:pt x="16317" y="212144"/>
                </a:lnTo>
                <a:lnTo>
                  <a:pt x="18643" y="254485"/>
                </a:lnTo>
                <a:lnTo>
                  <a:pt x="21505" y="296793"/>
                </a:lnTo>
                <a:lnTo>
                  <a:pt x="24903" y="339062"/>
                </a:lnTo>
                <a:lnTo>
                  <a:pt x="28836" y="381284"/>
                </a:lnTo>
                <a:lnTo>
                  <a:pt x="33304" y="423452"/>
                </a:lnTo>
                <a:close/>
              </a:path>
            </a:pathLst>
          </a:custGeom>
          <a:solidFill xmlns:a="http://schemas.openxmlformats.org/drawingml/2006/main">
            <a:srgbClr val="CBC6E6"/>
          </a:solidFill>
          <a:ln xmlns:a="http://schemas.openxmlformats.org/drawingml/2006/main" w="0">
            <a:noFill/>
          </a:ln>
        </p:spPr>
      </p:sp>
      <p:sp>
        <p:nvSpPr>
          <p:cNvPr id="213" name="SPIDER-baseline-gap">
            <a:extLst xmlns:a="http://schemas.openxmlformats.org/drawingml/2006/main">
              <a:ext uri="{FF2B5EF4-FFF2-40B4-BE49-F238E27FC236}">
                <a16:creationId xmlns:a16="http://schemas.microsoft.com/office/drawing/2014/main" id="{BB6477AE-C9E1-43AF-B33C-3CB3CA30B501}"/>
              </a:ext>
            </a:extLst>
          </p:cNvPr>
          <p:cNvSpPr>
            <a:spLocks xmlns:a="http://schemas.openxmlformats.org/drawingml/2006/main" noGrp="1"/>
          </p:cNvSpPr>
          <p:nvPr/>
        </p:nvSpPr>
        <p:spPr>
          <a:xfrm xmlns:a="http://schemas.openxmlformats.org/drawingml/2006/main">
            <a:off x="3398569" y="6189503"/>
            <a:ext cx="78444" cy="359939"/>
          </a:xfrm>
          <a:custGeom xmlns:a="http://schemas.openxmlformats.org/drawingml/2006/main">
            <a:pathLst>
              <a:path w="78444" h="359939">
                <a:moveTo>
                  <a:pt x="17889" y="359939"/>
                </a:moveTo>
                <a:lnTo>
                  <a:pt x="14313" y="327350"/>
                </a:lnTo>
                <a:lnTo>
                  <a:pt x="11132" y="294720"/>
                </a:lnTo>
                <a:lnTo>
                  <a:pt x="8349" y="262054"/>
                </a:lnTo>
                <a:lnTo>
                  <a:pt x="5963" y="229357"/>
                </a:lnTo>
                <a:lnTo>
                  <a:pt x="3974" y="196632"/>
                </a:lnTo>
                <a:lnTo>
                  <a:pt x="2383" y="163886"/>
                </a:lnTo>
                <a:lnTo>
                  <a:pt x="1190" y="131124"/>
                </a:lnTo>
                <a:lnTo>
                  <a:pt x="396" y="98349"/>
                </a:lnTo>
                <a:lnTo>
                  <a:pt x="0" y="65567"/>
                </a:lnTo>
                <a:lnTo>
                  <a:pt x="2" y="32782"/>
                </a:lnTo>
                <a:lnTo>
                  <a:pt x="403" y="0"/>
                </a:lnTo>
                <a:lnTo>
                  <a:pt x="61353" y="1116"/>
                </a:lnTo>
                <a:lnTo>
                  <a:pt x="60961" y="33157"/>
                </a:lnTo>
                <a:lnTo>
                  <a:pt x="60959" y="65201"/>
                </a:lnTo>
                <a:lnTo>
                  <a:pt x="61346" y="97242"/>
                </a:lnTo>
                <a:lnTo>
                  <a:pt x="62122" y="129276"/>
                </a:lnTo>
                <a:lnTo>
                  <a:pt x="63288" y="161299"/>
                </a:lnTo>
                <a:lnTo>
                  <a:pt x="64843" y="193305"/>
                </a:lnTo>
                <a:lnTo>
                  <a:pt x="66787" y="225289"/>
                </a:lnTo>
                <a:lnTo>
                  <a:pt x="69119" y="257248"/>
                </a:lnTo>
                <a:lnTo>
                  <a:pt x="71840" y="289176"/>
                </a:lnTo>
                <a:lnTo>
                  <a:pt x="74948" y="321068"/>
                </a:lnTo>
                <a:lnTo>
                  <a:pt x="78444" y="352921"/>
                </a:lnTo>
                <a:close/>
              </a:path>
            </a:pathLst>
          </a:custGeom>
          <a:solidFill xmlns:a="http://schemas.openxmlformats.org/drawingml/2006/main">
            <a:srgbClr val="FFFFFF"/>
          </a:solidFill>
          <a:ln xmlns:a="http://schemas.openxmlformats.org/drawingml/2006/main" w="0">
            <a:noFill/>
          </a:ln>
        </p:spPr>
      </p:sp>
      <p:sp>
        <p:nvSpPr>
          <p:cNvPr id="214" name="SPIDER-label">
            <a:extLst xmlns:a="http://schemas.openxmlformats.org/drawingml/2006/main">
              <a:ext uri="{FF2B5EF4-FFF2-40B4-BE49-F238E27FC236}">
                <a16:creationId xmlns:a16="http://schemas.microsoft.com/office/drawing/2014/main" id="{939FB9C8-E427-46FC-9C60-6C2057D7A716}"/>
              </a:ext>
            </a:extLst>
          </p:cNvPr>
          <p:cNvSpPr>
            <a:spLocks xmlns:a="http://schemas.openxmlformats.org/drawingml/2006/main" noGrp="1"/>
          </p:cNvSpPr>
          <p:nvPr/>
        </p:nvSpPr>
        <p:spPr>
          <a:xfrm xmlns:a="http://schemas.openxmlformats.org/drawingml/2006/main" rot="21433125">
            <a:off x="479226" y="6255088"/>
            <a:ext cx="1939082"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4B409A"/>
                </a:solidFill>
                <a:latin typeface="Arial"/>
                <a:ea typeface="Arial"/>
                <a:cs typeface="Arial"/>
              </a:defRPr>
            </a:pPr>
            <a:r>
              <a:rPr sz="2400" b="0">
                <a:solidFill>
                  <a:srgbClr val="4B409A"/>
                </a:solidFill>
                <a:latin typeface="Arial"/>
                <a:ea typeface="Arial"/>
                <a:cs typeface="Arial"/>
              </a:rPr>
              <a:t>SPIDER-SFO</a:t>
            </a:r>
          </a:p>
        </p:txBody>
      </p:sp>
      <p:sp>
        <p:nvSpPr>
          <p:cNvPr id="215" name="MARS-algorithm-8895">
            <a:extLst xmlns:a="http://schemas.openxmlformats.org/drawingml/2006/main">
              <a:ext uri="{FF2B5EF4-FFF2-40B4-BE49-F238E27FC236}">
                <a16:creationId xmlns:a16="http://schemas.microsoft.com/office/drawing/2014/main" id="{9909EC35-42EE-4575-B32B-21F0DB6433C3}"/>
              </a:ext>
            </a:extLst>
          </p:cNvPr>
          <p:cNvSpPr>
            <a:spLocks xmlns:a="http://schemas.openxmlformats.org/drawingml/2006/main" noGrp="1"/>
          </p:cNvSpPr>
          <p:nvPr/>
        </p:nvSpPr>
        <p:spPr>
          <a:xfrm xmlns:a="http://schemas.openxmlformats.org/drawingml/2006/main">
            <a:off x="2515911" y="5679420"/>
            <a:ext cx="945824" cy="479113"/>
          </a:xfrm>
          <a:custGeom xmlns:a="http://schemas.openxmlformats.org/drawingml/2006/main">
            <a:pathLst>
              <a:path w="945824" h="479113">
                <a:moveTo>
                  <a:pt x="0" y="451558"/>
                </a:moveTo>
                <a:lnTo>
                  <a:pt x="1655" y="406205"/>
                </a:lnTo>
                <a:lnTo>
                  <a:pt x="3884" y="360875"/>
                </a:lnTo>
                <a:lnTo>
                  <a:pt x="6687" y="315578"/>
                </a:lnTo>
                <a:lnTo>
                  <a:pt x="10064" y="270320"/>
                </a:lnTo>
                <a:lnTo>
                  <a:pt x="14014" y="225108"/>
                </a:lnTo>
                <a:lnTo>
                  <a:pt x="18537" y="179950"/>
                </a:lnTo>
                <a:lnTo>
                  <a:pt x="23631" y="134853"/>
                </a:lnTo>
                <a:lnTo>
                  <a:pt x="29297" y="89824"/>
                </a:lnTo>
                <a:lnTo>
                  <a:pt x="35532" y="44871"/>
                </a:lnTo>
                <a:lnTo>
                  <a:pt x="42337" y="0"/>
                </a:lnTo>
                <a:lnTo>
                  <a:pt x="945824" y="142876"/>
                </a:lnTo>
                <a:lnTo>
                  <a:pt x="940757" y="176288"/>
                </a:lnTo>
                <a:lnTo>
                  <a:pt x="936114" y="209761"/>
                </a:lnTo>
                <a:lnTo>
                  <a:pt x="931895" y="243290"/>
                </a:lnTo>
                <a:lnTo>
                  <a:pt x="928102" y="276870"/>
                </a:lnTo>
                <a:lnTo>
                  <a:pt x="924734" y="310495"/>
                </a:lnTo>
                <a:lnTo>
                  <a:pt x="921793" y="344161"/>
                </a:lnTo>
                <a:lnTo>
                  <a:pt x="919278" y="377860"/>
                </a:lnTo>
                <a:lnTo>
                  <a:pt x="917191" y="411589"/>
                </a:lnTo>
                <a:lnTo>
                  <a:pt x="915531" y="445342"/>
                </a:lnTo>
                <a:lnTo>
                  <a:pt x="914299" y="479113"/>
                </a:lnTo>
                <a:close/>
              </a:path>
            </a:pathLst>
          </a:custGeom>
          <a:gradFill xmlns:a="http://schemas.openxmlformats.org/drawingml/2006/main">
            <a:gsLst>
              <a:gs pos="0">
                <a:srgbClr val="6C51A7"/>
              </a:gs>
              <a:gs pos="50000">
                <a:srgbClr val="7957B7"/>
              </a:gs>
              <a:gs pos="100000">
                <a:srgbClr val="8A6DC0"/>
              </a:gs>
            </a:gsLst>
            <a:lin ang="11121374"/>
          </a:gradFill>
          <a:ln xmlns:a="http://schemas.openxmlformats.org/drawingml/2006/main" w="0">
            <a:noFill/>
          </a:ln>
        </p:spPr>
      </p:sp>
      <p:sp>
        <p:nvSpPr>
          <p:cNvPr id="216" name="MARS-algorithm-end">
            <a:extLst xmlns:a="http://schemas.openxmlformats.org/drawingml/2006/main">
              <a:ext uri="{FF2B5EF4-FFF2-40B4-BE49-F238E27FC236}">
                <a16:creationId xmlns:a16="http://schemas.microsoft.com/office/drawing/2014/main" id="{6275B832-5623-4138-AE64-91EB0F64C572}"/>
              </a:ext>
            </a:extLst>
          </p:cNvPr>
          <p:cNvSpPr>
            <a:spLocks xmlns:a="http://schemas.openxmlformats.org/drawingml/2006/main" noGrp="1"/>
          </p:cNvSpPr>
          <p:nvPr/>
        </p:nvSpPr>
        <p:spPr>
          <a:xfrm xmlns:a="http://schemas.openxmlformats.org/drawingml/2006/main">
            <a:off x="2515911" y="5679420"/>
            <a:ext cx="66798" cy="452304"/>
          </a:xfrm>
          <a:custGeom xmlns:a="http://schemas.openxmlformats.org/drawingml/2006/main">
            <a:pathLst>
              <a:path w="66798" h="452304">
                <a:moveTo>
                  <a:pt x="0" y="451558"/>
                </a:moveTo>
                <a:lnTo>
                  <a:pt x="1655" y="406205"/>
                </a:lnTo>
                <a:lnTo>
                  <a:pt x="3884" y="360875"/>
                </a:lnTo>
                <a:lnTo>
                  <a:pt x="6687" y="315578"/>
                </a:lnTo>
                <a:lnTo>
                  <a:pt x="10064" y="270320"/>
                </a:lnTo>
                <a:lnTo>
                  <a:pt x="14014" y="225108"/>
                </a:lnTo>
                <a:lnTo>
                  <a:pt x="18537" y="179950"/>
                </a:lnTo>
                <a:lnTo>
                  <a:pt x="23631" y="134853"/>
                </a:lnTo>
                <a:lnTo>
                  <a:pt x="29297" y="89824"/>
                </a:lnTo>
                <a:lnTo>
                  <a:pt x="35532" y="44871"/>
                </a:lnTo>
                <a:lnTo>
                  <a:pt x="42337" y="0"/>
                </a:lnTo>
                <a:lnTo>
                  <a:pt x="66798" y="3868"/>
                </a:lnTo>
                <a:lnTo>
                  <a:pt x="60040" y="48429"/>
                </a:lnTo>
                <a:lnTo>
                  <a:pt x="53848" y="93072"/>
                </a:lnTo>
                <a:lnTo>
                  <a:pt x="48221" y="137789"/>
                </a:lnTo>
                <a:lnTo>
                  <a:pt x="43162" y="182574"/>
                </a:lnTo>
                <a:lnTo>
                  <a:pt x="38671" y="227420"/>
                </a:lnTo>
                <a:lnTo>
                  <a:pt x="34748" y="272319"/>
                </a:lnTo>
                <a:lnTo>
                  <a:pt x="31394" y="317264"/>
                </a:lnTo>
                <a:lnTo>
                  <a:pt x="28610" y="362248"/>
                </a:lnTo>
                <a:lnTo>
                  <a:pt x="26397" y="407264"/>
                </a:lnTo>
                <a:lnTo>
                  <a:pt x="24754" y="452304"/>
                </a:lnTo>
                <a:close/>
              </a:path>
            </a:pathLst>
          </a:custGeom>
          <a:solidFill xmlns:a="http://schemas.openxmlformats.org/drawingml/2006/main">
            <a:srgbClr val="6B50A6"/>
          </a:solidFill>
          <a:ln xmlns:a="http://schemas.openxmlformats.org/drawingml/2006/main" w="0">
            <a:noFill/>
          </a:ln>
        </p:spPr>
      </p:sp>
      <p:sp>
        <p:nvSpPr>
          <p:cNvPr id="217" name="MARS-reuse-930">
            <a:extLst xmlns:a="http://schemas.openxmlformats.org/drawingml/2006/main">
              <a:ext uri="{FF2B5EF4-FFF2-40B4-BE49-F238E27FC236}">
                <a16:creationId xmlns:a16="http://schemas.microsoft.com/office/drawing/2014/main" id="{8819CD03-5F10-4BAD-A988-38CA5D72A7C3}"/>
              </a:ext>
            </a:extLst>
          </p:cNvPr>
          <p:cNvSpPr>
            <a:spLocks xmlns:a="http://schemas.openxmlformats.org/drawingml/2006/main" noGrp="1"/>
          </p:cNvSpPr>
          <p:nvPr/>
        </p:nvSpPr>
        <p:spPr>
          <a:xfrm xmlns:a="http://schemas.openxmlformats.org/drawingml/2006/main">
            <a:off x="3430210" y="5822296"/>
            <a:ext cx="367485" cy="346484"/>
          </a:xfrm>
          <a:custGeom xmlns:a="http://schemas.openxmlformats.org/drawingml/2006/main">
            <a:pathLst>
              <a:path w="367485" h="346484">
                <a:moveTo>
                  <a:pt x="0" y="336237"/>
                </a:moveTo>
                <a:lnTo>
                  <a:pt x="1232" y="302466"/>
                </a:lnTo>
                <a:lnTo>
                  <a:pt x="2892" y="268713"/>
                </a:lnTo>
                <a:lnTo>
                  <a:pt x="4979" y="234984"/>
                </a:lnTo>
                <a:lnTo>
                  <a:pt x="7494" y="201285"/>
                </a:lnTo>
                <a:lnTo>
                  <a:pt x="10435" y="167619"/>
                </a:lnTo>
                <a:lnTo>
                  <a:pt x="13803" y="133994"/>
                </a:lnTo>
                <a:lnTo>
                  <a:pt x="17596" y="100414"/>
                </a:lnTo>
                <a:lnTo>
                  <a:pt x="21815" y="66885"/>
                </a:lnTo>
                <a:lnTo>
                  <a:pt x="26458" y="33412"/>
                </a:lnTo>
                <a:lnTo>
                  <a:pt x="31525" y="0"/>
                </a:lnTo>
                <a:lnTo>
                  <a:pt x="367485" y="53128"/>
                </a:lnTo>
                <a:lnTo>
                  <a:pt x="363065" y="82279"/>
                </a:lnTo>
                <a:lnTo>
                  <a:pt x="359014" y="111483"/>
                </a:lnTo>
                <a:lnTo>
                  <a:pt x="355333" y="140736"/>
                </a:lnTo>
                <a:lnTo>
                  <a:pt x="352023" y="170033"/>
                </a:lnTo>
                <a:lnTo>
                  <a:pt x="349085" y="199370"/>
                </a:lnTo>
                <a:lnTo>
                  <a:pt x="346519" y="228742"/>
                </a:lnTo>
                <a:lnTo>
                  <a:pt x="344325" y="258144"/>
                </a:lnTo>
                <a:lnTo>
                  <a:pt x="342504" y="287571"/>
                </a:lnTo>
                <a:lnTo>
                  <a:pt x="341056" y="317020"/>
                </a:lnTo>
                <a:lnTo>
                  <a:pt x="339981" y="346484"/>
                </a:lnTo>
                <a:close/>
              </a:path>
            </a:pathLst>
          </a:custGeom>
          <a:gradFill xmlns:a="http://schemas.openxmlformats.org/drawingml/2006/main">
            <a:gsLst>
              <a:gs pos="0">
                <a:srgbClr val="B9A8DA"/>
              </a:gs>
              <a:gs pos="100000">
                <a:srgbClr val="9479C5"/>
              </a:gs>
            </a:gsLst>
            <a:lin ang="11121374"/>
          </a:gradFill>
          <a:ln xmlns:a="http://schemas.openxmlformats.org/drawingml/2006/main" w="0">
            <a:noFill/>
          </a:ln>
        </p:spPr>
      </p:sp>
      <p:sp>
        <p:nvSpPr>
          <p:cNvPr id="218" name="MARS-reuse-end">
            <a:extLst xmlns:a="http://schemas.openxmlformats.org/drawingml/2006/main">
              <a:ext uri="{FF2B5EF4-FFF2-40B4-BE49-F238E27FC236}">
                <a16:creationId xmlns:a16="http://schemas.microsoft.com/office/drawing/2014/main" id="{B10B1CF4-97D7-4416-9F26-BDF19206AC2A}"/>
              </a:ext>
            </a:extLst>
          </p:cNvPr>
          <p:cNvSpPr>
            <a:spLocks xmlns:a="http://schemas.openxmlformats.org/drawingml/2006/main" noGrp="1"/>
          </p:cNvSpPr>
          <p:nvPr/>
        </p:nvSpPr>
        <p:spPr>
          <a:xfrm xmlns:a="http://schemas.openxmlformats.org/drawingml/2006/main">
            <a:off x="3746390" y="5871705"/>
            <a:ext cx="51306" cy="297075"/>
          </a:xfrm>
          <a:custGeom xmlns:a="http://schemas.openxmlformats.org/drawingml/2006/main">
            <a:pathLst>
              <a:path w="51306" h="297075">
                <a:moveTo>
                  <a:pt x="0" y="296357"/>
                </a:moveTo>
                <a:lnTo>
                  <a:pt x="1086" y="266592"/>
                </a:lnTo>
                <a:lnTo>
                  <a:pt x="2549" y="236842"/>
                </a:lnTo>
                <a:lnTo>
                  <a:pt x="4389" y="207114"/>
                </a:lnTo>
                <a:lnTo>
                  <a:pt x="6605" y="177411"/>
                </a:lnTo>
                <a:lnTo>
                  <a:pt x="9197" y="147739"/>
                </a:lnTo>
                <a:lnTo>
                  <a:pt x="12166" y="118101"/>
                </a:lnTo>
                <a:lnTo>
                  <a:pt x="15509" y="88504"/>
                </a:lnTo>
                <a:lnTo>
                  <a:pt x="19227" y="58952"/>
                </a:lnTo>
                <a:lnTo>
                  <a:pt x="23320" y="29449"/>
                </a:lnTo>
                <a:lnTo>
                  <a:pt x="27786" y="0"/>
                </a:lnTo>
                <a:lnTo>
                  <a:pt x="51306" y="3719"/>
                </a:lnTo>
                <a:lnTo>
                  <a:pt x="46885" y="32870"/>
                </a:lnTo>
                <a:lnTo>
                  <a:pt x="42834" y="62074"/>
                </a:lnTo>
                <a:lnTo>
                  <a:pt x="39154" y="91327"/>
                </a:lnTo>
                <a:lnTo>
                  <a:pt x="35844" y="120624"/>
                </a:lnTo>
                <a:lnTo>
                  <a:pt x="32906" y="149961"/>
                </a:lnTo>
                <a:lnTo>
                  <a:pt x="30340" y="179333"/>
                </a:lnTo>
                <a:lnTo>
                  <a:pt x="28146" y="208735"/>
                </a:lnTo>
                <a:lnTo>
                  <a:pt x="26325" y="238163"/>
                </a:lnTo>
                <a:lnTo>
                  <a:pt x="24877" y="267611"/>
                </a:lnTo>
                <a:lnTo>
                  <a:pt x="23802" y="297075"/>
                </a:lnTo>
                <a:close/>
              </a:path>
            </a:pathLst>
          </a:custGeom>
          <a:solidFill xmlns:a="http://schemas.openxmlformats.org/drawingml/2006/main">
            <a:srgbClr val="8668BE"/>
          </a:solidFill>
          <a:ln xmlns:a="http://schemas.openxmlformats.org/drawingml/2006/main" w="0">
            <a:noFill/>
          </a:ln>
        </p:spPr>
      </p:sp>
      <p:sp>
        <p:nvSpPr>
          <p:cNvPr id="219" name="MARS-inbar-tick-5000">
            <a:extLst xmlns:a="http://schemas.openxmlformats.org/drawingml/2006/main">
              <a:ext uri="{FF2B5EF4-FFF2-40B4-BE49-F238E27FC236}">
                <a16:creationId xmlns:a16="http://schemas.microsoft.com/office/drawing/2014/main" id="{E45F656E-CA9D-4E94-A190-159B9FA1C828}"/>
              </a:ext>
            </a:extLst>
          </p:cNvPr>
          <p:cNvSpPr>
            <a:spLocks xmlns:a="http://schemas.openxmlformats.org/drawingml/2006/main" noGrp="1"/>
          </p:cNvSpPr>
          <p:nvPr/>
        </p:nvSpPr>
        <p:spPr>
          <a:xfrm xmlns:a="http://schemas.openxmlformats.org/drawingml/2006/main">
            <a:off x="2738533" y="5714209"/>
            <a:ext cx="51935" cy="423852"/>
          </a:xfrm>
          <a:custGeom xmlns:a="http://schemas.openxmlformats.org/drawingml/2006/main">
            <a:pathLst>
              <a:path w="51935" h="423852">
                <a:moveTo>
                  <a:pt x="0" y="423479"/>
                </a:moveTo>
                <a:lnTo>
                  <a:pt x="1552" y="380945"/>
                </a:lnTo>
                <a:lnTo>
                  <a:pt x="3642" y="338435"/>
                </a:lnTo>
                <a:lnTo>
                  <a:pt x="6271" y="295954"/>
                </a:lnTo>
                <a:lnTo>
                  <a:pt x="9438" y="253511"/>
                </a:lnTo>
                <a:lnTo>
                  <a:pt x="13142" y="211110"/>
                </a:lnTo>
                <a:lnTo>
                  <a:pt x="17384" y="168760"/>
                </a:lnTo>
                <a:lnTo>
                  <a:pt x="22162" y="126468"/>
                </a:lnTo>
                <a:lnTo>
                  <a:pt x="27475" y="84239"/>
                </a:lnTo>
                <a:lnTo>
                  <a:pt x="33323" y="42081"/>
                </a:lnTo>
                <a:lnTo>
                  <a:pt x="39704" y="0"/>
                </a:lnTo>
                <a:lnTo>
                  <a:pt x="51935" y="1934"/>
                </a:lnTo>
                <a:lnTo>
                  <a:pt x="45577" y="43860"/>
                </a:lnTo>
                <a:lnTo>
                  <a:pt x="39750" y="85862"/>
                </a:lnTo>
                <a:lnTo>
                  <a:pt x="34457" y="127936"/>
                </a:lnTo>
                <a:lnTo>
                  <a:pt x="29697" y="170072"/>
                </a:lnTo>
                <a:lnTo>
                  <a:pt x="25471" y="212266"/>
                </a:lnTo>
                <a:lnTo>
                  <a:pt x="21780" y="254510"/>
                </a:lnTo>
                <a:lnTo>
                  <a:pt x="18625" y="296798"/>
                </a:lnTo>
                <a:lnTo>
                  <a:pt x="16006" y="339122"/>
                </a:lnTo>
                <a:lnTo>
                  <a:pt x="13923" y="381475"/>
                </a:lnTo>
                <a:lnTo>
                  <a:pt x="12377" y="423852"/>
                </a:lnTo>
                <a:close/>
              </a:path>
            </a:pathLst>
          </a:custGeom>
          <a:solidFill xmlns:a="http://schemas.openxmlformats.org/drawingml/2006/main">
            <a:srgbClr val="D5CBE9"/>
          </a:solidFill>
          <a:ln xmlns:a="http://schemas.openxmlformats.org/drawingml/2006/main" w="0">
            <a:noFill/>
          </a:ln>
        </p:spPr>
      </p:sp>
      <p:sp>
        <p:nvSpPr>
          <p:cNvPr id="220" name="MARS-baseline-gap">
            <a:extLst xmlns:a="http://schemas.openxmlformats.org/drawingml/2006/main">
              <a:ext uri="{FF2B5EF4-FFF2-40B4-BE49-F238E27FC236}">
                <a16:creationId xmlns:a16="http://schemas.microsoft.com/office/drawing/2014/main" id="{200B02D4-25B8-479F-92F5-BD366A71A276}"/>
              </a:ext>
            </a:extLst>
          </p:cNvPr>
          <p:cNvSpPr>
            <a:spLocks xmlns:a="http://schemas.openxmlformats.org/drawingml/2006/main" noGrp="1"/>
          </p:cNvSpPr>
          <p:nvPr/>
        </p:nvSpPr>
        <p:spPr>
          <a:xfrm xmlns:a="http://schemas.openxmlformats.org/drawingml/2006/main">
            <a:off x="3399477" y="5808238"/>
            <a:ext cx="93817" cy="360414"/>
          </a:xfrm>
          <a:custGeom xmlns:a="http://schemas.openxmlformats.org/drawingml/2006/main">
            <a:pathLst>
              <a:path w="93817" h="360414">
                <a:moveTo>
                  <a:pt x="0" y="358790"/>
                </a:moveTo>
                <a:lnTo>
                  <a:pt x="1072" y="326023"/>
                </a:lnTo>
                <a:lnTo>
                  <a:pt x="2543" y="293272"/>
                </a:lnTo>
                <a:lnTo>
                  <a:pt x="4411" y="260540"/>
                </a:lnTo>
                <a:lnTo>
                  <a:pt x="6677" y="227834"/>
                </a:lnTo>
                <a:lnTo>
                  <a:pt x="9341" y="195158"/>
                </a:lnTo>
                <a:lnTo>
                  <a:pt x="12401" y="162517"/>
                </a:lnTo>
                <a:lnTo>
                  <a:pt x="15858" y="129915"/>
                </a:lnTo>
                <a:lnTo>
                  <a:pt x="19711" y="97357"/>
                </a:lnTo>
                <a:lnTo>
                  <a:pt x="23959" y="64849"/>
                </a:lnTo>
                <a:lnTo>
                  <a:pt x="28602" y="32395"/>
                </a:lnTo>
                <a:lnTo>
                  <a:pt x="33639" y="0"/>
                </a:lnTo>
                <a:lnTo>
                  <a:pt x="93817" y="9732"/>
                </a:lnTo>
                <a:lnTo>
                  <a:pt x="88894" y="41395"/>
                </a:lnTo>
                <a:lnTo>
                  <a:pt x="84356" y="73116"/>
                </a:lnTo>
                <a:lnTo>
                  <a:pt x="80204" y="104889"/>
                </a:lnTo>
                <a:lnTo>
                  <a:pt x="76438" y="136711"/>
                </a:lnTo>
                <a:lnTo>
                  <a:pt x="73059" y="168576"/>
                </a:lnTo>
                <a:lnTo>
                  <a:pt x="70068" y="200480"/>
                </a:lnTo>
                <a:lnTo>
                  <a:pt x="67465" y="232417"/>
                </a:lnTo>
                <a:lnTo>
                  <a:pt x="65250" y="264384"/>
                </a:lnTo>
                <a:lnTo>
                  <a:pt x="63424" y="296376"/>
                </a:lnTo>
                <a:lnTo>
                  <a:pt x="61986" y="328387"/>
                </a:lnTo>
                <a:lnTo>
                  <a:pt x="60938" y="360414"/>
                </a:lnTo>
                <a:close/>
              </a:path>
            </a:pathLst>
          </a:custGeom>
          <a:solidFill xmlns:a="http://schemas.openxmlformats.org/drawingml/2006/main">
            <a:srgbClr val="FFFFFF"/>
          </a:solidFill>
          <a:ln xmlns:a="http://schemas.openxmlformats.org/drawingml/2006/main" w="0">
            <a:noFill/>
          </a:ln>
        </p:spPr>
      </p:sp>
      <p:sp>
        <p:nvSpPr>
          <p:cNvPr id="221" name="MARS-label">
            <a:extLst xmlns:a="http://schemas.openxmlformats.org/drawingml/2006/main">
              <a:ext uri="{FF2B5EF4-FFF2-40B4-BE49-F238E27FC236}">
                <a16:creationId xmlns:a16="http://schemas.microsoft.com/office/drawing/2014/main" id="{893A9270-BC46-4DFF-9762-F1989F300C76}"/>
              </a:ext>
            </a:extLst>
          </p:cNvPr>
          <p:cNvSpPr>
            <a:spLocks xmlns:a="http://schemas.openxmlformats.org/drawingml/2006/main" noGrp="1"/>
          </p:cNvSpPr>
          <p:nvPr/>
        </p:nvSpPr>
        <p:spPr>
          <a:xfrm xmlns:a="http://schemas.openxmlformats.org/drawingml/2006/main" rot="21921375">
            <a:off x="1461397" y="5639651"/>
            <a:ext cx="956816"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674FA2"/>
                </a:solidFill>
                <a:latin typeface="Arial"/>
                <a:ea typeface="Arial"/>
                <a:cs typeface="Arial"/>
              </a:defRPr>
            </a:pPr>
            <a:r>
              <a:rPr sz="2400" b="0">
                <a:solidFill>
                  <a:srgbClr val="674FA2"/>
                </a:solidFill>
                <a:latin typeface="Arial"/>
                <a:ea typeface="Arial"/>
                <a:cs typeface="Arial"/>
              </a:rPr>
              <a:t>MARS</a:t>
            </a:r>
          </a:p>
        </p:txBody>
      </p:sp>
      <p:sp>
        <p:nvSpPr>
          <p:cNvPr id="222" name="SAM-algorithm-12522">
            <a:extLst xmlns:a="http://schemas.openxmlformats.org/drawingml/2006/main">
              <a:ext uri="{FF2B5EF4-FFF2-40B4-BE49-F238E27FC236}">
                <a16:creationId xmlns:a16="http://schemas.microsoft.com/office/drawing/2014/main" id="{BBEC9BCA-F98C-4268-B058-FD4D6BFC010A}"/>
              </a:ext>
            </a:extLst>
          </p:cNvPr>
          <p:cNvSpPr>
            <a:spLocks xmlns:a="http://schemas.openxmlformats.org/drawingml/2006/main" noGrp="1"/>
          </p:cNvSpPr>
          <p:nvPr/>
        </p:nvSpPr>
        <p:spPr>
          <a:xfrm xmlns:a="http://schemas.openxmlformats.org/drawingml/2006/main">
            <a:off x="2399168" y="5134061"/>
            <a:ext cx="1148057" cy="647941"/>
          </a:xfrm>
          <a:custGeom xmlns:a="http://schemas.openxmlformats.org/drawingml/2006/main">
            <a:pathLst>
              <a:path w="1148057" h="647941">
                <a:moveTo>
                  <a:pt x="0" y="462023"/>
                </a:moveTo>
                <a:lnTo>
                  <a:pt x="8441" y="415233"/>
                </a:lnTo>
                <a:lnTo>
                  <a:pt x="17475" y="368554"/>
                </a:lnTo>
                <a:lnTo>
                  <a:pt x="27099" y="321993"/>
                </a:lnTo>
                <a:lnTo>
                  <a:pt x="37313" y="275557"/>
                </a:lnTo>
                <a:lnTo>
                  <a:pt x="48114" y="229255"/>
                </a:lnTo>
                <a:lnTo>
                  <a:pt x="59501" y="183093"/>
                </a:lnTo>
                <a:lnTo>
                  <a:pt x="71472" y="137080"/>
                </a:lnTo>
                <a:lnTo>
                  <a:pt x="84025" y="91221"/>
                </a:lnTo>
                <a:lnTo>
                  <a:pt x="97158" y="45526"/>
                </a:lnTo>
                <a:lnTo>
                  <a:pt x="110869" y="0"/>
                </a:lnTo>
                <a:lnTo>
                  <a:pt x="1148057" y="319552"/>
                </a:lnTo>
                <a:lnTo>
                  <a:pt x="1138312" y="351910"/>
                </a:lnTo>
                <a:lnTo>
                  <a:pt x="1128978" y="384388"/>
                </a:lnTo>
                <a:lnTo>
                  <a:pt x="1120055" y="416983"/>
                </a:lnTo>
                <a:lnTo>
                  <a:pt x="1111547" y="449688"/>
                </a:lnTo>
                <a:lnTo>
                  <a:pt x="1103454" y="482498"/>
                </a:lnTo>
                <a:lnTo>
                  <a:pt x="1095776" y="515408"/>
                </a:lnTo>
                <a:lnTo>
                  <a:pt x="1088517" y="548412"/>
                </a:lnTo>
                <a:lnTo>
                  <a:pt x="1081676" y="581506"/>
                </a:lnTo>
                <a:lnTo>
                  <a:pt x="1075256" y="614684"/>
                </a:lnTo>
                <a:lnTo>
                  <a:pt x="1069256" y="647941"/>
                </a:lnTo>
                <a:close/>
              </a:path>
            </a:pathLst>
          </a:custGeom>
          <a:gradFill xmlns:a="http://schemas.openxmlformats.org/drawingml/2006/main">
            <a:gsLst>
              <a:gs pos="0">
                <a:srgbClr val="3E62A2"/>
              </a:gs>
              <a:gs pos="50000">
                <a:srgbClr val="456BB1"/>
              </a:gs>
              <a:gs pos="100000">
                <a:srgbClr val="5D7EBB"/>
              </a:gs>
            </a:gsLst>
            <a:lin ang="11609624"/>
          </a:gradFill>
          <a:ln xmlns:a="http://schemas.openxmlformats.org/drawingml/2006/main" w="0">
            <a:noFill/>
          </a:ln>
        </p:spPr>
      </p:sp>
      <p:sp>
        <p:nvSpPr>
          <p:cNvPr id="223" name="SAM-algorithm-end">
            <a:extLst xmlns:a="http://schemas.openxmlformats.org/drawingml/2006/main">
              <a:ext uri="{FF2B5EF4-FFF2-40B4-BE49-F238E27FC236}">
                <a16:creationId xmlns:a16="http://schemas.microsoft.com/office/drawing/2014/main" id="{F9304B79-1E8C-4298-A7E1-195DD4C12620}"/>
              </a:ext>
            </a:extLst>
          </p:cNvPr>
          <p:cNvSpPr>
            <a:spLocks xmlns:a="http://schemas.openxmlformats.org/drawingml/2006/main" noGrp="1"/>
          </p:cNvSpPr>
          <p:nvPr/>
        </p:nvSpPr>
        <p:spPr>
          <a:xfrm xmlns:a="http://schemas.openxmlformats.org/drawingml/2006/main">
            <a:off x="2399168" y="5134061"/>
            <a:ext cx="134536" cy="466266"/>
          </a:xfrm>
          <a:custGeom xmlns:a="http://schemas.openxmlformats.org/drawingml/2006/main">
            <a:pathLst>
              <a:path w="134536" h="466266">
                <a:moveTo>
                  <a:pt x="0" y="462023"/>
                </a:moveTo>
                <a:lnTo>
                  <a:pt x="8441" y="415233"/>
                </a:lnTo>
                <a:lnTo>
                  <a:pt x="17475" y="368554"/>
                </a:lnTo>
                <a:lnTo>
                  <a:pt x="27099" y="321993"/>
                </a:lnTo>
                <a:lnTo>
                  <a:pt x="37313" y="275557"/>
                </a:lnTo>
                <a:lnTo>
                  <a:pt x="48114" y="229255"/>
                </a:lnTo>
                <a:lnTo>
                  <a:pt x="59501" y="183093"/>
                </a:lnTo>
                <a:lnTo>
                  <a:pt x="71472" y="137080"/>
                </a:lnTo>
                <a:lnTo>
                  <a:pt x="84025" y="91221"/>
                </a:lnTo>
                <a:lnTo>
                  <a:pt x="97158" y="45526"/>
                </a:lnTo>
                <a:lnTo>
                  <a:pt x="110869" y="0"/>
                </a:lnTo>
                <a:lnTo>
                  <a:pt x="134536" y="7292"/>
                </a:lnTo>
                <a:lnTo>
                  <a:pt x="120915" y="52517"/>
                </a:lnTo>
                <a:lnTo>
                  <a:pt x="107869" y="97911"/>
                </a:lnTo>
                <a:lnTo>
                  <a:pt x="95399" y="143467"/>
                </a:lnTo>
                <a:lnTo>
                  <a:pt x="83507" y="189177"/>
                </a:lnTo>
                <a:lnTo>
                  <a:pt x="72195" y="235034"/>
                </a:lnTo>
                <a:lnTo>
                  <a:pt x="61466" y="281030"/>
                </a:lnTo>
                <a:lnTo>
                  <a:pt x="51319" y="327159"/>
                </a:lnTo>
                <a:lnTo>
                  <a:pt x="41759" y="373413"/>
                </a:lnTo>
                <a:lnTo>
                  <a:pt x="32785" y="419784"/>
                </a:lnTo>
                <a:lnTo>
                  <a:pt x="24399" y="466266"/>
                </a:lnTo>
                <a:close/>
              </a:path>
            </a:pathLst>
          </a:custGeom>
          <a:solidFill xmlns:a="http://schemas.openxmlformats.org/drawingml/2006/main">
            <a:srgbClr val="3D62A1"/>
          </a:solidFill>
          <a:ln xmlns:a="http://schemas.openxmlformats.org/drawingml/2006/main" w="0">
            <a:noFill/>
          </a:ln>
        </p:spPr>
      </p:sp>
      <p:sp>
        <p:nvSpPr>
          <p:cNvPr id="224" name="SAM-reuse-2272">
            <a:extLst xmlns:a="http://schemas.openxmlformats.org/drawingml/2006/main">
              <a:ext uri="{FF2B5EF4-FFF2-40B4-BE49-F238E27FC236}">
                <a16:creationId xmlns:a16="http://schemas.microsoft.com/office/drawing/2014/main" id="{35B4D23C-3053-4949-9FC6-938A08660C50}"/>
              </a:ext>
            </a:extLst>
          </p:cNvPr>
          <p:cNvSpPr>
            <a:spLocks xmlns:a="http://schemas.openxmlformats.org/drawingml/2006/main" noGrp="1"/>
          </p:cNvSpPr>
          <p:nvPr/>
        </p:nvSpPr>
        <p:spPr>
          <a:xfrm xmlns:a="http://schemas.openxmlformats.org/drawingml/2006/main">
            <a:off x="3468424" y="5453613"/>
            <a:ext cx="586871" cy="419462"/>
          </a:xfrm>
          <a:custGeom xmlns:a="http://schemas.openxmlformats.org/drawingml/2006/main">
            <a:pathLst>
              <a:path w="586871" h="419462">
                <a:moveTo>
                  <a:pt x="0" y="328390"/>
                </a:moveTo>
                <a:lnTo>
                  <a:pt x="6000" y="295133"/>
                </a:lnTo>
                <a:lnTo>
                  <a:pt x="12421" y="261955"/>
                </a:lnTo>
                <a:lnTo>
                  <a:pt x="19261" y="228861"/>
                </a:lnTo>
                <a:lnTo>
                  <a:pt x="26521" y="195856"/>
                </a:lnTo>
                <a:lnTo>
                  <a:pt x="34198" y="162946"/>
                </a:lnTo>
                <a:lnTo>
                  <a:pt x="42291" y="130136"/>
                </a:lnTo>
                <a:lnTo>
                  <a:pt x="50800" y="97431"/>
                </a:lnTo>
                <a:lnTo>
                  <a:pt x="59722" y="64837"/>
                </a:lnTo>
                <a:lnTo>
                  <a:pt x="69056" y="32358"/>
                </a:lnTo>
                <a:lnTo>
                  <a:pt x="78801" y="0"/>
                </a:lnTo>
                <a:lnTo>
                  <a:pt x="586871" y="156533"/>
                </a:lnTo>
                <a:lnTo>
                  <a:pt x="579068" y="182441"/>
                </a:lnTo>
                <a:lnTo>
                  <a:pt x="571594" y="208445"/>
                </a:lnTo>
                <a:lnTo>
                  <a:pt x="564451" y="234542"/>
                </a:lnTo>
                <a:lnTo>
                  <a:pt x="557638" y="260728"/>
                </a:lnTo>
                <a:lnTo>
                  <a:pt x="551158" y="286998"/>
                </a:lnTo>
                <a:lnTo>
                  <a:pt x="545011" y="313348"/>
                </a:lnTo>
                <a:lnTo>
                  <a:pt x="539199" y="339773"/>
                </a:lnTo>
                <a:lnTo>
                  <a:pt x="533722" y="366270"/>
                </a:lnTo>
                <a:lnTo>
                  <a:pt x="528581" y="392835"/>
                </a:lnTo>
                <a:lnTo>
                  <a:pt x="523777" y="419462"/>
                </a:lnTo>
                <a:close/>
              </a:path>
            </a:pathLst>
          </a:custGeom>
          <a:gradFill xmlns:a="http://schemas.openxmlformats.org/drawingml/2006/main">
            <a:gsLst>
              <a:gs pos="0">
                <a:srgbClr val="9EB2D6"/>
              </a:gs>
              <a:gs pos="100000">
                <a:srgbClr val="6A89C1"/>
              </a:gs>
            </a:gsLst>
            <a:lin ang="11609624"/>
          </a:gradFill>
          <a:ln xmlns:a="http://schemas.openxmlformats.org/drawingml/2006/main" w="0">
            <a:noFill/>
          </a:ln>
        </p:spPr>
      </p:sp>
      <p:sp>
        <p:nvSpPr>
          <p:cNvPr id="225" name="SAM-reuse-end">
            <a:extLst xmlns:a="http://schemas.openxmlformats.org/drawingml/2006/main">
              <a:ext uri="{FF2B5EF4-FFF2-40B4-BE49-F238E27FC236}">
                <a16:creationId xmlns:a16="http://schemas.microsoft.com/office/drawing/2014/main" id="{071613F0-2111-43E2-B39A-03EE93B4BC7B}"/>
              </a:ext>
            </a:extLst>
          </p:cNvPr>
          <p:cNvSpPr>
            <a:spLocks xmlns:a="http://schemas.openxmlformats.org/drawingml/2006/main" noGrp="1"/>
          </p:cNvSpPr>
          <p:nvPr/>
        </p:nvSpPr>
        <p:spPr>
          <a:xfrm xmlns:a="http://schemas.openxmlformats.org/drawingml/2006/main">
            <a:off x="3968741" y="5603135"/>
            <a:ext cx="86554" cy="269940"/>
          </a:xfrm>
          <a:custGeom xmlns:a="http://schemas.openxmlformats.org/drawingml/2006/main">
            <a:pathLst>
              <a:path w="86554" h="269940">
                <a:moveTo>
                  <a:pt x="0" y="265861"/>
                </a:moveTo>
                <a:lnTo>
                  <a:pt x="4857" y="238937"/>
                </a:lnTo>
                <a:lnTo>
                  <a:pt x="10056" y="212076"/>
                </a:lnTo>
                <a:lnTo>
                  <a:pt x="15594" y="185283"/>
                </a:lnTo>
                <a:lnTo>
                  <a:pt x="21471" y="158563"/>
                </a:lnTo>
                <a:lnTo>
                  <a:pt x="27686" y="131920"/>
                </a:lnTo>
                <a:lnTo>
                  <a:pt x="34238" y="105357"/>
                </a:lnTo>
                <a:lnTo>
                  <a:pt x="41127" y="78879"/>
                </a:lnTo>
                <a:lnTo>
                  <a:pt x="48350" y="52491"/>
                </a:lnTo>
                <a:lnTo>
                  <a:pt x="55907" y="26197"/>
                </a:lnTo>
                <a:lnTo>
                  <a:pt x="63797" y="0"/>
                </a:lnTo>
                <a:lnTo>
                  <a:pt x="86554" y="7011"/>
                </a:lnTo>
                <a:lnTo>
                  <a:pt x="78751" y="32919"/>
                </a:lnTo>
                <a:lnTo>
                  <a:pt x="71277" y="58924"/>
                </a:lnTo>
                <a:lnTo>
                  <a:pt x="64134" y="85021"/>
                </a:lnTo>
                <a:lnTo>
                  <a:pt x="57321" y="111206"/>
                </a:lnTo>
                <a:lnTo>
                  <a:pt x="50841" y="137476"/>
                </a:lnTo>
                <a:lnTo>
                  <a:pt x="44695" y="163826"/>
                </a:lnTo>
                <a:lnTo>
                  <a:pt x="38882" y="190251"/>
                </a:lnTo>
                <a:lnTo>
                  <a:pt x="33405" y="216748"/>
                </a:lnTo>
                <a:lnTo>
                  <a:pt x="28264" y="243313"/>
                </a:lnTo>
                <a:lnTo>
                  <a:pt x="23461" y="269940"/>
                </a:lnTo>
                <a:close/>
              </a:path>
            </a:pathLst>
          </a:custGeom>
          <a:solidFill xmlns:a="http://schemas.openxmlformats.org/drawingml/2006/main">
            <a:srgbClr val="587AB9"/>
          </a:solidFill>
          <a:ln xmlns:a="http://schemas.openxmlformats.org/drawingml/2006/main" w="0">
            <a:noFill/>
          </a:ln>
        </p:spPr>
      </p:sp>
      <p:sp>
        <p:nvSpPr>
          <p:cNvPr id="226" name="SAM-inbar-tick-5000">
            <a:extLst xmlns:a="http://schemas.openxmlformats.org/drawingml/2006/main">
              <a:ext uri="{FF2B5EF4-FFF2-40B4-BE49-F238E27FC236}">
                <a16:creationId xmlns:a16="http://schemas.microsoft.com/office/drawing/2014/main" id="{15916197-49A9-48DA-853D-F84C825D648E}"/>
              </a:ext>
            </a:extLst>
          </p:cNvPr>
          <p:cNvSpPr>
            <a:spLocks xmlns:a="http://schemas.openxmlformats.org/drawingml/2006/main" noGrp="1"/>
          </p:cNvSpPr>
          <p:nvPr/>
        </p:nvSpPr>
        <p:spPr>
          <a:xfrm xmlns:a="http://schemas.openxmlformats.org/drawingml/2006/main">
            <a:off x="2786662" y="5249865"/>
            <a:ext cx="111081" cy="415716"/>
          </a:xfrm>
          <a:custGeom xmlns:a="http://schemas.openxmlformats.org/drawingml/2006/main">
            <a:pathLst>
              <a:path w="111081" h="415716">
                <a:moveTo>
                  <a:pt x="0" y="413595"/>
                </a:moveTo>
                <a:lnTo>
                  <a:pt x="7557" y="371709"/>
                </a:lnTo>
                <a:lnTo>
                  <a:pt x="15643" y="329923"/>
                </a:lnTo>
                <a:lnTo>
                  <a:pt x="24259" y="288242"/>
                </a:lnTo>
                <a:lnTo>
                  <a:pt x="33402" y="246674"/>
                </a:lnTo>
                <a:lnTo>
                  <a:pt x="43071" y="205225"/>
                </a:lnTo>
                <a:lnTo>
                  <a:pt x="53264" y="163902"/>
                </a:lnTo>
                <a:lnTo>
                  <a:pt x="63980" y="122711"/>
                </a:lnTo>
                <a:lnTo>
                  <a:pt x="75217" y="81660"/>
                </a:lnTo>
                <a:lnTo>
                  <a:pt x="86974" y="40754"/>
                </a:lnTo>
                <a:lnTo>
                  <a:pt x="99248" y="0"/>
                </a:lnTo>
                <a:lnTo>
                  <a:pt x="111081" y="3646"/>
                </a:lnTo>
                <a:lnTo>
                  <a:pt x="98853" y="44249"/>
                </a:lnTo>
                <a:lnTo>
                  <a:pt x="87140" y="85004"/>
                </a:lnTo>
                <a:lnTo>
                  <a:pt x="75944" y="125905"/>
                </a:lnTo>
                <a:lnTo>
                  <a:pt x="65267" y="166943"/>
                </a:lnTo>
                <a:lnTo>
                  <a:pt x="55111" y="208114"/>
                </a:lnTo>
                <a:lnTo>
                  <a:pt x="45478" y="249410"/>
                </a:lnTo>
                <a:lnTo>
                  <a:pt x="36369" y="290825"/>
                </a:lnTo>
                <a:lnTo>
                  <a:pt x="27785" y="332352"/>
                </a:lnTo>
                <a:lnTo>
                  <a:pt x="19728" y="373985"/>
                </a:lnTo>
                <a:lnTo>
                  <a:pt x="12199" y="415716"/>
                </a:lnTo>
                <a:close/>
              </a:path>
            </a:pathLst>
          </a:custGeom>
          <a:solidFill xmlns:a="http://schemas.openxmlformats.org/drawingml/2006/main">
            <a:srgbClr val="C5D1E7"/>
          </a:solidFill>
          <a:ln xmlns:a="http://schemas.openxmlformats.org/drawingml/2006/main" w="0">
            <a:noFill/>
          </a:ln>
        </p:spPr>
      </p:sp>
      <p:sp>
        <p:nvSpPr>
          <p:cNvPr id="227" name="SAM-baseline-gap">
            <a:extLst xmlns:a="http://schemas.openxmlformats.org/drawingml/2006/main">
              <a:ext uri="{FF2B5EF4-FFF2-40B4-BE49-F238E27FC236}">
                <a16:creationId xmlns:a16="http://schemas.microsoft.com/office/drawing/2014/main" id="{02214FEC-5196-408B-8530-F8B076E069DE}"/>
              </a:ext>
            </a:extLst>
          </p:cNvPr>
          <p:cNvSpPr>
            <a:spLocks xmlns:a="http://schemas.openxmlformats.org/drawingml/2006/main" noGrp="1"/>
          </p:cNvSpPr>
          <p:nvPr/>
        </p:nvSpPr>
        <p:spPr>
          <a:xfrm xmlns:a="http://schemas.openxmlformats.org/drawingml/2006/main">
            <a:off x="3436798" y="5435645"/>
            <a:ext cx="142282" cy="360649"/>
          </a:xfrm>
          <a:custGeom xmlns:a="http://schemas.openxmlformats.org/drawingml/2006/main">
            <a:pathLst>
              <a:path w="142282" h="360649">
                <a:moveTo>
                  <a:pt x="0" y="350416"/>
                </a:moveTo>
                <a:lnTo>
                  <a:pt x="5700" y="318131"/>
                </a:lnTo>
                <a:lnTo>
                  <a:pt x="11791" y="285917"/>
                </a:lnTo>
                <a:lnTo>
                  <a:pt x="18274" y="253780"/>
                </a:lnTo>
                <a:lnTo>
                  <a:pt x="25147" y="221724"/>
                </a:lnTo>
                <a:lnTo>
                  <a:pt x="32409" y="189754"/>
                </a:lnTo>
                <a:lnTo>
                  <a:pt x="40059" y="157874"/>
                </a:lnTo>
                <a:lnTo>
                  <a:pt x="48096" y="126090"/>
                </a:lnTo>
                <a:lnTo>
                  <a:pt x="56518" y="94406"/>
                </a:lnTo>
                <a:lnTo>
                  <a:pt x="65325" y="62826"/>
                </a:lnTo>
                <a:lnTo>
                  <a:pt x="74515" y="31356"/>
                </a:lnTo>
                <a:lnTo>
                  <a:pt x="84087" y="0"/>
                </a:lnTo>
                <a:lnTo>
                  <a:pt x="142282" y="18152"/>
                </a:lnTo>
                <a:lnTo>
                  <a:pt x="132926" y="48800"/>
                </a:lnTo>
                <a:lnTo>
                  <a:pt x="123944" y="79558"/>
                </a:lnTo>
                <a:lnTo>
                  <a:pt x="115336" y="110424"/>
                </a:lnTo>
                <a:lnTo>
                  <a:pt x="107104" y="141392"/>
                </a:lnTo>
                <a:lnTo>
                  <a:pt x="99248" y="172458"/>
                </a:lnTo>
                <a:lnTo>
                  <a:pt x="91771" y="203617"/>
                </a:lnTo>
                <a:lnTo>
                  <a:pt x="84674" y="234865"/>
                </a:lnTo>
                <a:lnTo>
                  <a:pt x="77956" y="266197"/>
                </a:lnTo>
                <a:lnTo>
                  <a:pt x="71620" y="297608"/>
                </a:lnTo>
                <a:lnTo>
                  <a:pt x="65666" y="329093"/>
                </a:lnTo>
                <a:lnTo>
                  <a:pt x="60095" y="360649"/>
                </a:lnTo>
                <a:close/>
              </a:path>
            </a:pathLst>
          </a:custGeom>
          <a:solidFill xmlns:a="http://schemas.openxmlformats.org/drawingml/2006/main">
            <a:srgbClr val="FFFFFF"/>
          </a:solidFill>
          <a:ln xmlns:a="http://schemas.openxmlformats.org/drawingml/2006/main" w="0">
            <a:noFill/>
          </a:ln>
        </p:spPr>
      </p:sp>
      <p:sp>
        <p:nvSpPr>
          <p:cNvPr id="228" name="SAM-label">
            <a:extLst xmlns:a="http://schemas.openxmlformats.org/drawingml/2006/main">
              <a:ext uri="{FF2B5EF4-FFF2-40B4-BE49-F238E27FC236}">
                <a16:creationId xmlns:a16="http://schemas.microsoft.com/office/drawing/2014/main" id="{90E4D2A5-F658-41FA-92A0-9165DC708E7C}"/>
              </a:ext>
            </a:extLst>
          </p:cNvPr>
          <p:cNvSpPr>
            <a:spLocks xmlns:a="http://schemas.openxmlformats.org/drawingml/2006/main" noGrp="1"/>
          </p:cNvSpPr>
          <p:nvPr/>
        </p:nvSpPr>
        <p:spPr>
          <a:xfrm xmlns:a="http://schemas.openxmlformats.org/drawingml/2006/main" rot="22409625">
            <a:off x="1609606" y="5041145"/>
            <a:ext cx="736699"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3C5F9D"/>
                </a:solidFill>
                <a:latin typeface="Arial"/>
                <a:ea typeface="Arial"/>
                <a:cs typeface="Arial"/>
              </a:defRPr>
            </a:pPr>
            <a:r>
              <a:rPr sz="2400" b="0">
                <a:solidFill>
                  <a:srgbClr val="3C5F9D"/>
                </a:solidFill>
                <a:latin typeface="Arial"/>
                <a:ea typeface="Arial"/>
                <a:cs typeface="Arial"/>
              </a:rPr>
              <a:t>SAM</a:t>
            </a:r>
          </a:p>
        </p:txBody>
      </p:sp>
      <p:sp>
        <p:nvSpPr>
          <p:cNvPr id="229" name="StochasticRecursiveMomentum-algorithm-15163">
            <a:extLst xmlns:a="http://schemas.openxmlformats.org/drawingml/2006/main">
              <a:ext uri="{FF2B5EF4-FFF2-40B4-BE49-F238E27FC236}">
                <a16:creationId xmlns:a16="http://schemas.microsoft.com/office/drawing/2014/main" id="{BEE18596-B7CF-421B-9CD4-9672DC4B7CCA}"/>
              </a:ext>
            </a:extLst>
          </p:cNvPr>
          <p:cNvSpPr>
            <a:spLocks xmlns:a="http://schemas.openxmlformats.org/drawingml/2006/main" noGrp="1"/>
          </p:cNvSpPr>
          <p:nvPr/>
        </p:nvSpPr>
        <p:spPr>
          <a:xfrm xmlns:a="http://schemas.openxmlformats.org/drawingml/2006/main">
            <a:off x="2423733" y="4591089"/>
            <a:ext cx="1260308" cy="823582"/>
          </a:xfrm>
          <a:custGeom xmlns:a="http://schemas.openxmlformats.org/drawingml/2006/main">
            <a:pathLst>
              <a:path w="1260308" h="823582">
                <a:moveTo>
                  <a:pt x="0" y="454505"/>
                </a:moveTo>
                <a:lnTo>
                  <a:pt x="15415" y="408071"/>
                </a:lnTo>
                <a:lnTo>
                  <a:pt x="31416" y="361835"/>
                </a:lnTo>
                <a:lnTo>
                  <a:pt x="48002" y="315806"/>
                </a:lnTo>
                <a:lnTo>
                  <a:pt x="65171" y="269991"/>
                </a:lnTo>
                <a:lnTo>
                  <a:pt x="82918" y="224397"/>
                </a:lnTo>
                <a:lnTo>
                  <a:pt x="101241" y="179032"/>
                </a:lnTo>
                <a:lnTo>
                  <a:pt x="120138" y="133902"/>
                </a:lnTo>
                <a:lnTo>
                  <a:pt x="139606" y="89015"/>
                </a:lnTo>
                <a:lnTo>
                  <a:pt x="159640" y="44379"/>
                </a:lnTo>
                <a:lnTo>
                  <a:pt x="180238" y="0"/>
                </a:lnTo>
                <a:lnTo>
                  <a:pt x="1260308" y="509653"/>
                </a:lnTo>
                <a:lnTo>
                  <a:pt x="1246081" y="540306"/>
                </a:lnTo>
                <a:lnTo>
                  <a:pt x="1232243" y="571136"/>
                </a:lnTo>
                <a:lnTo>
                  <a:pt x="1218797" y="602140"/>
                </a:lnTo>
                <a:lnTo>
                  <a:pt x="1205745" y="633311"/>
                </a:lnTo>
                <a:lnTo>
                  <a:pt x="1193089" y="664645"/>
                </a:lnTo>
                <a:lnTo>
                  <a:pt x="1180830" y="696137"/>
                </a:lnTo>
                <a:lnTo>
                  <a:pt x="1168972" y="727782"/>
                </a:lnTo>
                <a:lnTo>
                  <a:pt x="1157516" y="759574"/>
                </a:lnTo>
                <a:lnTo>
                  <a:pt x="1146464" y="791510"/>
                </a:lnTo>
                <a:lnTo>
                  <a:pt x="1135817" y="823582"/>
                </a:lnTo>
                <a:close/>
              </a:path>
            </a:pathLst>
          </a:custGeom>
          <a:gradFill xmlns:a="http://schemas.openxmlformats.org/drawingml/2006/main">
            <a:gsLst>
              <a:gs pos="0">
                <a:srgbClr val="2C4984"/>
              </a:gs>
              <a:gs pos="50000">
                <a:srgbClr val="304E8F"/>
              </a:gs>
              <a:gs pos="100000">
                <a:srgbClr val="4B659E"/>
              </a:gs>
            </a:gsLst>
            <a:lin ang="12097874"/>
          </a:gradFill>
          <a:ln xmlns:a="http://schemas.openxmlformats.org/drawingml/2006/main" w="0">
            <a:noFill/>
          </a:ln>
        </p:spPr>
      </p:sp>
      <p:sp>
        <p:nvSpPr>
          <p:cNvPr id="230" name="StochasticRecursiveMomentum-algorithm-end">
            <a:extLst xmlns:a="http://schemas.openxmlformats.org/drawingml/2006/main">
              <a:ext uri="{FF2B5EF4-FFF2-40B4-BE49-F238E27FC236}">
                <a16:creationId xmlns:a16="http://schemas.microsoft.com/office/drawing/2014/main" id="{D4D76519-BE46-4AE2-A0E9-6C626213D416}"/>
              </a:ext>
            </a:extLst>
          </p:cNvPr>
          <p:cNvSpPr>
            <a:spLocks xmlns:a="http://schemas.openxmlformats.org/drawingml/2006/main" noGrp="1"/>
          </p:cNvSpPr>
          <p:nvPr/>
        </p:nvSpPr>
        <p:spPr>
          <a:xfrm xmlns:a="http://schemas.openxmlformats.org/drawingml/2006/main">
            <a:off x="2423733" y="4591089"/>
            <a:ext cx="202635" cy="462159"/>
          </a:xfrm>
          <a:custGeom xmlns:a="http://schemas.openxmlformats.org/drawingml/2006/main">
            <a:pathLst>
              <a:path w="202635" h="462159">
                <a:moveTo>
                  <a:pt x="0" y="454505"/>
                </a:moveTo>
                <a:lnTo>
                  <a:pt x="15415" y="408071"/>
                </a:lnTo>
                <a:lnTo>
                  <a:pt x="31416" y="361835"/>
                </a:lnTo>
                <a:lnTo>
                  <a:pt x="48002" y="315806"/>
                </a:lnTo>
                <a:lnTo>
                  <a:pt x="65171" y="269991"/>
                </a:lnTo>
                <a:lnTo>
                  <a:pt x="82918" y="224397"/>
                </a:lnTo>
                <a:lnTo>
                  <a:pt x="101241" y="179032"/>
                </a:lnTo>
                <a:lnTo>
                  <a:pt x="120138" y="133902"/>
                </a:lnTo>
                <a:lnTo>
                  <a:pt x="139606" y="89015"/>
                </a:lnTo>
                <a:lnTo>
                  <a:pt x="159640" y="44379"/>
                </a:lnTo>
                <a:lnTo>
                  <a:pt x="180238" y="0"/>
                </a:lnTo>
                <a:lnTo>
                  <a:pt x="202635" y="10568"/>
                </a:lnTo>
                <a:lnTo>
                  <a:pt x="182169" y="54663"/>
                </a:lnTo>
                <a:lnTo>
                  <a:pt x="162263" y="99013"/>
                </a:lnTo>
                <a:lnTo>
                  <a:pt x="142921" y="143611"/>
                </a:lnTo>
                <a:lnTo>
                  <a:pt x="124145" y="188452"/>
                </a:lnTo>
                <a:lnTo>
                  <a:pt x="105939" y="233526"/>
                </a:lnTo>
                <a:lnTo>
                  <a:pt x="88305" y="278828"/>
                </a:lnTo>
                <a:lnTo>
                  <a:pt x="71247" y="324349"/>
                </a:lnTo>
                <a:lnTo>
                  <a:pt x="54767" y="370083"/>
                </a:lnTo>
                <a:lnTo>
                  <a:pt x="38868" y="416022"/>
                </a:lnTo>
                <a:lnTo>
                  <a:pt x="23553" y="462159"/>
                </a:lnTo>
                <a:close/>
              </a:path>
            </a:pathLst>
          </a:custGeom>
          <a:solidFill xmlns:a="http://schemas.openxmlformats.org/drawingml/2006/main">
            <a:srgbClr val="2B4883"/>
          </a:solidFill>
          <a:ln xmlns:a="http://schemas.openxmlformats.org/drawingml/2006/main" w="0">
            <a:noFill/>
          </a:ln>
        </p:spPr>
      </p:sp>
      <p:sp>
        <p:nvSpPr>
          <p:cNvPr id="231" name="StochasticRecursiveMomentum-reuse-3604">
            <a:extLst xmlns:a="http://schemas.openxmlformats.org/drawingml/2006/main">
              <a:ext uri="{FF2B5EF4-FFF2-40B4-BE49-F238E27FC236}">
                <a16:creationId xmlns:a16="http://schemas.microsoft.com/office/drawing/2014/main" id="{1BD74509-4835-43FA-B5C7-6BFB73C8F7BE}"/>
              </a:ext>
            </a:extLst>
          </p:cNvPr>
          <p:cNvSpPr>
            <a:spLocks xmlns:a="http://schemas.openxmlformats.org/drawingml/2006/main" noGrp="1"/>
          </p:cNvSpPr>
          <p:nvPr/>
        </p:nvSpPr>
        <p:spPr>
          <a:xfrm xmlns:a="http://schemas.openxmlformats.org/drawingml/2006/main">
            <a:off x="3559550" y="5100743"/>
            <a:ext cx="730041" cy="520854"/>
          </a:xfrm>
          <a:custGeom xmlns:a="http://schemas.openxmlformats.org/drawingml/2006/main">
            <a:pathLst>
              <a:path w="730041" h="520854">
                <a:moveTo>
                  <a:pt x="0" y="313929"/>
                </a:moveTo>
                <a:lnTo>
                  <a:pt x="10647" y="281856"/>
                </a:lnTo>
                <a:lnTo>
                  <a:pt x="21699" y="249921"/>
                </a:lnTo>
                <a:lnTo>
                  <a:pt x="33156" y="218129"/>
                </a:lnTo>
                <a:lnTo>
                  <a:pt x="45014" y="186484"/>
                </a:lnTo>
                <a:lnTo>
                  <a:pt x="57272" y="154992"/>
                </a:lnTo>
                <a:lnTo>
                  <a:pt x="69928" y="123658"/>
                </a:lnTo>
                <a:lnTo>
                  <a:pt x="82980" y="92487"/>
                </a:lnTo>
                <a:lnTo>
                  <a:pt x="96426" y="61483"/>
                </a:lnTo>
                <a:lnTo>
                  <a:pt x="110264" y="30653"/>
                </a:lnTo>
                <a:lnTo>
                  <a:pt x="124491" y="0"/>
                </a:lnTo>
                <a:lnTo>
                  <a:pt x="730041" y="285741"/>
                </a:lnTo>
                <a:lnTo>
                  <a:pt x="719385" y="308698"/>
                </a:lnTo>
                <a:lnTo>
                  <a:pt x="709021" y="331788"/>
                </a:lnTo>
                <a:lnTo>
                  <a:pt x="698951" y="355008"/>
                </a:lnTo>
                <a:lnTo>
                  <a:pt x="689176" y="378353"/>
                </a:lnTo>
                <a:lnTo>
                  <a:pt x="679697" y="401820"/>
                </a:lnTo>
                <a:lnTo>
                  <a:pt x="670517" y="425406"/>
                </a:lnTo>
                <a:lnTo>
                  <a:pt x="661636" y="449106"/>
                </a:lnTo>
                <a:lnTo>
                  <a:pt x="653056" y="472917"/>
                </a:lnTo>
                <a:lnTo>
                  <a:pt x="644778" y="496834"/>
                </a:lnTo>
                <a:lnTo>
                  <a:pt x="636804" y="520854"/>
                </a:lnTo>
                <a:close/>
              </a:path>
            </a:pathLst>
          </a:custGeom>
          <a:gradFill xmlns:a="http://schemas.openxmlformats.org/drawingml/2006/main">
            <a:gsLst>
              <a:gs pos="0">
                <a:srgbClr val="93A3C5"/>
              </a:gs>
              <a:gs pos="100000">
                <a:srgbClr val="5971A5"/>
              </a:gs>
            </a:gsLst>
            <a:lin ang="12097874"/>
          </a:gradFill>
          <a:ln xmlns:a="http://schemas.openxmlformats.org/drawingml/2006/main" w="0">
            <a:noFill/>
          </a:ln>
        </p:spPr>
      </p:sp>
      <p:sp>
        <p:nvSpPr>
          <p:cNvPr id="232" name="StochasticRecursiveMomentum-reuse-end">
            <a:extLst xmlns:a="http://schemas.openxmlformats.org/drawingml/2006/main">
              <a:ext uri="{FF2B5EF4-FFF2-40B4-BE49-F238E27FC236}">
                <a16:creationId xmlns:a16="http://schemas.microsoft.com/office/drawing/2014/main" id="{C799C93B-E146-4C6F-9308-65E0FEEC4067}"/>
              </a:ext>
            </a:extLst>
          </p:cNvPr>
          <p:cNvSpPr>
            <a:spLocks xmlns:a="http://schemas.openxmlformats.org/drawingml/2006/main" noGrp="1"/>
          </p:cNvSpPr>
          <p:nvPr/>
        </p:nvSpPr>
        <p:spPr>
          <a:xfrm xmlns:a="http://schemas.openxmlformats.org/drawingml/2006/main">
            <a:off x="4173708" y="5376322"/>
            <a:ext cx="115883" cy="245275"/>
          </a:xfrm>
          <a:custGeom xmlns:a="http://schemas.openxmlformats.org/drawingml/2006/main">
            <a:pathLst>
              <a:path w="115883" h="245275">
                <a:moveTo>
                  <a:pt x="0" y="237916"/>
                </a:moveTo>
                <a:lnTo>
                  <a:pt x="8069" y="213610"/>
                </a:lnTo>
                <a:lnTo>
                  <a:pt x="16445" y="189407"/>
                </a:lnTo>
                <a:lnTo>
                  <a:pt x="25127" y="165313"/>
                </a:lnTo>
                <a:lnTo>
                  <a:pt x="34114" y="141330"/>
                </a:lnTo>
                <a:lnTo>
                  <a:pt x="43404" y="117463"/>
                </a:lnTo>
                <a:lnTo>
                  <a:pt x="52996" y="93716"/>
                </a:lnTo>
                <a:lnTo>
                  <a:pt x="62888" y="70093"/>
                </a:lnTo>
                <a:lnTo>
                  <a:pt x="73078" y="46596"/>
                </a:lnTo>
                <a:lnTo>
                  <a:pt x="83565" y="23231"/>
                </a:lnTo>
                <a:lnTo>
                  <a:pt x="94348" y="0"/>
                </a:lnTo>
                <a:lnTo>
                  <a:pt x="115883" y="10162"/>
                </a:lnTo>
                <a:lnTo>
                  <a:pt x="105228" y="33119"/>
                </a:lnTo>
                <a:lnTo>
                  <a:pt x="94864" y="56209"/>
                </a:lnTo>
                <a:lnTo>
                  <a:pt x="84794" y="79429"/>
                </a:lnTo>
                <a:lnTo>
                  <a:pt x="75019" y="102774"/>
                </a:lnTo>
                <a:lnTo>
                  <a:pt x="65540" y="126241"/>
                </a:lnTo>
                <a:lnTo>
                  <a:pt x="56359" y="149827"/>
                </a:lnTo>
                <a:lnTo>
                  <a:pt x="47478" y="173527"/>
                </a:lnTo>
                <a:lnTo>
                  <a:pt x="38898" y="197338"/>
                </a:lnTo>
                <a:lnTo>
                  <a:pt x="30621" y="221255"/>
                </a:lnTo>
                <a:lnTo>
                  <a:pt x="22647" y="245275"/>
                </a:lnTo>
                <a:close/>
              </a:path>
            </a:pathLst>
          </a:custGeom>
          <a:solidFill xmlns:a="http://schemas.openxmlformats.org/drawingml/2006/main">
            <a:srgbClr val="45609A"/>
          </a:solidFill>
          <a:ln xmlns:a="http://schemas.openxmlformats.org/drawingml/2006/main" w="0">
            <a:noFill/>
          </a:ln>
        </p:spPr>
      </p:sp>
      <p:sp>
        <p:nvSpPr>
          <p:cNvPr id="233" name="StochasticRecursiveMomentum-inbar-tick-5000">
            <a:extLst xmlns:a="http://schemas.openxmlformats.org/drawingml/2006/main">
              <a:ext uri="{FF2B5EF4-FFF2-40B4-BE49-F238E27FC236}">
                <a16:creationId xmlns:a16="http://schemas.microsoft.com/office/drawing/2014/main" id="{276C46EB-F9D2-44DD-B652-B7D19B6A5DC1}"/>
              </a:ext>
            </a:extLst>
          </p:cNvPr>
          <p:cNvSpPr>
            <a:spLocks xmlns:a="http://schemas.openxmlformats.org/drawingml/2006/main" noGrp="1"/>
          </p:cNvSpPr>
          <p:nvPr/>
        </p:nvSpPr>
        <p:spPr>
          <a:xfrm xmlns:a="http://schemas.openxmlformats.org/drawingml/2006/main">
            <a:off x="2901432" y="4805438"/>
            <a:ext cx="167991" cy="399209"/>
          </a:xfrm>
          <a:custGeom xmlns:a="http://schemas.openxmlformats.org/drawingml/2006/main">
            <a:pathLst>
              <a:path w="167991" h="399209">
                <a:moveTo>
                  <a:pt x="0" y="395382"/>
                </a:moveTo>
                <a:lnTo>
                  <a:pt x="13409" y="354988"/>
                </a:lnTo>
                <a:lnTo>
                  <a:pt x="27330" y="314767"/>
                </a:lnTo>
                <a:lnTo>
                  <a:pt x="41758" y="274725"/>
                </a:lnTo>
                <a:lnTo>
                  <a:pt x="56693" y="234870"/>
                </a:lnTo>
                <a:lnTo>
                  <a:pt x="72132" y="195207"/>
                </a:lnTo>
                <a:lnTo>
                  <a:pt x="88072" y="155743"/>
                </a:lnTo>
                <a:lnTo>
                  <a:pt x="104510" y="116484"/>
                </a:lnTo>
                <a:lnTo>
                  <a:pt x="121445" y="77436"/>
                </a:lnTo>
                <a:lnTo>
                  <a:pt x="138873" y="38606"/>
                </a:lnTo>
                <a:lnTo>
                  <a:pt x="156792" y="0"/>
                </a:lnTo>
                <a:lnTo>
                  <a:pt x="167991" y="5284"/>
                </a:lnTo>
                <a:lnTo>
                  <a:pt x="150138" y="43748"/>
                </a:lnTo>
                <a:lnTo>
                  <a:pt x="132774" y="82435"/>
                </a:lnTo>
                <a:lnTo>
                  <a:pt x="115901" y="121338"/>
                </a:lnTo>
                <a:lnTo>
                  <a:pt x="99523" y="160453"/>
                </a:lnTo>
                <a:lnTo>
                  <a:pt x="83642" y="199771"/>
                </a:lnTo>
                <a:lnTo>
                  <a:pt x="68260" y="239288"/>
                </a:lnTo>
                <a:lnTo>
                  <a:pt x="53381" y="278997"/>
                </a:lnTo>
                <a:lnTo>
                  <a:pt x="39005" y="318891"/>
                </a:lnTo>
                <a:lnTo>
                  <a:pt x="25136" y="358963"/>
                </a:lnTo>
                <a:lnTo>
                  <a:pt x="11776" y="399209"/>
                </a:lnTo>
                <a:close/>
              </a:path>
            </a:pathLst>
          </a:custGeom>
          <a:solidFill xmlns:a="http://schemas.openxmlformats.org/drawingml/2006/main">
            <a:srgbClr val="BFC8DC"/>
          </a:solidFill>
          <a:ln xmlns:a="http://schemas.openxmlformats.org/drawingml/2006/main" w="0">
            <a:noFill/>
          </a:ln>
        </p:spPr>
      </p:sp>
      <p:sp>
        <p:nvSpPr>
          <p:cNvPr id="234" name="StochasticRecursiveMomentum-baseline-gap">
            <a:extLst xmlns:a="http://schemas.openxmlformats.org/drawingml/2006/main">
              <a:ext uri="{FF2B5EF4-FFF2-40B4-BE49-F238E27FC236}">
                <a16:creationId xmlns:a16="http://schemas.microsoft.com/office/drawing/2014/main" id="{53F7EB7D-E368-4C08-89C0-6DFF940662EB}"/>
              </a:ext>
            </a:extLst>
          </p:cNvPr>
          <p:cNvSpPr>
            <a:spLocks xmlns:a="http://schemas.openxmlformats.org/drawingml/2006/main" noGrp="1"/>
          </p:cNvSpPr>
          <p:nvPr/>
        </p:nvSpPr>
        <p:spPr>
          <a:xfrm xmlns:a="http://schemas.openxmlformats.org/drawingml/2006/main">
            <a:off x="3527668" y="5079227"/>
            <a:ext cx="187881" cy="353622"/>
          </a:xfrm>
          <a:custGeom xmlns:a="http://schemas.openxmlformats.org/drawingml/2006/main">
            <a:pathLst>
              <a:path w="187881" h="353622">
                <a:moveTo>
                  <a:pt x="0" y="334985"/>
                </a:moveTo>
                <a:lnTo>
                  <a:pt x="10212" y="303832"/>
                </a:lnTo>
                <a:lnTo>
                  <a:pt x="20802" y="272805"/>
                </a:lnTo>
                <a:lnTo>
                  <a:pt x="31769" y="241909"/>
                </a:lnTo>
                <a:lnTo>
                  <a:pt x="43110" y="211148"/>
                </a:lnTo>
                <a:lnTo>
                  <a:pt x="54824" y="180528"/>
                </a:lnTo>
                <a:lnTo>
                  <a:pt x="66910" y="150052"/>
                </a:lnTo>
                <a:lnTo>
                  <a:pt x="79364" y="119726"/>
                </a:lnTo>
                <a:lnTo>
                  <a:pt x="92187" y="89553"/>
                </a:lnTo>
                <a:lnTo>
                  <a:pt x="105375" y="59538"/>
                </a:lnTo>
                <a:lnTo>
                  <a:pt x="118927" y="29685"/>
                </a:lnTo>
                <a:lnTo>
                  <a:pt x="132841" y="0"/>
                </a:lnTo>
                <a:lnTo>
                  <a:pt x="187881" y="26207"/>
                </a:lnTo>
                <a:lnTo>
                  <a:pt x="174281" y="55221"/>
                </a:lnTo>
                <a:lnTo>
                  <a:pt x="161035" y="84399"/>
                </a:lnTo>
                <a:lnTo>
                  <a:pt x="148145" y="113736"/>
                </a:lnTo>
                <a:lnTo>
                  <a:pt x="135612" y="143227"/>
                </a:lnTo>
                <a:lnTo>
                  <a:pt x="123439" y="172868"/>
                </a:lnTo>
                <a:lnTo>
                  <a:pt x="111627" y="202655"/>
                </a:lnTo>
                <a:lnTo>
                  <a:pt x="100177" y="232583"/>
                </a:lnTo>
                <a:lnTo>
                  <a:pt x="89092" y="262649"/>
                </a:lnTo>
                <a:lnTo>
                  <a:pt x="78374" y="292846"/>
                </a:lnTo>
                <a:lnTo>
                  <a:pt x="68023" y="323172"/>
                </a:lnTo>
                <a:lnTo>
                  <a:pt x="58041" y="353622"/>
                </a:lnTo>
                <a:close/>
              </a:path>
            </a:pathLst>
          </a:custGeom>
          <a:solidFill xmlns:a="http://schemas.openxmlformats.org/drawingml/2006/main">
            <a:srgbClr val="FFFFFF"/>
          </a:solidFill>
          <a:ln xmlns:a="http://schemas.openxmlformats.org/drawingml/2006/main" w="0">
            <a:noFill/>
          </a:ln>
        </p:spPr>
      </p:sp>
      <p:sp>
        <p:nvSpPr>
          <p:cNvPr id="235" name="StochasticRecursiveMomentum-label">
            <a:extLst xmlns:a="http://schemas.openxmlformats.org/drawingml/2006/main">
              <a:ext uri="{FF2B5EF4-FFF2-40B4-BE49-F238E27FC236}">
                <a16:creationId xmlns:a16="http://schemas.microsoft.com/office/drawing/2014/main" id="{36C84B92-F289-40C1-A4C7-961E6CE1281B}"/>
              </a:ext>
            </a:extLst>
          </p:cNvPr>
          <p:cNvSpPr>
            <a:spLocks xmlns:a="http://schemas.openxmlformats.org/drawingml/2006/main" noGrp="1"/>
          </p:cNvSpPr>
          <p:nvPr/>
        </p:nvSpPr>
        <p:spPr>
          <a:xfrm xmlns:a="http://schemas.openxmlformats.org/drawingml/2006/main" rot="22897875">
            <a:off x="1265054" y="4346902"/>
            <a:ext cx="117678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A4780"/>
                </a:solidFill>
                <a:latin typeface="Arial"/>
                <a:ea typeface="Arial"/>
                <a:cs typeface="Arial"/>
              </a:defRPr>
            </a:pPr>
            <a:r>
              <a:rPr sz="2400" b="0">
                <a:solidFill>
                  <a:srgbClr val="2A4780"/>
                </a:solidFill>
                <a:latin typeface="Arial"/>
                <a:ea typeface="Arial"/>
                <a:cs typeface="Arial"/>
              </a:rPr>
              <a:t>STORM</a:t>
            </a:r>
          </a:p>
        </p:txBody>
      </p:sp>
      <p:sp>
        <p:nvSpPr>
          <p:cNvPr id="236" name="RCDGD-algorithm-5611">
            <a:extLst xmlns:a="http://schemas.openxmlformats.org/drawingml/2006/main">
              <a:ext uri="{FF2B5EF4-FFF2-40B4-BE49-F238E27FC236}">
                <a16:creationId xmlns:a16="http://schemas.microsoft.com/office/drawing/2014/main" id="{60B86012-9481-40EC-B35F-BA6899F1848D}"/>
              </a:ext>
            </a:extLst>
          </p:cNvPr>
          <p:cNvSpPr>
            <a:spLocks xmlns:a="http://schemas.openxmlformats.org/drawingml/2006/main" noGrp="1"/>
          </p:cNvSpPr>
          <p:nvPr/>
        </p:nvSpPr>
        <p:spPr>
          <a:xfrm xmlns:a="http://schemas.openxmlformats.org/drawingml/2006/main">
            <a:off x="3285981" y="3941900"/>
            <a:ext cx="846848" cy="801751"/>
          </a:xfrm>
          <a:custGeom xmlns:a="http://schemas.openxmlformats.org/drawingml/2006/main">
            <a:pathLst>
              <a:path w="846848" h="801751">
                <a:moveTo>
                  <a:pt x="0" y="394450"/>
                </a:moveTo>
                <a:lnTo>
                  <a:pt x="23735" y="359856"/>
                </a:lnTo>
                <a:lnTo>
                  <a:pt x="47895" y="325559"/>
                </a:lnTo>
                <a:lnTo>
                  <a:pt x="72478" y="291563"/>
                </a:lnTo>
                <a:lnTo>
                  <a:pt x="97479" y="257874"/>
                </a:lnTo>
                <a:lnTo>
                  <a:pt x="122894" y="224496"/>
                </a:lnTo>
                <a:lnTo>
                  <a:pt x="148720" y="191435"/>
                </a:lnTo>
                <a:lnTo>
                  <a:pt x="174953" y="158696"/>
                </a:lnTo>
                <a:lnTo>
                  <a:pt x="201589" y="126283"/>
                </a:lnTo>
                <a:lnTo>
                  <a:pt x="228623" y="94203"/>
                </a:lnTo>
                <a:lnTo>
                  <a:pt x="256052" y="62459"/>
                </a:lnTo>
                <a:lnTo>
                  <a:pt x="283872" y="31056"/>
                </a:lnTo>
                <a:lnTo>
                  <a:pt x="312077" y="0"/>
                </a:lnTo>
                <a:lnTo>
                  <a:pt x="846848" y="491747"/>
                </a:lnTo>
                <a:lnTo>
                  <a:pt x="824681" y="516155"/>
                </a:lnTo>
                <a:lnTo>
                  <a:pt x="802817" y="540834"/>
                </a:lnTo>
                <a:lnTo>
                  <a:pt x="781260" y="565782"/>
                </a:lnTo>
                <a:lnTo>
                  <a:pt x="760014" y="590995"/>
                </a:lnTo>
                <a:lnTo>
                  <a:pt x="739080" y="616468"/>
                </a:lnTo>
                <a:lnTo>
                  <a:pt x="718463" y="642199"/>
                </a:lnTo>
                <a:lnTo>
                  <a:pt x="698166" y="668182"/>
                </a:lnTo>
                <a:lnTo>
                  <a:pt x="678192" y="694414"/>
                </a:lnTo>
                <a:lnTo>
                  <a:pt x="658543" y="720891"/>
                </a:lnTo>
                <a:lnTo>
                  <a:pt x="639223" y="747609"/>
                </a:lnTo>
                <a:lnTo>
                  <a:pt x="620235" y="774564"/>
                </a:lnTo>
                <a:lnTo>
                  <a:pt x="601582" y="801751"/>
                </a:lnTo>
                <a:close/>
              </a:path>
            </a:pathLst>
          </a:custGeom>
          <a:gradFill xmlns:a="http://schemas.openxmlformats.org/drawingml/2006/main">
            <a:gsLst>
              <a:gs pos="0">
                <a:srgbClr val="AB6335"/>
              </a:gs>
              <a:gs pos="50000">
                <a:srgbClr val="C16C35"/>
              </a:gs>
              <a:gs pos="100000">
                <a:srgbClr val="C97F4F"/>
              </a:gs>
            </a:gsLst>
            <a:lin ang="13100999"/>
          </a:gradFill>
          <a:ln xmlns:a="http://schemas.openxmlformats.org/drawingml/2006/main" w="0">
            <a:noFill/>
          </a:ln>
        </p:spPr>
      </p:sp>
      <p:sp>
        <p:nvSpPr>
          <p:cNvPr id="237" name="RCDGD-algorithm-end">
            <a:extLst xmlns:a="http://schemas.openxmlformats.org/drawingml/2006/main">
              <a:ext uri="{FF2B5EF4-FFF2-40B4-BE49-F238E27FC236}">
                <a16:creationId xmlns:a16="http://schemas.microsoft.com/office/drawing/2014/main" id="{CAA72DF5-0677-4ABD-B994-7129D6788392}"/>
              </a:ext>
            </a:extLst>
          </p:cNvPr>
          <p:cNvSpPr>
            <a:spLocks xmlns:a="http://schemas.openxmlformats.org/drawingml/2006/main" noGrp="1"/>
          </p:cNvSpPr>
          <p:nvPr/>
        </p:nvSpPr>
        <p:spPr>
          <a:xfrm xmlns:a="http://schemas.openxmlformats.org/drawingml/2006/main">
            <a:off x="3285981" y="3941900"/>
            <a:ext cx="330306" cy="408334"/>
          </a:xfrm>
          <a:custGeom xmlns:a="http://schemas.openxmlformats.org/drawingml/2006/main">
            <a:pathLst>
              <a:path w="330306" h="408334">
                <a:moveTo>
                  <a:pt x="0" y="394450"/>
                </a:moveTo>
                <a:lnTo>
                  <a:pt x="23735" y="359856"/>
                </a:lnTo>
                <a:lnTo>
                  <a:pt x="47895" y="325559"/>
                </a:lnTo>
                <a:lnTo>
                  <a:pt x="72478" y="291563"/>
                </a:lnTo>
                <a:lnTo>
                  <a:pt x="97479" y="257874"/>
                </a:lnTo>
                <a:lnTo>
                  <a:pt x="122894" y="224496"/>
                </a:lnTo>
                <a:lnTo>
                  <a:pt x="148720" y="191435"/>
                </a:lnTo>
                <a:lnTo>
                  <a:pt x="174953" y="158696"/>
                </a:lnTo>
                <a:lnTo>
                  <a:pt x="201589" y="126283"/>
                </a:lnTo>
                <a:lnTo>
                  <a:pt x="228623" y="94203"/>
                </a:lnTo>
                <a:lnTo>
                  <a:pt x="256052" y="62459"/>
                </a:lnTo>
                <a:lnTo>
                  <a:pt x="283872" y="31056"/>
                </a:lnTo>
                <a:lnTo>
                  <a:pt x="312077" y="0"/>
                </a:lnTo>
                <a:lnTo>
                  <a:pt x="330306" y="16763"/>
                </a:lnTo>
                <a:lnTo>
                  <a:pt x="302307" y="47592"/>
                </a:lnTo>
                <a:lnTo>
                  <a:pt x="274691" y="78766"/>
                </a:lnTo>
                <a:lnTo>
                  <a:pt x="247462" y="110278"/>
                </a:lnTo>
                <a:lnTo>
                  <a:pt x="220625" y="142125"/>
                </a:lnTo>
                <a:lnTo>
                  <a:pt x="194183" y="174300"/>
                </a:lnTo>
                <a:lnTo>
                  <a:pt x="168142" y="206801"/>
                </a:lnTo>
                <a:lnTo>
                  <a:pt x="142504" y="239620"/>
                </a:lnTo>
                <a:lnTo>
                  <a:pt x="117274" y="272755"/>
                </a:lnTo>
                <a:lnTo>
                  <a:pt x="92456" y="306198"/>
                </a:lnTo>
                <a:lnTo>
                  <a:pt x="68052" y="339946"/>
                </a:lnTo>
                <a:lnTo>
                  <a:pt x="44068" y="373993"/>
                </a:lnTo>
                <a:lnTo>
                  <a:pt x="20507" y="408334"/>
                </a:lnTo>
                <a:close/>
              </a:path>
            </a:pathLst>
          </a:custGeom>
          <a:solidFill xmlns:a="http://schemas.openxmlformats.org/drawingml/2006/main">
            <a:srgbClr val="A96335"/>
          </a:solidFill>
          <a:ln xmlns:a="http://schemas.openxmlformats.org/drawingml/2006/main" w="0">
            <a:noFill/>
          </a:ln>
        </p:spPr>
      </p:sp>
      <p:sp>
        <p:nvSpPr>
          <p:cNvPr id="238" name="RCDGD-reuse-183">
            <a:extLst xmlns:a="http://schemas.openxmlformats.org/drawingml/2006/main">
              <a:ext uri="{FF2B5EF4-FFF2-40B4-BE49-F238E27FC236}">
                <a16:creationId xmlns:a16="http://schemas.microsoft.com/office/drawing/2014/main" id="{BFCADBB6-20F7-4B5F-BCBB-0FB83326A054}"/>
              </a:ext>
            </a:extLst>
          </p:cNvPr>
          <p:cNvSpPr>
            <a:spLocks xmlns:a="http://schemas.openxmlformats.org/drawingml/2006/main" noGrp="1"/>
          </p:cNvSpPr>
          <p:nvPr/>
        </p:nvSpPr>
        <p:spPr>
          <a:xfrm xmlns:a="http://schemas.openxmlformats.org/drawingml/2006/main">
            <a:off x="3887563" y="4433647"/>
            <a:ext cx="356329" cy="394594"/>
          </a:xfrm>
          <a:custGeom xmlns:a="http://schemas.openxmlformats.org/drawingml/2006/main">
            <a:pathLst>
              <a:path w="356329" h="394594">
                <a:moveTo>
                  <a:pt x="0" y="310004"/>
                </a:moveTo>
                <a:lnTo>
                  <a:pt x="18653" y="282817"/>
                </a:lnTo>
                <a:lnTo>
                  <a:pt x="37641" y="255862"/>
                </a:lnTo>
                <a:lnTo>
                  <a:pt x="56961" y="229144"/>
                </a:lnTo>
                <a:lnTo>
                  <a:pt x="76610" y="202667"/>
                </a:lnTo>
                <a:lnTo>
                  <a:pt x="96584" y="176435"/>
                </a:lnTo>
                <a:lnTo>
                  <a:pt x="116882" y="150452"/>
                </a:lnTo>
                <a:lnTo>
                  <a:pt x="137498" y="124721"/>
                </a:lnTo>
                <a:lnTo>
                  <a:pt x="158432" y="99248"/>
                </a:lnTo>
                <a:lnTo>
                  <a:pt x="179679" y="74035"/>
                </a:lnTo>
                <a:lnTo>
                  <a:pt x="201235" y="49087"/>
                </a:lnTo>
                <a:lnTo>
                  <a:pt x="223099" y="24408"/>
                </a:lnTo>
                <a:lnTo>
                  <a:pt x="245266" y="0"/>
                </a:lnTo>
                <a:lnTo>
                  <a:pt x="356329" y="102128"/>
                </a:lnTo>
                <a:lnTo>
                  <a:pt x="335416" y="125155"/>
                </a:lnTo>
                <a:lnTo>
                  <a:pt x="314790" y="148438"/>
                </a:lnTo>
                <a:lnTo>
                  <a:pt x="294453" y="171975"/>
                </a:lnTo>
                <a:lnTo>
                  <a:pt x="274408" y="195761"/>
                </a:lnTo>
                <a:lnTo>
                  <a:pt x="254659" y="219794"/>
                </a:lnTo>
                <a:lnTo>
                  <a:pt x="235208" y="244068"/>
                </a:lnTo>
                <a:lnTo>
                  <a:pt x="216059" y="268581"/>
                </a:lnTo>
                <a:lnTo>
                  <a:pt x="197215" y="293329"/>
                </a:lnTo>
                <a:lnTo>
                  <a:pt x="178678" y="318309"/>
                </a:lnTo>
                <a:lnTo>
                  <a:pt x="160451" y="343515"/>
                </a:lnTo>
                <a:lnTo>
                  <a:pt x="142537" y="368945"/>
                </a:lnTo>
                <a:lnTo>
                  <a:pt x="124939" y="394594"/>
                </a:lnTo>
                <a:close/>
              </a:path>
            </a:pathLst>
          </a:custGeom>
          <a:gradFill xmlns:a="http://schemas.openxmlformats.org/drawingml/2006/main">
            <a:gsLst>
              <a:gs pos="0">
                <a:srgbClr val="DFB396"/>
              </a:gs>
              <a:gs pos="100000">
                <a:srgbClr val="CD895D"/>
              </a:gs>
            </a:gsLst>
            <a:lin ang="13100999"/>
          </a:gradFill>
          <a:ln xmlns:a="http://schemas.openxmlformats.org/drawingml/2006/main" w="0">
            <a:noFill/>
          </a:ln>
        </p:spPr>
      </p:sp>
      <p:sp>
        <p:nvSpPr>
          <p:cNvPr id="239" name="RCDGD-reuse-end">
            <a:extLst xmlns:a="http://schemas.openxmlformats.org/drawingml/2006/main">
              <a:ext uri="{FF2B5EF4-FFF2-40B4-BE49-F238E27FC236}">
                <a16:creationId xmlns:a16="http://schemas.microsoft.com/office/drawing/2014/main" id="{C25229DD-AE98-4FB6-BE59-648F8FFFEA47}"/>
              </a:ext>
            </a:extLst>
          </p:cNvPr>
          <p:cNvSpPr>
            <a:spLocks xmlns:a="http://schemas.openxmlformats.org/drawingml/2006/main" noGrp="1"/>
          </p:cNvSpPr>
          <p:nvPr/>
        </p:nvSpPr>
        <p:spPr>
          <a:xfrm xmlns:a="http://schemas.openxmlformats.org/drawingml/2006/main">
            <a:off x="3992784" y="4519657"/>
            <a:ext cx="251109" cy="308584"/>
          </a:xfrm>
          <a:custGeom xmlns:a="http://schemas.openxmlformats.org/drawingml/2006/main">
            <a:pathLst>
              <a:path w="251109" h="308584">
                <a:moveTo>
                  <a:pt x="0" y="295234"/>
                </a:moveTo>
                <a:lnTo>
                  <a:pt x="17765" y="269342"/>
                </a:lnTo>
                <a:lnTo>
                  <a:pt x="35848" y="243671"/>
                </a:lnTo>
                <a:lnTo>
                  <a:pt x="54247" y="218226"/>
                </a:lnTo>
                <a:lnTo>
                  <a:pt x="72960" y="193011"/>
                </a:lnTo>
                <a:lnTo>
                  <a:pt x="91983" y="168029"/>
                </a:lnTo>
                <a:lnTo>
                  <a:pt x="111313" y="143283"/>
                </a:lnTo>
                <a:lnTo>
                  <a:pt x="130947" y="118779"/>
                </a:lnTo>
                <a:lnTo>
                  <a:pt x="150883" y="94519"/>
                </a:lnTo>
                <a:lnTo>
                  <a:pt x="171118" y="70508"/>
                </a:lnTo>
                <a:lnTo>
                  <a:pt x="191648" y="46748"/>
                </a:lnTo>
                <a:lnTo>
                  <a:pt x="212469" y="23245"/>
                </a:lnTo>
                <a:lnTo>
                  <a:pt x="233580" y="0"/>
                </a:lnTo>
                <a:lnTo>
                  <a:pt x="251109" y="16118"/>
                </a:lnTo>
                <a:lnTo>
                  <a:pt x="230196" y="39145"/>
                </a:lnTo>
                <a:lnTo>
                  <a:pt x="209569" y="62428"/>
                </a:lnTo>
                <a:lnTo>
                  <a:pt x="189232" y="85965"/>
                </a:lnTo>
                <a:lnTo>
                  <a:pt x="169187" y="109751"/>
                </a:lnTo>
                <a:lnTo>
                  <a:pt x="149438" y="133784"/>
                </a:lnTo>
                <a:lnTo>
                  <a:pt x="129987" y="158058"/>
                </a:lnTo>
                <a:lnTo>
                  <a:pt x="110838" y="182571"/>
                </a:lnTo>
                <a:lnTo>
                  <a:pt x="91994" y="207319"/>
                </a:lnTo>
                <a:lnTo>
                  <a:pt x="73457" y="232299"/>
                </a:lnTo>
                <a:lnTo>
                  <a:pt x="55230" y="257505"/>
                </a:lnTo>
                <a:lnTo>
                  <a:pt x="37316" y="282935"/>
                </a:lnTo>
                <a:lnTo>
                  <a:pt x="19718" y="308584"/>
                </a:lnTo>
                <a:close/>
              </a:path>
            </a:pathLst>
          </a:custGeom>
          <a:solidFill xmlns:a="http://schemas.openxmlformats.org/drawingml/2006/main">
            <a:srgbClr val="C77B49"/>
          </a:solidFill>
          <a:ln xmlns:a="http://schemas.openxmlformats.org/drawingml/2006/main" w="0">
            <a:noFill/>
          </a:ln>
        </p:spPr>
      </p:sp>
      <p:sp>
        <p:nvSpPr>
          <p:cNvPr id="240" name="RCDGD-inbar-tick-5000">
            <a:extLst xmlns:a="http://schemas.openxmlformats.org/drawingml/2006/main">
              <a:ext uri="{FF2B5EF4-FFF2-40B4-BE49-F238E27FC236}">
                <a16:creationId xmlns:a16="http://schemas.microsoft.com/office/drawing/2014/main" id="{DFAE70B7-6AD8-4FCB-9673-892855E4908A}"/>
              </a:ext>
            </a:extLst>
          </p:cNvPr>
          <p:cNvSpPr>
            <a:spLocks xmlns:a="http://schemas.openxmlformats.org/drawingml/2006/main" noGrp="1"/>
          </p:cNvSpPr>
          <p:nvPr/>
        </p:nvSpPr>
        <p:spPr>
          <a:xfrm xmlns:a="http://schemas.openxmlformats.org/drawingml/2006/main">
            <a:off x="3314553" y="3965255"/>
            <a:ext cx="318018" cy="397381"/>
          </a:xfrm>
          <a:custGeom xmlns:a="http://schemas.openxmlformats.org/drawingml/2006/main">
            <a:pathLst>
              <a:path w="318018" h="397381">
                <a:moveTo>
                  <a:pt x="0" y="390439"/>
                </a:moveTo>
                <a:lnTo>
                  <a:pt x="23493" y="356197"/>
                </a:lnTo>
                <a:lnTo>
                  <a:pt x="47408" y="322249"/>
                </a:lnTo>
                <a:lnTo>
                  <a:pt x="71741" y="288599"/>
                </a:lnTo>
                <a:lnTo>
                  <a:pt x="96487" y="255252"/>
                </a:lnTo>
                <a:lnTo>
                  <a:pt x="121645" y="222213"/>
                </a:lnTo>
                <a:lnTo>
                  <a:pt x="147208" y="189489"/>
                </a:lnTo>
                <a:lnTo>
                  <a:pt x="173174" y="157082"/>
                </a:lnTo>
                <a:lnTo>
                  <a:pt x="199539" y="124999"/>
                </a:lnTo>
                <a:lnTo>
                  <a:pt x="226299" y="93245"/>
                </a:lnTo>
                <a:lnTo>
                  <a:pt x="253449" y="61824"/>
                </a:lnTo>
                <a:lnTo>
                  <a:pt x="280985" y="30740"/>
                </a:lnTo>
                <a:lnTo>
                  <a:pt x="308904" y="0"/>
                </a:lnTo>
                <a:lnTo>
                  <a:pt x="318018" y="8381"/>
                </a:lnTo>
                <a:lnTo>
                  <a:pt x="290203" y="39008"/>
                </a:lnTo>
                <a:lnTo>
                  <a:pt x="262768" y="69977"/>
                </a:lnTo>
                <a:lnTo>
                  <a:pt x="235718" y="101283"/>
                </a:lnTo>
                <a:lnTo>
                  <a:pt x="209057" y="132920"/>
                </a:lnTo>
                <a:lnTo>
                  <a:pt x="182790" y="164885"/>
                </a:lnTo>
                <a:lnTo>
                  <a:pt x="156919" y="197171"/>
                </a:lnTo>
                <a:lnTo>
                  <a:pt x="131450" y="229776"/>
                </a:lnTo>
                <a:lnTo>
                  <a:pt x="106385" y="262692"/>
                </a:lnTo>
                <a:lnTo>
                  <a:pt x="81730" y="295916"/>
                </a:lnTo>
                <a:lnTo>
                  <a:pt x="57487" y="329442"/>
                </a:lnTo>
                <a:lnTo>
                  <a:pt x="33660" y="363266"/>
                </a:lnTo>
                <a:lnTo>
                  <a:pt x="10253" y="397381"/>
                </a:lnTo>
                <a:close/>
              </a:path>
            </a:pathLst>
          </a:custGeom>
          <a:solidFill xmlns:a="http://schemas.openxmlformats.org/drawingml/2006/main">
            <a:srgbClr val="ECD1C0"/>
          </a:solidFill>
          <a:ln xmlns:a="http://schemas.openxmlformats.org/drawingml/2006/main" w="0">
            <a:noFill/>
          </a:ln>
        </p:spPr>
      </p:sp>
      <p:sp>
        <p:nvSpPr>
          <p:cNvPr id="241" name="RCDGD-baseline-gap">
            <a:extLst xmlns:a="http://schemas.openxmlformats.org/drawingml/2006/main">
              <a:ext uri="{FF2B5EF4-FFF2-40B4-BE49-F238E27FC236}">
                <a16:creationId xmlns:a16="http://schemas.microsoft.com/office/drawing/2014/main" id="{84D2F76B-B89D-4959-BBBA-E6B481895755}"/>
              </a:ext>
            </a:extLst>
          </p:cNvPr>
          <p:cNvSpPr>
            <a:spLocks xmlns:a="http://schemas.openxmlformats.org/drawingml/2006/main" noGrp="1"/>
          </p:cNvSpPr>
          <p:nvPr/>
        </p:nvSpPr>
        <p:spPr>
          <a:xfrm xmlns:a="http://schemas.openxmlformats.org/drawingml/2006/main">
            <a:off x="3857058" y="4406096"/>
            <a:ext cx="304448" cy="362273"/>
          </a:xfrm>
          <a:custGeom xmlns:a="http://schemas.openxmlformats.org/drawingml/2006/main">
            <a:pathLst>
              <a:path w="304448" h="362273">
                <a:moveTo>
                  <a:pt x="0" y="328273"/>
                </a:moveTo>
                <a:lnTo>
                  <a:pt x="19662" y="299418"/>
                </a:lnTo>
                <a:lnTo>
                  <a:pt x="39696" y="270820"/>
                </a:lnTo>
                <a:lnTo>
                  <a:pt x="60099" y="242483"/>
                </a:lnTo>
                <a:lnTo>
                  <a:pt x="80866" y="214413"/>
                </a:lnTo>
                <a:lnTo>
                  <a:pt x="101995" y="186614"/>
                </a:lnTo>
                <a:lnTo>
                  <a:pt x="123483" y="159091"/>
                </a:lnTo>
                <a:lnTo>
                  <a:pt x="145324" y="131848"/>
                </a:lnTo>
                <a:lnTo>
                  <a:pt x="167517" y="104891"/>
                </a:lnTo>
                <a:lnTo>
                  <a:pt x="190057" y="78223"/>
                </a:lnTo>
                <a:lnTo>
                  <a:pt x="212940" y="51849"/>
                </a:lnTo>
                <a:lnTo>
                  <a:pt x="236162" y="25773"/>
                </a:lnTo>
                <a:lnTo>
                  <a:pt x="259720" y="0"/>
                </a:lnTo>
                <a:lnTo>
                  <a:pt x="304448" y="41419"/>
                </a:lnTo>
                <a:lnTo>
                  <a:pt x="281422" y="66609"/>
                </a:lnTo>
                <a:lnTo>
                  <a:pt x="258725" y="92096"/>
                </a:lnTo>
                <a:lnTo>
                  <a:pt x="236359" y="117874"/>
                </a:lnTo>
                <a:lnTo>
                  <a:pt x="214329" y="143939"/>
                </a:lnTo>
                <a:lnTo>
                  <a:pt x="192638" y="170288"/>
                </a:lnTo>
                <a:lnTo>
                  <a:pt x="171290" y="196915"/>
                </a:lnTo>
                <a:lnTo>
                  <a:pt x="150288" y="223816"/>
                </a:lnTo>
                <a:lnTo>
                  <a:pt x="129636" y="250986"/>
                </a:lnTo>
                <a:lnTo>
                  <a:pt x="109338" y="278422"/>
                </a:lnTo>
                <a:lnTo>
                  <a:pt x="89397" y="306118"/>
                </a:lnTo>
                <a:lnTo>
                  <a:pt x="69815" y="334070"/>
                </a:lnTo>
                <a:lnTo>
                  <a:pt x="50598" y="362273"/>
                </a:lnTo>
                <a:close/>
              </a:path>
            </a:pathLst>
          </a:custGeom>
          <a:solidFill xmlns:a="http://schemas.openxmlformats.org/drawingml/2006/main">
            <a:srgbClr val="FFFFFF"/>
          </a:solidFill>
          <a:ln xmlns:a="http://schemas.openxmlformats.org/drawingml/2006/main" w="0">
            <a:noFill/>
          </a:ln>
        </p:spPr>
      </p:sp>
      <p:sp>
        <p:nvSpPr>
          <p:cNvPr id="242" name="RCDGD-label">
            <a:extLst xmlns:a="http://schemas.openxmlformats.org/drawingml/2006/main">
              <a:ext uri="{FF2B5EF4-FFF2-40B4-BE49-F238E27FC236}">
                <a16:creationId xmlns:a16="http://schemas.microsoft.com/office/drawing/2014/main" id="{B93397E5-1D22-47A9-BB44-B0FE4DEF527B}"/>
              </a:ext>
            </a:extLst>
          </p:cNvPr>
          <p:cNvSpPr>
            <a:spLocks xmlns:a="http://schemas.openxmlformats.org/drawingml/2006/main" noGrp="1"/>
          </p:cNvSpPr>
          <p:nvPr/>
        </p:nvSpPr>
        <p:spPr>
          <a:xfrm xmlns:a="http://schemas.openxmlformats.org/drawingml/2006/main" rot="23901000">
            <a:off x="2114000" y="3424766"/>
            <a:ext cx="1379934"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A46035"/>
                </a:solidFill>
                <a:latin typeface="Arial"/>
                <a:ea typeface="Arial"/>
                <a:cs typeface="Arial"/>
              </a:defRPr>
            </a:pPr>
            <a:r>
              <a:rPr sz="2400" b="0">
                <a:solidFill>
                  <a:srgbClr val="A46035"/>
                </a:solidFill>
                <a:latin typeface="Arial"/>
                <a:ea typeface="Arial"/>
                <a:cs typeface="Arial"/>
              </a:rPr>
              <a:t>R/C-DGD</a:t>
            </a:r>
          </a:p>
        </p:txBody>
      </p:sp>
      <p:sp>
        <p:nvSpPr>
          <p:cNvPr id="243" name="HeavyBallSecondRiddle-algorithm-15282">
            <a:extLst xmlns:a="http://schemas.openxmlformats.org/drawingml/2006/main">
              <a:ext uri="{FF2B5EF4-FFF2-40B4-BE49-F238E27FC236}">
                <a16:creationId xmlns:a16="http://schemas.microsoft.com/office/drawing/2014/main" id="{5B293A10-76C9-4345-AA39-3557EB894EC0}"/>
              </a:ext>
            </a:extLst>
          </p:cNvPr>
          <p:cNvSpPr>
            <a:spLocks xmlns:a="http://schemas.openxmlformats.org/drawingml/2006/main" noGrp="1"/>
          </p:cNvSpPr>
          <p:nvPr/>
        </p:nvSpPr>
        <p:spPr>
          <a:xfrm xmlns:a="http://schemas.openxmlformats.org/drawingml/2006/main">
            <a:off x="3381508" y="3115223"/>
            <a:ext cx="1143105" cy="1224678"/>
          </a:xfrm>
          <a:custGeom xmlns:a="http://schemas.openxmlformats.org/drawingml/2006/main">
            <a:pathLst>
              <a:path w="1143105" h="1224678">
                <a:moveTo>
                  <a:pt x="0" y="370992"/>
                </a:moveTo>
                <a:lnTo>
                  <a:pt x="34237" y="337644"/>
                </a:lnTo>
                <a:lnTo>
                  <a:pt x="68884" y="304723"/>
                </a:lnTo>
                <a:lnTo>
                  <a:pt x="103935" y="272232"/>
                </a:lnTo>
                <a:lnTo>
                  <a:pt x="139385" y="240177"/>
                </a:lnTo>
                <a:lnTo>
                  <a:pt x="175228" y="208563"/>
                </a:lnTo>
                <a:lnTo>
                  <a:pt x="211460" y="177394"/>
                </a:lnTo>
                <a:lnTo>
                  <a:pt x="248074" y="146676"/>
                </a:lnTo>
                <a:lnTo>
                  <a:pt x="285065" y="116412"/>
                </a:lnTo>
                <a:lnTo>
                  <a:pt x="322428" y="86609"/>
                </a:lnTo>
                <a:lnTo>
                  <a:pt x="360156" y="57269"/>
                </a:lnTo>
                <a:lnTo>
                  <a:pt x="398244" y="28398"/>
                </a:lnTo>
                <a:lnTo>
                  <a:pt x="436685" y="0"/>
                </a:lnTo>
                <a:lnTo>
                  <a:pt x="1143105" y="968743"/>
                </a:lnTo>
                <a:lnTo>
                  <a:pt x="1116585" y="988334"/>
                </a:lnTo>
                <a:lnTo>
                  <a:pt x="1090309" y="1008251"/>
                </a:lnTo>
                <a:lnTo>
                  <a:pt x="1064282" y="1028491"/>
                </a:lnTo>
                <a:lnTo>
                  <a:pt x="1038507" y="1049052"/>
                </a:lnTo>
                <a:lnTo>
                  <a:pt x="1012988" y="1069930"/>
                </a:lnTo>
                <a:lnTo>
                  <a:pt x="987729" y="1091122"/>
                </a:lnTo>
                <a:lnTo>
                  <a:pt x="962734" y="1112624"/>
                </a:lnTo>
                <a:lnTo>
                  <a:pt x="938006" y="1134434"/>
                </a:lnTo>
                <a:lnTo>
                  <a:pt x="913551" y="1156547"/>
                </a:lnTo>
                <a:lnTo>
                  <a:pt x="889370" y="1178962"/>
                </a:lnTo>
                <a:lnTo>
                  <a:pt x="865468" y="1201673"/>
                </a:lnTo>
                <a:lnTo>
                  <a:pt x="841849" y="1224678"/>
                </a:lnTo>
                <a:close/>
              </a:path>
            </a:pathLst>
          </a:custGeom>
          <a:gradFill xmlns:a="http://schemas.openxmlformats.org/drawingml/2006/main">
            <a:gsLst>
              <a:gs pos="0">
                <a:srgbClr val="A3701C"/>
              </a:gs>
              <a:gs pos="50000">
                <a:srgbClr val="B87A19"/>
              </a:gs>
              <a:gs pos="100000">
                <a:srgbClr val="C18B37"/>
              </a:gs>
            </a:gsLst>
            <a:lin ang="13778999"/>
          </a:gradFill>
          <a:ln xmlns:a="http://schemas.openxmlformats.org/drawingml/2006/main" w="0">
            <a:noFill/>
          </a:ln>
        </p:spPr>
      </p:sp>
      <p:sp>
        <p:nvSpPr>
          <p:cNvPr id="244" name="HeavyBallSecondRiddle-algorithm-end">
            <a:extLst xmlns:a="http://schemas.openxmlformats.org/drawingml/2006/main">
              <a:ext uri="{FF2B5EF4-FFF2-40B4-BE49-F238E27FC236}">
                <a16:creationId xmlns:a16="http://schemas.microsoft.com/office/drawing/2014/main" id="{F0747817-F8CD-429A-B651-C29E138E6507}"/>
              </a:ext>
            </a:extLst>
          </p:cNvPr>
          <p:cNvSpPr>
            <a:spLocks xmlns:a="http://schemas.openxmlformats.org/drawingml/2006/main" noGrp="1"/>
          </p:cNvSpPr>
          <p:nvPr/>
        </p:nvSpPr>
        <p:spPr>
          <a:xfrm xmlns:a="http://schemas.openxmlformats.org/drawingml/2006/main">
            <a:off x="3381508" y="3115223"/>
            <a:ext cx="451277" cy="388625"/>
          </a:xfrm>
          <a:custGeom xmlns:a="http://schemas.openxmlformats.org/drawingml/2006/main">
            <a:pathLst>
              <a:path w="451277" h="388625">
                <a:moveTo>
                  <a:pt x="0" y="370992"/>
                </a:moveTo>
                <a:lnTo>
                  <a:pt x="34237" y="337644"/>
                </a:lnTo>
                <a:lnTo>
                  <a:pt x="68884" y="304723"/>
                </a:lnTo>
                <a:lnTo>
                  <a:pt x="103935" y="272232"/>
                </a:lnTo>
                <a:lnTo>
                  <a:pt x="139385" y="240177"/>
                </a:lnTo>
                <a:lnTo>
                  <a:pt x="175228" y="208563"/>
                </a:lnTo>
                <a:lnTo>
                  <a:pt x="211460" y="177394"/>
                </a:lnTo>
                <a:lnTo>
                  <a:pt x="248074" y="146676"/>
                </a:lnTo>
                <a:lnTo>
                  <a:pt x="285065" y="116412"/>
                </a:lnTo>
                <a:lnTo>
                  <a:pt x="322428" y="86609"/>
                </a:lnTo>
                <a:lnTo>
                  <a:pt x="360156" y="57269"/>
                </a:lnTo>
                <a:lnTo>
                  <a:pt x="398244" y="28398"/>
                </a:lnTo>
                <a:lnTo>
                  <a:pt x="436685" y="0"/>
                </a:lnTo>
                <a:lnTo>
                  <a:pt x="451277" y="20010"/>
                </a:lnTo>
                <a:lnTo>
                  <a:pt x="413081" y="48226"/>
                </a:lnTo>
                <a:lnTo>
                  <a:pt x="375237" y="76912"/>
                </a:lnTo>
                <a:lnTo>
                  <a:pt x="337751" y="106064"/>
                </a:lnTo>
                <a:lnTo>
                  <a:pt x="300628" y="135677"/>
                </a:lnTo>
                <a:lnTo>
                  <a:pt x="263874" y="165746"/>
                </a:lnTo>
                <a:lnTo>
                  <a:pt x="227494" y="196268"/>
                </a:lnTo>
                <a:lnTo>
                  <a:pt x="191495" y="227237"/>
                </a:lnTo>
                <a:lnTo>
                  <a:pt x="155881" y="258648"/>
                </a:lnTo>
                <a:lnTo>
                  <a:pt x="120658" y="290498"/>
                </a:lnTo>
                <a:lnTo>
                  <a:pt x="85831" y="322781"/>
                </a:lnTo>
                <a:lnTo>
                  <a:pt x="51407" y="355491"/>
                </a:lnTo>
                <a:lnTo>
                  <a:pt x="17389" y="388625"/>
                </a:lnTo>
                <a:close/>
              </a:path>
            </a:pathLst>
          </a:custGeom>
          <a:solidFill xmlns:a="http://schemas.openxmlformats.org/drawingml/2006/main">
            <a:srgbClr val="A26F1D"/>
          </a:solidFill>
          <a:ln xmlns:a="http://schemas.openxmlformats.org/drawingml/2006/main" w="0">
            <a:noFill/>
          </a:ln>
        </p:spPr>
      </p:sp>
      <p:sp>
        <p:nvSpPr>
          <p:cNvPr id="245" name="HeavyBallSecondRiddle-reuse-392">
            <a:extLst xmlns:a="http://schemas.openxmlformats.org/drawingml/2006/main">
              <a:ext uri="{FF2B5EF4-FFF2-40B4-BE49-F238E27FC236}">
                <a16:creationId xmlns:a16="http://schemas.microsoft.com/office/drawing/2014/main" id="{C84E4FEB-1BE2-432C-8D98-CE07BD492345}"/>
              </a:ext>
            </a:extLst>
          </p:cNvPr>
          <p:cNvSpPr>
            <a:spLocks xmlns:a="http://schemas.openxmlformats.org/drawingml/2006/main" noGrp="1"/>
          </p:cNvSpPr>
          <p:nvPr/>
        </p:nvSpPr>
        <p:spPr>
          <a:xfrm xmlns:a="http://schemas.openxmlformats.org/drawingml/2006/main">
            <a:off x="4223358" y="4083966"/>
            <a:ext cx="431366" cy="413171"/>
          </a:xfrm>
          <a:custGeom xmlns:a="http://schemas.openxmlformats.org/drawingml/2006/main">
            <a:pathLst>
              <a:path w="431366" h="413171">
                <a:moveTo>
                  <a:pt x="0" y="255936"/>
                </a:moveTo>
                <a:lnTo>
                  <a:pt x="23619" y="232930"/>
                </a:lnTo>
                <a:lnTo>
                  <a:pt x="47521" y="210219"/>
                </a:lnTo>
                <a:lnTo>
                  <a:pt x="71701" y="187804"/>
                </a:lnTo>
                <a:lnTo>
                  <a:pt x="96157" y="165691"/>
                </a:lnTo>
                <a:lnTo>
                  <a:pt x="120884" y="143881"/>
                </a:lnTo>
                <a:lnTo>
                  <a:pt x="145879" y="122379"/>
                </a:lnTo>
                <a:lnTo>
                  <a:pt x="171138" y="101187"/>
                </a:lnTo>
                <a:lnTo>
                  <a:pt x="196657" y="80309"/>
                </a:lnTo>
                <a:lnTo>
                  <a:pt x="222433" y="59749"/>
                </a:lnTo>
                <a:lnTo>
                  <a:pt x="248460" y="39508"/>
                </a:lnTo>
                <a:lnTo>
                  <a:pt x="274736" y="19591"/>
                </a:lnTo>
                <a:lnTo>
                  <a:pt x="301256" y="0"/>
                </a:lnTo>
                <a:lnTo>
                  <a:pt x="431366" y="178426"/>
                </a:lnTo>
                <a:lnTo>
                  <a:pt x="407042" y="196395"/>
                </a:lnTo>
                <a:lnTo>
                  <a:pt x="382942" y="214663"/>
                </a:lnTo>
                <a:lnTo>
                  <a:pt x="359070" y="233228"/>
                </a:lnTo>
                <a:lnTo>
                  <a:pt x="335429" y="252086"/>
                </a:lnTo>
                <a:lnTo>
                  <a:pt x="312023" y="271235"/>
                </a:lnTo>
                <a:lnTo>
                  <a:pt x="288855" y="290672"/>
                </a:lnTo>
                <a:lnTo>
                  <a:pt x="265930" y="310394"/>
                </a:lnTo>
                <a:lnTo>
                  <a:pt x="243250" y="330398"/>
                </a:lnTo>
                <a:lnTo>
                  <a:pt x="220819" y="350681"/>
                </a:lnTo>
                <a:lnTo>
                  <a:pt x="198641" y="371239"/>
                </a:lnTo>
                <a:lnTo>
                  <a:pt x="176718" y="392070"/>
                </a:lnTo>
                <a:lnTo>
                  <a:pt x="155055" y="413171"/>
                </a:lnTo>
                <a:close/>
              </a:path>
            </a:pathLst>
          </a:custGeom>
          <a:gradFill xmlns:a="http://schemas.openxmlformats.org/drawingml/2006/main">
            <a:gsLst>
              <a:gs pos="0">
                <a:srgbClr val="DABA87"/>
              </a:gs>
              <a:gs pos="100000">
                <a:srgbClr val="C69547"/>
              </a:gs>
            </a:gsLst>
            <a:lin ang="13778999"/>
          </a:gradFill>
          <a:ln xmlns:a="http://schemas.openxmlformats.org/drawingml/2006/main" w="0">
            <a:noFill/>
          </a:ln>
        </p:spPr>
      </p:sp>
      <p:sp>
        <p:nvSpPr>
          <p:cNvPr id="246" name="HeavyBallSecondRiddle-reuse-end">
            <a:extLst xmlns:a="http://schemas.openxmlformats.org/drawingml/2006/main">
              <a:ext uri="{FF2B5EF4-FFF2-40B4-BE49-F238E27FC236}">
                <a16:creationId xmlns:a16="http://schemas.microsoft.com/office/drawing/2014/main" id="{5A812922-EC0A-4992-8623-FD9BBAF96971}"/>
              </a:ext>
            </a:extLst>
          </p:cNvPr>
          <p:cNvSpPr>
            <a:spLocks xmlns:a="http://schemas.openxmlformats.org/drawingml/2006/main" noGrp="1"/>
          </p:cNvSpPr>
          <p:nvPr/>
        </p:nvSpPr>
        <p:spPr>
          <a:xfrm xmlns:a="http://schemas.openxmlformats.org/drawingml/2006/main">
            <a:off x="4361693" y="4243152"/>
            <a:ext cx="293032" cy="253984"/>
          </a:xfrm>
          <a:custGeom xmlns:a="http://schemas.openxmlformats.org/drawingml/2006/main">
            <a:pathLst>
              <a:path w="293032" h="253984">
                <a:moveTo>
                  <a:pt x="0" y="237029"/>
                </a:moveTo>
                <a:lnTo>
                  <a:pt x="21874" y="215723"/>
                </a:lnTo>
                <a:lnTo>
                  <a:pt x="44010" y="194690"/>
                </a:lnTo>
                <a:lnTo>
                  <a:pt x="66405" y="173931"/>
                </a:lnTo>
                <a:lnTo>
                  <a:pt x="89054" y="153451"/>
                </a:lnTo>
                <a:lnTo>
                  <a:pt x="111955" y="133252"/>
                </a:lnTo>
                <a:lnTo>
                  <a:pt x="135103" y="113338"/>
                </a:lnTo>
                <a:lnTo>
                  <a:pt x="158496" y="93712"/>
                </a:lnTo>
                <a:lnTo>
                  <a:pt x="182130" y="74377"/>
                </a:lnTo>
                <a:lnTo>
                  <a:pt x="206001" y="55335"/>
                </a:lnTo>
                <a:lnTo>
                  <a:pt x="230106" y="36590"/>
                </a:lnTo>
                <a:lnTo>
                  <a:pt x="254441" y="18144"/>
                </a:lnTo>
                <a:lnTo>
                  <a:pt x="279001" y="0"/>
                </a:lnTo>
                <a:lnTo>
                  <a:pt x="293032" y="19240"/>
                </a:lnTo>
                <a:lnTo>
                  <a:pt x="268708" y="37209"/>
                </a:lnTo>
                <a:lnTo>
                  <a:pt x="244608" y="55477"/>
                </a:lnTo>
                <a:lnTo>
                  <a:pt x="220735" y="74042"/>
                </a:lnTo>
                <a:lnTo>
                  <a:pt x="197094" y="92900"/>
                </a:lnTo>
                <a:lnTo>
                  <a:pt x="173688" y="112049"/>
                </a:lnTo>
                <a:lnTo>
                  <a:pt x="150521" y="131486"/>
                </a:lnTo>
                <a:lnTo>
                  <a:pt x="127595" y="151208"/>
                </a:lnTo>
                <a:lnTo>
                  <a:pt x="104915" y="171212"/>
                </a:lnTo>
                <a:lnTo>
                  <a:pt x="82484" y="191494"/>
                </a:lnTo>
                <a:lnTo>
                  <a:pt x="60306" y="212053"/>
                </a:lnTo>
                <a:lnTo>
                  <a:pt x="38383" y="232884"/>
                </a:lnTo>
                <a:lnTo>
                  <a:pt x="16720" y="253984"/>
                </a:lnTo>
                <a:close/>
              </a:path>
            </a:pathLst>
          </a:custGeom>
          <a:solidFill xmlns:a="http://schemas.openxmlformats.org/drawingml/2006/main">
            <a:srgbClr val="BF8730"/>
          </a:solidFill>
          <a:ln xmlns:a="http://schemas.openxmlformats.org/drawingml/2006/main" w="0">
            <a:noFill/>
          </a:ln>
        </p:spPr>
      </p:sp>
      <p:sp>
        <p:nvSpPr>
          <p:cNvPr id="247" name="HeavyBallSecondRiddle-inbar-tick-5000">
            <a:extLst xmlns:a="http://schemas.openxmlformats.org/drawingml/2006/main">
              <a:ext uri="{FF2B5EF4-FFF2-40B4-BE49-F238E27FC236}">
                <a16:creationId xmlns:a16="http://schemas.microsoft.com/office/drawing/2014/main" id="{C17EF5B9-A2F2-4686-A042-8E9137C8CE35}"/>
              </a:ext>
            </a:extLst>
          </p:cNvPr>
          <p:cNvSpPr>
            <a:spLocks xmlns:a="http://schemas.openxmlformats.org/drawingml/2006/main" noGrp="1"/>
          </p:cNvSpPr>
          <p:nvPr/>
        </p:nvSpPr>
        <p:spPr>
          <a:xfrm xmlns:a="http://schemas.openxmlformats.org/drawingml/2006/main">
            <a:off x="3737474" y="3524844"/>
            <a:ext cx="386716" cy="331158"/>
          </a:xfrm>
          <a:custGeom xmlns:a="http://schemas.openxmlformats.org/drawingml/2006/main">
            <a:pathLst>
              <a:path w="386716" h="331158">
                <a:moveTo>
                  <a:pt x="0" y="322342"/>
                </a:moveTo>
                <a:lnTo>
                  <a:pt x="29747" y="293367"/>
                </a:lnTo>
                <a:lnTo>
                  <a:pt x="59851" y="264763"/>
                </a:lnTo>
                <a:lnTo>
                  <a:pt x="90305" y="236533"/>
                </a:lnTo>
                <a:lnTo>
                  <a:pt x="121106" y="208681"/>
                </a:lnTo>
                <a:lnTo>
                  <a:pt x="152250" y="181213"/>
                </a:lnTo>
                <a:lnTo>
                  <a:pt x="183730" y="154132"/>
                </a:lnTo>
                <a:lnTo>
                  <a:pt x="215543" y="127441"/>
                </a:lnTo>
                <a:lnTo>
                  <a:pt x="247683" y="101147"/>
                </a:lnTo>
                <a:lnTo>
                  <a:pt x="280146" y="75251"/>
                </a:lnTo>
                <a:lnTo>
                  <a:pt x="312927" y="49759"/>
                </a:lnTo>
                <a:lnTo>
                  <a:pt x="346020" y="24674"/>
                </a:lnTo>
                <a:lnTo>
                  <a:pt x="379421" y="0"/>
                </a:lnTo>
                <a:lnTo>
                  <a:pt x="386716" y="10005"/>
                </a:lnTo>
                <a:lnTo>
                  <a:pt x="353439" y="34588"/>
                </a:lnTo>
                <a:lnTo>
                  <a:pt x="320467" y="59580"/>
                </a:lnTo>
                <a:lnTo>
                  <a:pt x="287808" y="84979"/>
                </a:lnTo>
                <a:lnTo>
                  <a:pt x="255464" y="110779"/>
                </a:lnTo>
                <a:lnTo>
                  <a:pt x="223443" y="136977"/>
                </a:lnTo>
                <a:lnTo>
                  <a:pt x="191747" y="163568"/>
                </a:lnTo>
                <a:lnTo>
                  <a:pt x="160383" y="190550"/>
                </a:lnTo>
                <a:lnTo>
                  <a:pt x="129354" y="217917"/>
                </a:lnTo>
                <a:lnTo>
                  <a:pt x="98667" y="245666"/>
                </a:lnTo>
                <a:lnTo>
                  <a:pt x="68324" y="273792"/>
                </a:lnTo>
                <a:lnTo>
                  <a:pt x="38332" y="302291"/>
                </a:lnTo>
                <a:lnTo>
                  <a:pt x="8694" y="331158"/>
                </a:lnTo>
                <a:close/>
              </a:path>
            </a:pathLst>
          </a:custGeom>
          <a:solidFill xmlns:a="http://schemas.openxmlformats.org/drawingml/2006/main">
            <a:srgbClr val="E9D6B8"/>
          </a:solidFill>
          <a:ln xmlns:a="http://schemas.openxmlformats.org/drawingml/2006/main" w="0">
            <a:noFill/>
          </a:ln>
        </p:spPr>
      </p:sp>
      <p:sp>
        <p:nvSpPr>
          <p:cNvPr id="248" name="HeavyBallSecondRiddle-baseline-gap">
            <a:extLst xmlns:a="http://schemas.openxmlformats.org/drawingml/2006/main">
              <a:ext uri="{FF2B5EF4-FFF2-40B4-BE49-F238E27FC236}">
                <a16:creationId xmlns:a16="http://schemas.microsoft.com/office/drawing/2014/main" id="{FF258216-E9F6-4FC6-AE85-74E48AC5E7A7}"/>
              </a:ext>
            </a:extLst>
          </p:cNvPr>
          <p:cNvSpPr>
            <a:spLocks xmlns:a="http://schemas.openxmlformats.org/drawingml/2006/main" noGrp="1"/>
          </p:cNvSpPr>
          <p:nvPr/>
        </p:nvSpPr>
        <p:spPr>
          <a:xfrm xmlns:a="http://schemas.openxmlformats.org/drawingml/2006/main">
            <a:off x="4195263" y="4053804"/>
            <a:ext cx="354754" cy="314274"/>
          </a:xfrm>
          <a:custGeom xmlns:a="http://schemas.openxmlformats.org/drawingml/2006/main">
            <a:pathLst>
              <a:path w="354754" h="314274">
                <a:moveTo>
                  <a:pt x="0" y="271018"/>
                </a:moveTo>
                <a:lnTo>
                  <a:pt x="24935" y="246575"/>
                </a:lnTo>
                <a:lnTo>
                  <a:pt x="50184" y="222457"/>
                </a:lnTo>
                <a:lnTo>
                  <a:pt x="75744" y="198667"/>
                </a:lnTo>
                <a:lnTo>
                  <a:pt x="101609" y="175211"/>
                </a:lnTo>
                <a:lnTo>
                  <a:pt x="127776" y="152091"/>
                </a:lnTo>
                <a:lnTo>
                  <a:pt x="154240" y="129312"/>
                </a:lnTo>
                <a:lnTo>
                  <a:pt x="180996" y="106877"/>
                </a:lnTo>
                <a:lnTo>
                  <a:pt x="208041" y="84791"/>
                </a:lnTo>
                <a:lnTo>
                  <a:pt x="235369" y="63056"/>
                </a:lnTo>
                <a:lnTo>
                  <a:pt x="262976" y="41677"/>
                </a:lnTo>
                <a:lnTo>
                  <a:pt x="290858" y="20657"/>
                </a:lnTo>
                <a:lnTo>
                  <a:pt x="319009" y="0"/>
                </a:lnTo>
                <a:lnTo>
                  <a:pt x="354754" y="49380"/>
                </a:lnTo>
                <a:lnTo>
                  <a:pt x="327239" y="69571"/>
                </a:lnTo>
                <a:lnTo>
                  <a:pt x="299987" y="90115"/>
                </a:lnTo>
                <a:lnTo>
                  <a:pt x="273004" y="111011"/>
                </a:lnTo>
                <a:lnTo>
                  <a:pt x="246294" y="132255"/>
                </a:lnTo>
                <a:lnTo>
                  <a:pt x="219860" y="153842"/>
                </a:lnTo>
                <a:lnTo>
                  <a:pt x="193708" y="175770"/>
                </a:lnTo>
                <a:lnTo>
                  <a:pt x="167843" y="198034"/>
                </a:lnTo>
                <a:lnTo>
                  <a:pt x="142267" y="220631"/>
                </a:lnTo>
                <a:lnTo>
                  <a:pt x="116987" y="243558"/>
                </a:lnTo>
                <a:lnTo>
                  <a:pt x="92005" y="266810"/>
                </a:lnTo>
                <a:lnTo>
                  <a:pt x="67326" y="290383"/>
                </a:lnTo>
                <a:lnTo>
                  <a:pt x="42955" y="314274"/>
                </a:lnTo>
                <a:close/>
              </a:path>
            </a:pathLst>
          </a:custGeom>
          <a:solidFill xmlns:a="http://schemas.openxmlformats.org/drawingml/2006/main">
            <a:srgbClr val="FFFFFF"/>
          </a:solidFill>
          <a:ln xmlns:a="http://schemas.openxmlformats.org/drawingml/2006/main" w="0">
            <a:noFill/>
          </a:ln>
        </p:spPr>
      </p:sp>
      <p:sp>
        <p:nvSpPr>
          <p:cNvPr id="249" name="HeavyBallSecondRiddle-label">
            <a:extLst xmlns:a="http://schemas.openxmlformats.org/drawingml/2006/main">
              <a:ext uri="{FF2B5EF4-FFF2-40B4-BE49-F238E27FC236}">
                <a16:creationId xmlns:a16="http://schemas.microsoft.com/office/drawing/2014/main" id="{C2E9B67C-D482-48E2-921C-8ADFB05755CA}"/>
              </a:ext>
            </a:extLst>
          </p:cNvPr>
          <p:cNvSpPr>
            <a:spLocks xmlns:a="http://schemas.openxmlformats.org/drawingml/2006/main" noGrp="1"/>
          </p:cNvSpPr>
          <p:nvPr/>
        </p:nvSpPr>
        <p:spPr>
          <a:xfrm xmlns:a="http://schemas.openxmlformats.org/drawingml/2006/main" rot="24579000">
            <a:off x="2242272" y="2405368"/>
            <a:ext cx="1549896"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9C6C1D"/>
                </a:solidFill>
                <a:latin typeface="Arial"/>
                <a:ea typeface="Arial"/>
                <a:cs typeface="Arial"/>
              </a:defRPr>
            </a:pPr>
            <a:r>
              <a:rPr sz="2400" b="0">
                <a:solidFill>
                  <a:srgbClr val="9C6C1D"/>
                </a:solidFill>
                <a:latin typeface="Arial"/>
                <a:ea typeface="Arial"/>
                <a:cs typeface="Arial"/>
              </a:rPr>
              <a:t>Heavy-Ball</a:t>
            </a:r>
          </a:p>
        </p:txBody>
      </p:sp>
      <p:sp>
        <p:nvSpPr>
          <p:cNvPr id="250" name="TimeVaryingPushPull-algorithm-68983">
            <a:extLst xmlns:a="http://schemas.openxmlformats.org/drawingml/2006/main">
              <a:ext uri="{FF2B5EF4-FFF2-40B4-BE49-F238E27FC236}">
                <a16:creationId xmlns:a16="http://schemas.microsoft.com/office/drawing/2014/main" id="{06ABC621-3F11-46AF-A4F4-05F62C8B935D}"/>
              </a:ext>
            </a:extLst>
          </p:cNvPr>
          <p:cNvSpPr>
            <a:spLocks xmlns:a="http://schemas.openxmlformats.org/drawingml/2006/main" noGrp="1"/>
          </p:cNvSpPr>
          <p:nvPr/>
        </p:nvSpPr>
        <p:spPr>
          <a:xfrm xmlns:a="http://schemas.openxmlformats.org/drawingml/2006/main">
            <a:off x="3233219" y="1505433"/>
            <a:ext cx="1744102" cy="2504344"/>
          </a:xfrm>
          <a:custGeom xmlns:a="http://schemas.openxmlformats.org/drawingml/2006/main">
            <a:pathLst>
              <a:path w="1744102" h="2504344">
                <a:moveTo>
                  <a:pt x="0" y="375275"/>
                </a:moveTo>
                <a:lnTo>
                  <a:pt x="54096" y="340217"/>
                </a:lnTo>
                <a:lnTo>
                  <a:pt x="108622" y="305831"/>
                </a:lnTo>
                <a:lnTo>
                  <a:pt x="163568" y="272121"/>
                </a:lnTo>
                <a:lnTo>
                  <a:pt x="218927" y="239093"/>
                </a:lnTo>
                <a:lnTo>
                  <a:pt x="274691" y="206752"/>
                </a:lnTo>
                <a:lnTo>
                  <a:pt x="330849" y="175103"/>
                </a:lnTo>
                <a:lnTo>
                  <a:pt x="387395" y="144151"/>
                </a:lnTo>
                <a:lnTo>
                  <a:pt x="444319" y="113899"/>
                </a:lnTo>
                <a:lnTo>
                  <a:pt x="501613" y="84354"/>
                </a:lnTo>
                <a:lnTo>
                  <a:pt x="559267" y="55520"/>
                </a:lnTo>
                <a:lnTo>
                  <a:pt x="617274" y="27400"/>
                </a:lnTo>
                <a:lnTo>
                  <a:pt x="675623" y="0"/>
                </a:lnTo>
                <a:lnTo>
                  <a:pt x="1744102" y="2312400"/>
                </a:lnTo>
                <a:lnTo>
                  <a:pt x="1714258" y="2326414"/>
                </a:lnTo>
                <a:lnTo>
                  <a:pt x="1684589" y="2340797"/>
                </a:lnTo>
                <a:lnTo>
                  <a:pt x="1655100" y="2355545"/>
                </a:lnTo>
                <a:lnTo>
                  <a:pt x="1625795" y="2370657"/>
                </a:lnTo>
                <a:lnTo>
                  <a:pt x="1596680" y="2386129"/>
                </a:lnTo>
                <a:lnTo>
                  <a:pt x="1567758" y="2401961"/>
                </a:lnTo>
                <a:lnTo>
                  <a:pt x="1539035" y="2418149"/>
                </a:lnTo>
                <a:lnTo>
                  <a:pt x="1510513" y="2434690"/>
                </a:lnTo>
                <a:lnTo>
                  <a:pt x="1482198" y="2451583"/>
                </a:lnTo>
                <a:lnTo>
                  <a:pt x="1454094" y="2468825"/>
                </a:lnTo>
                <a:lnTo>
                  <a:pt x="1426206" y="2486413"/>
                </a:lnTo>
                <a:lnTo>
                  <a:pt x="1398537" y="2504344"/>
                </a:lnTo>
                <a:close/>
              </a:path>
            </a:pathLst>
          </a:custGeom>
          <a:gradFill xmlns:a="http://schemas.openxmlformats.org/drawingml/2006/main">
            <a:gsLst>
              <a:gs pos="0">
                <a:srgbClr val="AD462B"/>
              </a:gs>
              <a:gs pos="50000">
                <a:srgbClr val="C34B2A"/>
              </a:gs>
              <a:gs pos="100000">
                <a:srgbClr val="CB6246"/>
              </a:gs>
            </a:gsLst>
            <a:lin ang="14456999"/>
          </a:gradFill>
          <a:ln xmlns:a="http://schemas.openxmlformats.org/drawingml/2006/main" w="0">
            <a:noFill/>
          </a:ln>
        </p:spPr>
      </p:sp>
      <p:sp>
        <p:nvSpPr>
          <p:cNvPr id="251" name="TimeVaryingPushPull-algorithm-end">
            <a:extLst xmlns:a="http://schemas.openxmlformats.org/drawingml/2006/main">
              <a:ext uri="{FF2B5EF4-FFF2-40B4-BE49-F238E27FC236}">
                <a16:creationId xmlns:a16="http://schemas.microsoft.com/office/drawing/2014/main" id="{39885573-1B79-4636-82AC-6BC2879961DB}"/>
              </a:ext>
            </a:extLst>
          </p:cNvPr>
          <p:cNvSpPr>
            <a:spLocks xmlns:a="http://schemas.openxmlformats.org/drawingml/2006/main" noGrp="1"/>
          </p:cNvSpPr>
          <p:nvPr/>
        </p:nvSpPr>
        <p:spPr>
          <a:xfrm xmlns:a="http://schemas.openxmlformats.org/drawingml/2006/main">
            <a:off x="3233219" y="1505433"/>
            <a:ext cx="686011" cy="395974"/>
          </a:xfrm>
          <a:custGeom xmlns:a="http://schemas.openxmlformats.org/drawingml/2006/main">
            <a:pathLst>
              <a:path w="686011" h="395974">
                <a:moveTo>
                  <a:pt x="0" y="375275"/>
                </a:moveTo>
                <a:lnTo>
                  <a:pt x="54096" y="340217"/>
                </a:lnTo>
                <a:lnTo>
                  <a:pt x="108622" y="305831"/>
                </a:lnTo>
                <a:lnTo>
                  <a:pt x="163568" y="272121"/>
                </a:lnTo>
                <a:lnTo>
                  <a:pt x="218927" y="239093"/>
                </a:lnTo>
                <a:lnTo>
                  <a:pt x="274691" y="206752"/>
                </a:lnTo>
                <a:lnTo>
                  <a:pt x="330849" y="175103"/>
                </a:lnTo>
                <a:lnTo>
                  <a:pt x="387395" y="144151"/>
                </a:lnTo>
                <a:lnTo>
                  <a:pt x="444319" y="113899"/>
                </a:lnTo>
                <a:lnTo>
                  <a:pt x="501613" y="84354"/>
                </a:lnTo>
                <a:lnTo>
                  <a:pt x="559267" y="55520"/>
                </a:lnTo>
                <a:lnTo>
                  <a:pt x="617274" y="27400"/>
                </a:lnTo>
                <a:lnTo>
                  <a:pt x="675623" y="0"/>
                </a:lnTo>
                <a:lnTo>
                  <a:pt x="686011" y="22481"/>
                </a:lnTo>
                <a:lnTo>
                  <a:pt x="627938" y="49751"/>
                </a:lnTo>
                <a:lnTo>
                  <a:pt x="570207" y="77737"/>
                </a:lnTo>
                <a:lnTo>
                  <a:pt x="512827" y="106435"/>
                </a:lnTo>
                <a:lnTo>
                  <a:pt x="455805" y="135840"/>
                </a:lnTo>
                <a:lnTo>
                  <a:pt x="399152" y="165947"/>
                </a:lnTo>
                <a:lnTo>
                  <a:pt x="342875" y="196752"/>
                </a:lnTo>
                <a:lnTo>
                  <a:pt x="286983" y="228251"/>
                </a:lnTo>
                <a:lnTo>
                  <a:pt x="231484" y="260439"/>
                </a:lnTo>
                <a:lnTo>
                  <a:pt x="176388" y="293310"/>
                </a:lnTo>
                <a:lnTo>
                  <a:pt x="121703" y="326859"/>
                </a:lnTo>
                <a:lnTo>
                  <a:pt x="67436" y="361083"/>
                </a:lnTo>
                <a:lnTo>
                  <a:pt x="13597" y="395974"/>
                </a:lnTo>
                <a:close/>
              </a:path>
            </a:pathLst>
          </a:custGeom>
          <a:solidFill xmlns:a="http://schemas.openxmlformats.org/drawingml/2006/main">
            <a:srgbClr val="AB462B"/>
          </a:solidFill>
          <a:ln xmlns:a="http://schemas.openxmlformats.org/drawingml/2006/main" w="0">
            <a:noFill/>
          </a:ln>
        </p:spPr>
      </p:sp>
      <p:sp>
        <p:nvSpPr>
          <p:cNvPr id="252" name="TimeVaryingPushPull-reuse-1292">
            <a:extLst xmlns:a="http://schemas.openxmlformats.org/drawingml/2006/main">
              <a:ext uri="{FF2B5EF4-FFF2-40B4-BE49-F238E27FC236}">
                <a16:creationId xmlns:a16="http://schemas.microsoft.com/office/drawing/2014/main" id="{80E2A598-2A7A-4C33-8EC4-D09FF80899F1}"/>
              </a:ext>
            </a:extLst>
          </p:cNvPr>
          <p:cNvSpPr>
            <a:spLocks xmlns:a="http://schemas.openxmlformats.org/drawingml/2006/main" noGrp="1"/>
          </p:cNvSpPr>
          <p:nvPr/>
        </p:nvSpPr>
        <p:spPr>
          <a:xfrm xmlns:a="http://schemas.openxmlformats.org/drawingml/2006/main">
            <a:off x="4631756" y="3817832"/>
            <a:ext cx="513726" cy="527024"/>
          </a:xfrm>
          <a:custGeom xmlns:a="http://schemas.openxmlformats.org/drawingml/2006/main">
            <a:pathLst>
              <a:path w="513726" h="527024">
                <a:moveTo>
                  <a:pt x="0" y="191944"/>
                </a:moveTo>
                <a:lnTo>
                  <a:pt x="27669" y="174013"/>
                </a:lnTo>
                <a:lnTo>
                  <a:pt x="55558" y="156425"/>
                </a:lnTo>
                <a:lnTo>
                  <a:pt x="83661" y="139183"/>
                </a:lnTo>
                <a:lnTo>
                  <a:pt x="111976" y="122290"/>
                </a:lnTo>
                <a:lnTo>
                  <a:pt x="140498" y="105749"/>
                </a:lnTo>
                <a:lnTo>
                  <a:pt x="169222" y="89561"/>
                </a:lnTo>
                <a:lnTo>
                  <a:pt x="198143" y="73730"/>
                </a:lnTo>
                <a:lnTo>
                  <a:pt x="227259" y="58257"/>
                </a:lnTo>
                <a:lnTo>
                  <a:pt x="256563" y="43145"/>
                </a:lnTo>
                <a:lnTo>
                  <a:pt x="286052" y="28397"/>
                </a:lnTo>
                <a:lnTo>
                  <a:pt x="315721" y="14015"/>
                </a:lnTo>
                <a:lnTo>
                  <a:pt x="345565" y="0"/>
                </a:lnTo>
                <a:lnTo>
                  <a:pt x="513726" y="363933"/>
                </a:lnTo>
                <a:lnTo>
                  <a:pt x="488367" y="375841"/>
                </a:lnTo>
                <a:lnTo>
                  <a:pt x="463158" y="388061"/>
                </a:lnTo>
                <a:lnTo>
                  <a:pt x="438102" y="400592"/>
                </a:lnTo>
                <a:lnTo>
                  <a:pt x="413203" y="413432"/>
                </a:lnTo>
                <a:lnTo>
                  <a:pt x="388464" y="426579"/>
                </a:lnTo>
                <a:lnTo>
                  <a:pt x="363890" y="440031"/>
                </a:lnTo>
                <a:lnTo>
                  <a:pt x="339484" y="453785"/>
                </a:lnTo>
                <a:lnTo>
                  <a:pt x="315250" y="467840"/>
                </a:lnTo>
                <a:lnTo>
                  <a:pt x="291191" y="482194"/>
                </a:lnTo>
                <a:lnTo>
                  <a:pt x="267312" y="496844"/>
                </a:lnTo>
                <a:lnTo>
                  <a:pt x="243616" y="511788"/>
                </a:lnTo>
                <a:lnTo>
                  <a:pt x="220106" y="527024"/>
                </a:lnTo>
                <a:close/>
              </a:path>
            </a:pathLst>
          </a:custGeom>
          <a:gradFill xmlns:a="http://schemas.openxmlformats.org/drawingml/2006/main">
            <a:gsLst>
              <a:gs pos="0">
                <a:srgbClr val="E0A190"/>
              </a:gs>
              <a:gs pos="100000">
                <a:srgbClr val="CF6F55"/>
              </a:gs>
            </a:gsLst>
            <a:lin ang="14456999"/>
          </a:gradFill>
          <a:ln xmlns:a="http://schemas.openxmlformats.org/drawingml/2006/main" w="0">
            <a:noFill/>
          </a:ln>
        </p:spPr>
      </p:sp>
      <p:sp>
        <p:nvSpPr>
          <p:cNvPr id="253" name="TimeVaryingPushPull-reuse-end">
            <a:extLst xmlns:a="http://schemas.openxmlformats.org/drawingml/2006/main">
              <a:ext uri="{FF2B5EF4-FFF2-40B4-BE49-F238E27FC236}">
                <a16:creationId xmlns:a16="http://schemas.microsoft.com/office/drawing/2014/main" id="{4F04813D-04B1-4C1E-ABFF-2EA4D0F1361A}"/>
              </a:ext>
            </a:extLst>
          </p:cNvPr>
          <p:cNvSpPr>
            <a:spLocks xmlns:a="http://schemas.openxmlformats.org/drawingml/2006/main" noGrp="1"/>
          </p:cNvSpPr>
          <p:nvPr/>
        </p:nvSpPr>
        <p:spPr>
          <a:xfrm xmlns:a="http://schemas.openxmlformats.org/drawingml/2006/main">
            <a:off x="4838789" y="4160149"/>
            <a:ext cx="306693" cy="184708"/>
          </a:xfrm>
          <a:custGeom xmlns:a="http://schemas.openxmlformats.org/drawingml/2006/main">
            <a:pathLst>
              <a:path w="306693" h="184708">
                <a:moveTo>
                  <a:pt x="0" y="164805"/>
                </a:moveTo>
                <a:lnTo>
                  <a:pt x="23757" y="149409"/>
                </a:lnTo>
                <a:lnTo>
                  <a:pt x="47702" y="134308"/>
                </a:lnTo>
                <a:lnTo>
                  <a:pt x="71832" y="119504"/>
                </a:lnTo>
                <a:lnTo>
                  <a:pt x="96144" y="105000"/>
                </a:lnTo>
                <a:lnTo>
                  <a:pt x="120632" y="90797"/>
                </a:lnTo>
                <a:lnTo>
                  <a:pt x="145295" y="76898"/>
                </a:lnTo>
                <a:lnTo>
                  <a:pt x="170127" y="63305"/>
                </a:lnTo>
                <a:lnTo>
                  <a:pt x="195126" y="50020"/>
                </a:lnTo>
                <a:lnTo>
                  <a:pt x="220287" y="37045"/>
                </a:lnTo>
                <a:lnTo>
                  <a:pt x="245606" y="24382"/>
                </a:lnTo>
                <a:lnTo>
                  <a:pt x="271080" y="12033"/>
                </a:lnTo>
                <a:lnTo>
                  <a:pt x="296705" y="0"/>
                </a:lnTo>
                <a:lnTo>
                  <a:pt x="306693" y="21616"/>
                </a:lnTo>
                <a:lnTo>
                  <a:pt x="281335" y="33524"/>
                </a:lnTo>
                <a:lnTo>
                  <a:pt x="256126" y="45745"/>
                </a:lnTo>
                <a:lnTo>
                  <a:pt x="231070" y="58276"/>
                </a:lnTo>
                <a:lnTo>
                  <a:pt x="206170" y="71116"/>
                </a:lnTo>
                <a:lnTo>
                  <a:pt x="181432" y="84263"/>
                </a:lnTo>
                <a:lnTo>
                  <a:pt x="156858" y="97715"/>
                </a:lnTo>
                <a:lnTo>
                  <a:pt x="132452" y="111469"/>
                </a:lnTo>
                <a:lnTo>
                  <a:pt x="108217" y="125524"/>
                </a:lnTo>
                <a:lnTo>
                  <a:pt x="84159" y="139878"/>
                </a:lnTo>
                <a:lnTo>
                  <a:pt x="60280" y="154528"/>
                </a:lnTo>
                <a:lnTo>
                  <a:pt x="36583" y="169472"/>
                </a:lnTo>
                <a:lnTo>
                  <a:pt x="13074" y="184708"/>
                </a:lnTo>
                <a:close/>
              </a:path>
            </a:pathLst>
          </a:custGeom>
          <a:solidFill xmlns:a="http://schemas.openxmlformats.org/drawingml/2006/main">
            <a:srgbClr val="C95D3F"/>
          </a:solidFill>
          <a:ln xmlns:a="http://schemas.openxmlformats.org/drawingml/2006/main" w="0">
            <a:noFill/>
          </a:ln>
        </p:spPr>
      </p:sp>
      <p:sp>
        <p:nvSpPr>
          <p:cNvPr id="254" name="TimeVaryingPushPull-inbar-tick-5000">
            <a:extLst xmlns:a="http://schemas.openxmlformats.org/drawingml/2006/main">
              <a:ext uri="{FF2B5EF4-FFF2-40B4-BE49-F238E27FC236}">
                <a16:creationId xmlns:a16="http://schemas.microsoft.com/office/drawing/2014/main" id="{842ACE35-81BA-41E4-B17B-1E8137A8B234}"/>
              </a:ext>
            </a:extLst>
          </p:cNvPr>
          <p:cNvSpPr>
            <a:spLocks xmlns:a="http://schemas.openxmlformats.org/drawingml/2006/main" noGrp="1"/>
          </p:cNvSpPr>
          <p:nvPr/>
        </p:nvSpPr>
        <p:spPr>
          <a:xfrm xmlns:a="http://schemas.openxmlformats.org/drawingml/2006/main">
            <a:off x="4251837" y="3189658"/>
            <a:ext cx="440421" cy="252096"/>
          </a:xfrm>
          <a:custGeom xmlns:a="http://schemas.openxmlformats.org/drawingml/2006/main">
            <a:pathLst>
              <a:path w="440421" h="252096">
                <a:moveTo>
                  <a:pt x="0" y="241747"/>
                </a:moveTo>
                <a:lnTo>
                  <a:pt x="34848" y="219163"/>
                </a:lnTo>
                <a:lnTo>
                  <a:pt x="69973" y="197012"/>
                </a:lnTo>
                <a:lnTo>
                  <a:pt x="105368" y="175297"/>
                </a:lnTo>
                <a:lnTo>
                  <a:pt x="141030" y="154020"/>
                </a:lnTo>
                <a:lnTo>
                  <a:pt x="176952" y="133187"/>
                </a:lnTo>
                <a:lnTo>
                  <a:pt x="213128" y="112799"/>
                </a:lnTo>
                <a:lnTo>
                  <a:pt x="249554" y="92860"/>
                </a:lnTo>
                <a:lnTo>
                  <a:pt x="286224" y="73372"/>
                </a:lnTo>
                <a:lnTo>
                  <a:pt x="323132" y="54340"/>
                </a:lnTo>
                <a:lnTo>
                  <a:pt x="360272" y="35765"/>
                </a:lnTo>
                <a:lnTo>
                  <a:pt x="397639" y="17651"/>
                </a:lnTo>
                <a:lnTo>
                  <a:pt x="435227" y="0"/>
                </a:lnTo>
                <a:lnTo>
                  <a:pt x="440421" y="11241"/>
                </a:lnTo>
                <a:lnTo>
                  <a:pt x="402971" y="28826"/>
                </a:lnTo>
                <a:lnTo>
                  <a:pt x="365742" y="46874"/>
                </a:lnTo>
                <a:lnTo>
                  <a:pt x="328739" y="65380"/>
                </a:lnTo>
                <a:lnTo>
                  <a:pt x="291967" y="84342"/>
                </a:lnTo>
                <a:lnTo>
                  <a:pt x="255433" y="103758"/>
                </a:lnTo>
                <a:lnTo>
                  <a:pt x="219141" y="123624"/>
                </a:lnTo>
                <a:lnTo>
                  <a:pt x="183098" y="143936"/>
                </a:lnTo>
                <a:lnTo>
                  <a:pt x="147308" y="164693"/>
                </a:lnTo>
                <a:lnTo>
                  <a:pt x="111778" y="185891"/>
                </a:lnTo>
                <a:lnTo>
                  <a:pt x="76513" y="207526"/>
                </a:lnTo>
                <a:lnTo>
                  <a:pt x="41518" y="229596"/>
                </a:lnTo>
                <a:lnTo>
                  <a:pt x="6798" y="252096"/>
                </a:lnTo>
                <a:close/>
              </a:path>
            </a:pathLst>
          </a:custGeom>
          <a:solidFill xmlns:a="http://schemas.openxmlformats.org/drawingml/2006/main">
            <a:srgbClr val="ECC7BD"/>
          </a:solidFill>
          <a:ln xmlns:a="http://schemas.openxmlformats.org/drawingml/2006/main" w="0">
            <a:noFill/>
          </a:ln>
        </p:spPr>
      </p:sp>
      <p:sp>
        <p:nvSpPr>
          <p:cNvPr id="255" name="TimeVaryingPushPull-inbar-tick-20000">
            <a:extLst xmlns:a="http://schemas.openxmlformats.org/drawingml/2006/main">
              <a:ext uri="{FF2B5EF4-FFF2-40B4-BE49-F238E27FC236}">
                <a16:creationId xmlns:a16="http://schemas.microsoft.com/office/drawing/2014/main" id="{C2396A78-BB42-43CA-92C5-94CF38D10684}"/>
              </a:ext>
            </a:extLst>
          </p:cNvPr>
          <p:cNvSpPr>
            <a:spLocks xmlns:a="http://schemas.openxmlformats.org/drawingml/2006/main" noGrp="1"/>
          </p:cNvSpPr>
          <p:nvPr/>
        </p:nvSpPr>
        <p:spPr>
          <a:xfrm xmlns:a="http://schemas.openxmlformats.org/drawingml/2006/main">
            <a:off x="3875317" y="2567105"/>
            <a:ext cx="529280" cy="301453"/>
          </a:xfrm>
          <a:custGeom xmlns:a="http://schemas.openxmlformats.org/drawingml/2006/main">
            <a:pathLst>
              <a:path w="529280" h="301453">
                <a:moveTo>
                  <a:pt x="0" y="291104"/>
                </a:moveTo>
                <a:lnTo>
                  <a:pt x="41963" y="263909"/>
                </a:lnTo>
                <a:lnTo>
                  <a:pt x="84259" y="237236"/>
                </a:lnTo>
                <a:lnTo>
                  <a:pt x="126881" y="211087"/>
                </a:lnTo>
                <a:lnTo>
                  <a:pt x="169824" y="185467"/>
                </a:lnTo>
                <a:lnTo>
                  <a:pt x="213080" y="160379"/>
                </a:lnTo>
                <a:lnTo>
                  <a:pt x="256643" y="135829"/>
                </a:lnTo>
                <a:lnTo>
                  <a:pt x="300505" y="111819"/>
                </a:lnTo>
                <a:lnTo>
                  <a:pt x="344662" y="88353"/>
                </a:lnTo>
                <a:lnTo>
                  <a:pt x="389105" y="65434"/>
                </a:lnTo>
                <a:lnTo>
                  <a:pt x="433828" y="43067"/>
                </a:lnTo>
                <a:lnTo>
                  <a:pt x="478824" y="21255"/>
                </a:lnTo>
                <a:lnTo>
                  <a:pt x="524087" y="0"/>
                </a:lnTo>
                <a:lnTo>
                  <a:pt x="529280" y="11241"/>
                </a:lnTo>
                <a:lnTo>
                  <a:pt x="484157" y="32430"/>
                </a:lnTo>
                <a:lnTo>
                  <a:pt x="439298" y="54176"/>
                </a:lnTo>
                <a:lnTo>
                  <a:pt x="394712" y="76475"/>
                </a:lnTo>
                <a:lnTo>
                  <a:pt x="350405" y="99323"/>
                </a:lnTo>
                <a:lnTo>
                  <a:pt x="306384" y="122717"/>
                </a:lnTo>
                <a:lnTo>
                  <a:pt x="262655" y="146654"/>
                </a:lnTo>
                <a:lnTo>
                  <a:pt x="219226" y="171129"/>
                </a:lnTo>
                <a:lnTo>
                  <a:pt x="176102" y="196139"/>
                </a:lnTo>
                <a:lnTo>
                  <a:pt x="133291" y="221681"/>
                </a:lnTo>
                <a:lnTo>
                  <a:pt x="90799" y="247750"/>
                </a:lnTo>
                <a:lnTo>
                  <a:pt x="48633" y="274342"/>
                </a:lnTo>
                <a:lnTo>
                  <a:pt x="6798" y="301453"/>
                </a:lnTo>
                <a:close/>
              </a:path>
            </a:pathLst>
          </a:custGeom>
          <a:solidFill xmlns:a="http://schemas.openxmlformats.org/drawingml/2006/main">
            <a:srgbClr val="ECC7BD"/>
          </a:solidFill>
          <a:ln xmlns:a="http://schemas.openxmlformats.org/drawingml/2006/main" w="0">
            <a:noFill/>
          </a:ln>
        </p:spPr>
      </p:sp>
      <p:sp>
        <p:nvSpPr>
          <p:cNvPr id="256" name="TimeVaryingPushPull-baseline-gap">
            <a:extLst xmlns:a="http://schemas.openxmlformats.org/drawingml/2006/main">
              <a:ext uri="{FF2B5EF4-FFF2-40B4-BE49-F238E27FC236}">
                <a16:creationId xmlns:a16="http://schemas.microsoft.com/office/drawing/2014/main" id="{9BA0B916-7979-44D8-BAD0-47D9F19E4729}"/>
              </a:ext>
            </a:extLst>
          </p:cNvPr>
          <p:cNvSpPr>
            <a:spLocks xmlns:a="http://schemas.openxmlformats.org/drawingml/2006/main" noGrp="1"/>
          </p:cNvSpPr>
          <p:nvPr/>
        </p:nvSpPr>
        <p:spPr>
          <a:xfrm xmlns:a="http://schemas.openxmlformats.org/drawingml/2006/main">
            <a:off x="4607161" y="3786229"/>
            <a:ext cx="391306" cy="254090"/>
          </a:xfrm>
          <a:custGeom xmlns:a="http://schemas.openxmlformats.org/drawingml/2006/main">
            <a:pathLst>
              <a:path w="391306" h="254090">
                <a:moveTo>
                  <a:pt x="0" y="203256"/>
                </a:moveTo>
                <a:lnTo>
                  <a:pt x="29241" y="184173"/>
                </a:lnTo>
                <a:lnTo>
                  <a:pt x="58727" y="165469"/>
                </a:lnTo>
                <a:lnTo>
                  <a:pt x="88452" y="147149"/>
                </a:lnTo>
                <a:lnTo>
                  <a:pt x="118412" y="129216"/>
                </a:lnTo>
                <a:lnTo>
                  <a:pt x="148602" y="111671"/>
                </a:lnTo>
                <a:lnTo>
                  <a:pt x="179016" y="94519"/>
                </a:lnTo>
                <a:lnTo>
                  <a:pt x="209650" y="77762"/>
                </a:lnTo>
                <a:lnTo>
                  <a:pt x="240498" y="61403"/>
                </a:lnTo>
                <a:lnTo>
                  <a:pt x="271555" y="45445"/>
                </a:lnTo>
                <a:lnTo>
                  <a:pt x="302817" y="29890"/>
                </a:lnTo>
                <a:lnTo>
                  <a:pt x="334276" y="14741"/>
                </a:lnTo>
                <a:lnTo>
                  <a:pt x="365930" y="0"/>
                </a:lnTo>
                <a:lnTo>
                  <a:pt x="391306" y="55427"/>
                </a:lnTo>
                <a:lnTo>
                  <a:pt x="360368" y="69835"/>
                </a:lnTo>
                <a:lnTo>
                  <a:pt x="329619" y="84641"/>
                </a:lnTo>
                <a:lnTo>
                  <a:pt x="299065" y="99845"/>
                </a:lnTo>
                <a:lnTo>
                  <a:pt x="268709" y="115443"/>
                </a:lnTo>
                <a:lnTo>
                  <a:pt x="238558" y="131432"/>
                </a:lnTo>
                <a:lnTo>
                  <a:pt x="208617" y="147810"/>
                </a:lnTo>
                <a:lnTo>
                  <a:pt x="178890" y="164575"/>
                </a:lnTo>
                <a:lnTo>
                  <a:pt x="149383" y="181723"/>
                </a:lnTo>
                <a:lnTo>
                  <a:pt x="120100" y="199251"/>
                </a:lnTo>
                <a:lnTo>
                  <a:pt x="91046" y="217157"/>
                </a:lnTo>
                <a:lnTo>
                  <a:pt x="62226" y="235438"/>
                </a:lnTo>
                <a:lnTo>
                  <a:pt x="33646" y="254090"/>
                </a:lnTo>
                <a:close/>
              </a:path>
            </a:pathLst>
          </a:custGeom>
          <a:solidFill xmlns:a="http://schemas.openxmlformats.org/drawingml/2006/main">
            <a:srgbClr val="FFFFFF"/>
          </a:solidFill>
          <a:ln xmlns:a="http://schemas.openxmlformats.org/drawingml/2006/main" w="0">
            <a:noFill/>
          </a:ln>
        </p:spPr>
      </p:sp>
      <p:sp>
        <p:nvSpPr>
          <p:cNvPr id="257" name="TimeVaryingPushPull-label">
            <a:extLst xmlns:a="http://schemas.openxmlformats.org/drawingml/2006/main">
              <a:ext uri="{FF2B5EF4-FFF2-40B4-BE49-F238E27FC236}">
                <a16:creationId xmlns:a16="http://schemas.microsoft.com/office/drawing/2014/main" id="{3E7D18A8-B224-4918-80BE-770E076EECA3}"/>
              </a:ext>
            </a:extLst>
          </p:cNvPr>
          <p:cNvSpPr>
            <a:spLocks xmlns:a="http://schemas.openxmlformats.org/drawingml/2006/main" noGrp="1"/>
          </p:cNvSpPr>
          <p:nvPr/>
        </p:nvSpPr>
        <p:spPr>
          <a:xfrm xmlns:a="http://schemas.openxmlformats.org/drawingml/2006/main" rot="25257000">
            <a:off x="2432498" y="737844"/>
            <a:ext cx="144869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A6452C"/>
                </a:solidFill>
                <a:latin typeface="Arial"/>
                <a:ea typeface="Arial"/>
                <a:cs typeface="Arial"/>
              </a:defRPr>
            </a:pPr>
            <a:r>
              <a:rPr sz="2400" b="0">
                <a:solidFill>
                  <a:srgbClr val="A6452C"/>
                </a:solidFill>
                <a:latin typeface="Arial"/>
                <a:ea typeface="Arial"/>
                <a:cs typeface="Arial"/>
              </a:rPr>
              <a:t>Push–Pull</a:t>
            </a:r>
          </a:p>
        </p:txBody>
      </p:sp>
      <p:sp>
        <p:nvSpPr>
          <p:cNvPr id="258" name="FOML-zero-baseline">
            <a:extLst xmlns:a="http://schemas.openxmlformats.org/drawingml/2006/main">
              <a:ext uri="{FF2B5EF4-FFF2-40B4-BE49-F238E27FC236}">
                <a16:creationId xmlns:a16="http://schemas.microsoft.com/office/drawing/2014/main" id="{05C3B70A-9CB2-465C-A51B-D0F553CDAD94}"/>
              </a:ext>
            </a:extLst>
          </p:cNvPr>
          <p:cNvSpPr>
            <a:spLocks xmlns:a="http://schemas.openxmlformats.org/drawingml/2006/main" noGrp="1"/>
          </p:cNvSpPr>
          <p:nvPr/>
        </p:nvSpPr>
        <p:spPr>
          <a:xfrm xmlns:a="http://schemas.openxmlformats.org/drawingml/2006/main">
            <a:off x="4448543" y="3577992"/>
            <a:ext cx="4326350" cy="5339761"/>
          </a:xfrm>
          <a:custGeom xmlns:a="http://schemas.openxmlformats.org/drawingml/2006/main">
            <a:pathLst>
              <a:path w="4326350" h="5339761">
                <a:moveTo>
                  <a:pt x="1957685" y="0"/>
                </a:moveTo>
                <a:lnTo>
                  <a:pt x="1992455" y="4284"/>
                </a:lnTo>
                <a:lnTo>
                  <a:pt x="2027166" y="9023"/>
                </a:lnTo>
                <a:lnTo>
                  <a:pt x="2061813" y="14216"/>
                </a:lnTo>
                <a:lnTo>
                  <a:pt x="2096388" y="19860"/>
                </a:lnTo>
                <a:lnTo>
                  <a:pt x="2130887" y="25957"/>
                </a:lnTo>
                <a:lnTo>
                  <a:pt x="2165303" y="32504"/>
                </a:lnTo>
                <a:lnTo>
                  <a:pt x="2199631" y="39501"/>
                </a:lnTo>
                <a:lnTo>
                  <a:pt x="2233864" y="46946"/>
                </a:lnTo>
                <a:lnTo>
                  <a:pt x="2267997" y="54838"/>
                </a:lnTo>
                <a:lnTo>
                  <a:pt x="2302024" y="63176"/>
                </a:lnTo>
                <a:lnTo>
                  <a:pt x="2335939" y="71958"/>
                </a:lnTo>
                <a:lnTo>
                  <a:pt x="2369736" y="81183"/>
                </a:lnTo>
                <a:lnTo>
                  <a:pt x="2403409" y="90849"/>
                </a:lnTo>
                <a:lnTo>
                  <a:pt x="2436954" y="100954"/>
                </a:lnTo>
                <a:lnTo>
                  <a:pt x="2470363" y="111498"/>
                </a:lnTo>
                <a:lnTo>
                  <a:pt x="2503631" y="122477"/>
                </a:lnTo>
                <a:lnTo>
                  <a:pt x="2536753" y="133891"/>
                </a:lnTo>
                <a:lnTo>
                  <a:pt x="2569723" y="145736"/>
                </a:lnTo>
                <a:lnTo>
                  <a:pt x="2602536" y="158012"/>
                </a:lnTo>
                <a:lnTo>
                  <a:pt x="2635185" y="170716"/>
                </a:lnTo>
                <a:lnTo>
                  <a:pt x="2667665" y="183845"/>
                </a:lnTo>
                <a:lnTo>
                  <a:pt x="2699970" y="197399"/>
                </a:lnTo>
                <a:lnTo>
                  <a:pt x="2732096" y="211373"/>
                </a:lnTo>
                <a:lnTo>
                  <a:pt x="2764036" y="225767"/>
                </a:lnTo>
                <a:lnTo>
                  <a:pt x="2795785" y="240577"/>
                </a:lnTo>
                <a:lnTo>
                  <a:pt x="2827337" y="255801"/>
                </a:lnTo>
                <a:lnTo>
                  <a:pt x="2858688" y="271436"/>
                </a:lnTo>
                <a:lnTo>
                  <a:pt x="2889832" y="287480"/>
                </a:lnTo>
                <a:lnTo>
                  <a:pt x="2920763" y="303930"/>
                </a:lnTo>
                <a:lnTo>
                  <a:pt x="2951477" y="320782"/>
                </a:lnTo>
                <a:lnTo>
                  <a:pt x="2981967" y="338035"/>
                </a:lnTo>
                <a:lnTo>
                  <a:pt x="3012229" y="355686"/>
                </a:lnTo>
                <a:lnTo>
                  <a:pt x="3042258" y="373730"/>
                </a:lnTo>
                <a:lnTo>
                  <a:pt x="3072049" y="392166"/>
                </a:lnTo>
                <a:lnTo>
                  <a:pt x="3101595" y="410990"/>
                </a:lnTo>
                <a:lnTo>
                  <a:pt x="3130893" y="430198"/>
                </a:lnTo>
                <a:lnTo>
                  <a:pt x="3159938" y="449788"/>
                </a:lnTo>
                <a:lnTo>
                  <a:pt x="3188723" y="469756"/>
                </a:lnTo>
                <a:lnTo>
                  <a:pt x="3217245" y="490099"/>
                </a:lnTo>
                <a:lnTo>
                  <a:pt x="3245499" y="510813"/>
                </a:lnTo>
                <a:lnTo>
                  <a:pt x="3273479" y="531895"/>
                </a:lnTo>
                <a:lnTo>
                  <a:pt x="3301181" y="553341"/>
                </a:lnTo>
                <a:lnTo>
                  <a:pt x="3328601" y="575147"/>
                </a:lnTo>
                <a:lnTo>
                  <a:pt x="3355733" y="597310"/>
                </a:lnTo>
                <a:lnTo>
                  <a:pt x="3382572" y="619826"/>
                </a:lnTo>
                <a:lnTo>
                  <a:pt x="3409115" y="642691"/>
                </a:lnTo>
                <a:lnTo>
                  <a:pt x="3435357" y="665901"/>
                </a:lnTo>
                <a:lnTo>
                  <a:pt x="3461293" y="689453"/>
                </a:lnTo>
                <a:lnTo>
                  <a:pt x="3486919" y="713341"/>
                </a:lnTo>
                <a:lnTo>
                  <a:pt x="3512230" y="737563"/>
                </a:lnTo>
                <a:lnTo>
                  <a:pt x="3537222" y="762113"/>
                </a:lnTo>
                <a:lnTo>
                  <a:pt x="3561891" y="786989"/>
                </a:lnTo>
                <a:lnTo>
                  <a:pt x="3586233" y="812184"/>
                </a:lnTo>
                <a:lnTo>
                  <a:pt x="3610243" y="837696"/>
                </a:lnTo>
                <a:lnTo>
                  <a:pt x="3633917" y="863520"/>
                </a:lnTo>
                <a:lnTo>
                  <a:pt x="3657252" y="889651"/>
                </a:lnTo>
                <a:lnTo>
                  <a:pt x="3680243" y="916085"/>
                </a:lnTo>
                <a:lnTo>
                  <a:pt x="3702886" y="942817"/>
                </a:lnTo>
                <a:lnTo>
                  <a:pt x="3725178" y="969844"/>
                </a:lnTo>
                <a:lnTo>
                  <a:pt x="3747114" y="997159"/>
                </a:lnTo>
                <a:lnTo>
                  <a:pt x="3768691" y="1024759"/>
                </a:lnTo>
                <a:lnTo>
                  <a:pt x="3789906" y="1052639"/>
                </a:lnTo>
                <a:lnTo>
                  <a:pt x="3810754" y="1080794"/>
                </a:lnTo>
                <a:lnTo>
                  <a:pt x="3831232" y="1109219"/>
                </a:lnTo>
                <a:lnTo>
                  <a:pt x="3851337" y="1137909"/>
                </a:lnTo>
                <a:lnTo>
                  <a:pt x="3871065" y="1166860"/>
                </a:lnTo>
                <a:lnTo>
                  <a:pt x="3890412" y="1196066"/>
                </a:lnTo>
                <a:lnTo>
                  <a:pt x="3909376" y="1225523"/>
                </a:lnTo>
                <a:lnTo>
                  <a:pt x="3927953" y="1255225"/>
                </a:lnTo>
                <a:lnTo>
                  <a:pt x="3946140" y="1285168"/>
                </a:lnTo>
                <a:lnTo>
                  <a:pt x="3963934" y="1315346"/>
                </a:lnTo>
                <a:lnTo>
                  <a:pt x="3981332" y="1345754"/>
                </a:lnTo>
                <a:lnTo>
                  <a:pt x="3998331" y="1376387"/>
                </a:lnTo>
                <a:lnTo>
                  <a:pt x="4014928" y="1407240"/>
                </a:lnTo>
                <a:lnTo>
                  <a:pt x="4031119" y="1438307"/>
                </a:lnTo>
                <a:lnTo>
                  <a:pt x="4046903" y="1469583"/>
                </a:lnTo>
                <a:lnTo>
                  <a:pt x="4062277" y="1501063"/>
                </a:lnTo>
                <a:lnTo>
                  <a:pt x="4077238" y="1532742"/>
                </a:lnTo>
                <a:lnTo>
                  <a:pt x="4091783" y="1564613"/>
                </a:lnTo>
                <a:lnTo>
                  <a:pt x="4105910" y="1596672"/>
                </a:lnTo>
                <a:lnTo>
                  <a:pt x="4119617" y="1628912"/>
                </a:lnTo>
                <a:lnTo>
                  <a:pt x="4132901" y="1661330"/>
                </a:lnTo>
                <a:lnTo>
                  <a:pt x="4145759" y="1693918"/>
                </a:lnTo>
                <a:lnTo>
                  <a:pt x="4158191" y="1726671"/>
                </a:lnTo>
                <a:lnTo>
                  <a:pt x="4170193" y="1759585"/>
                </a:lnTo>
                <a:lnTo>
                  <a:pt x="4181764" y="1792652"/>
                </a:lnTo>
                <a:lnTo>
                  <a:pt x="4192901" y="1825868"/>
                </a:lnTo>
                <a:lnTo>
                  <a:pt x="4203603" y="1859227"/>
                </a:lnTo>
                <a:lnTo>
                  <a:pt x="4213868" y="1892723"/>
                </a:lnTo>
                <a:lnTo>
                  <a:pt x="4223694" y="1926350"/>
                </a:lnTo>
                <a:lnTo>
                  <a:pt x="4233079" y="1960103"/>
                </a:lnTo>
                <a:lnTo>
                  <a:pt x="4242023" y="1993975"/>
                </a:lnTo>
                <a:lnTo>
                  <a:pt x="4250522" y="2027962"/>
                </a:lnTo>
                <a:lnTo>
                  <a:pt x="4258576" y="2062057"/>
                </a:lnTo>
                <a:lnTo>
                  <a:pt x="4266184" y="2096254"/>
                </a:lnTo>
                <a:lnTo>
                  <a:pt x="4273344" y="2130548"/>
                </a:lnTo>
                <a:lnTo>
                  <a:pt x="4280055" y="2164933"/>
                </a:lnTo>
                <a:lnTo>
                  <a:pt x="4286315" y="2199403"/>
                </a:lnTo>
                <a:lnTo>
                  <a:pt x="4292124" y="2233951"/>
                </a:lnTo>
                <a:lnTo>
                  <a:pt x="4297481" y="2268572"/>
                </a:lnTo>
                <a:lnTo>
                  <a:pt x="4302385" y="2303261"/>
                </a:lnTo>
                <a:lnTo>
                  <a:pt x="4306835" y="2338011"/>
                </a:lnTo>
                <a:lnTo>
                  <a:pt x="4310830" y="2372815"/>
                </a:lnTo>
                <a:lnTo>
                  <a:pt x="4314369" y="2407670"/>
                </a:lnTo>
                <a:lnTo>
                  <a:pt x="4317452" y="2442567"/>
                </a:lnTo>
                <a:lnTo>
                  <a:pt x="4320079" y="2477502"/>
                </a:lnTo>
                <a:lnTo>
                  <a:pt x="4322248" y="2512468"/>
                </a:lnTo>
                <a:lnTo>
                  <a:pt x="4323961" y="2547459"/>
                </a:lnTo>
                <a:lnTo>
                  <a:pt x="4325215" y="2582470"/>
                </a:lnTo>
                <a:lnTo>
                  <a:pt x="4326011" y="2617495"/>
                </a:lnTo>
                <a:lnTo>
                  <a:pt x="4326350" y="2652526"/>
                </a:lnTo>
                <a:lnTo>
                  <a:pt x="4326230" y="2687560"/>
                </a:lnTo>
                <a:lnTo>
                  <a:pt x="4325652" y="2722588"/>
                </a:lnTo>
                <a:lnTo>
                  <a:pt x="4324616" y="2757606"/>
                </a:lnTo>
                <a:lnTo>
                  <a:pt x="4323122" y="2792608"/>
                </a:lnTo>
                <a:lnTo>
                  <a:pt x="4321171" y="2827587"/>
                </a:lnTo>
                <a:lnTo>
                  <a:pt x="4318762" y="2862537"/>
                </a:lnTo>
                <a:lnTo>
                  <a:pt x="4315897" y="2897453"/>
                </a:lnTo>
                <a:lnTo>
                  <a:pt x="4312575" y="2932329"/>
                </a:lnTo>
                <a:lnTo>
                  <a:pt x="4308797" y="2967158"/>
                </a:lnTo>
                <a:lnTo>
                  <a:pt x="4304564" y="3001935"/>
                </a:lnTo>
                <a:lnTo>
                  <a:pt x="4299877" y="3036653"/>
                </a:lnTo>
                <a:lnTo>
                  <a:pt x="4294736" y="3071307"/>
                </a:lnTo>
                <a:lnTo>
                  <a:pt x="4289143" y="3105891"/>
                </a:lnTo>
                <a:lnTo>
                  <a:pt x="4283097" y="3140399"/>
                </a:lnTo>
                <a:lnTo>
                  <a:pt x="4276601" y="3174825"/>
                </a:lnTo>
                <a:lnTo>
                  <a:pt x="4269656" y="3209163"/>
                </a:lnTo>
                <a:lnTo>
                  <a:pt x="4262261" y="3243407"/>
                </a:lnTo>
                <a:lnTo>
                  <a:pt x="4254420" y="3277552"/>
                </a:lnTo>
                <a:lnTo>
                  <a:pt x="4246133" y="3311591"/>
                </a:lnTo>
                <a:lnTo>
                  <a:pt x="4237401" y="3345519"/>
                </a:lnTo>
                <a:lnTo>
                  <a:pt x="4228226" y="3379329"/>
                </a:lnTo>
                <a:lnTo>
                  <a:pt x="4218610" y="3413017"/>
                </a:lnTo>
                <a:lnTo>
                  <a:pt x="4208555" y="3446576"/>
                </a:lnTo>
                <a:lnTo>
                  <a:pt x="4198061" y="3480001"/>
                </a:lnTo>
                <a:lnTo>
                  <a:pt x="4187131" y="3513286"/>
                </a:lnTo>
                <a:lnTo>
                  <a:pt x="4175767" y="3546425"/>
                </a:lnTo>
                <a:lnTo>
                  <a:pt x="4163970" y="3579413"/>
                </a:lnTo>
                <a:lnTo>
                  <a:pt x="4151743" y="3612243"/>
                </a:lnTo>
                <a:lnTo>
                  <a:pt x="4139088" y="3644911"/>
                </a:lnTo>
                <a:lnTo>
                  <a:pt x="4126007" y="3677410"/>
                </a:lnTo>
                <a:lnTo>
                  <a:pt x="4112501" y="3709736"/>
                </a:lnTo>
                <a:lnTo>
                  <a:pt x="4098574" y="3741882"/>
                </a:lnTo>
                <a:lnTo>
                  <a:pt x="4084228" y="3773844"/>
                </a:lnTo>
                <a:lnTo>
                  <a:pt x="4069466" y="3805615"/>
                </a:lnTo>
                <a:lnTo>
                  <a:pt x="4054289" y="3837190"/>
                </a:lnTo>
                <a:lnTo>
                  <a:pt x="4038700" y="3868564"/>
                </a:lnTo>
                <a:lnTo>
                  <a:pt x="4022702" y="3899731"/>
                </a:lnTo>
                <a:lnTo>
                  <a:pt x="4006299" y="3930687"/>
                </a:lnTo>
                <a:lnTo>
                  <a:pt x="3989491" y="3961426"/>
                </a:lnTo>
                <a:lnTo>
                  <a:pt x="3972284" y="3991942"/>
                </a:lnTo>
                <a:lnTo>
                  <a:pt x="3954678" y="4022230"/>
                </a:lnTo>
                <a:lnTo>
                  <a:pt x="3936678" y="4052286"/>
                </a:lnTo>
                <a:lnTo>
                  <a:pt x="3918287" y="4082103"/>
                </a:lnTo>
                <a:lnTo>
                  <a:pt x="3899507" y="4111678"/>
                </a:lnTo>
                <a:lnTo>
                  <a:pt x="3880342" y="4141005"/>
                </a:lnTo>
                <a:lnTo>
                  <a:pt x="3860795" y="4170078"/>
                </a:lnTo>
                <a:lnTo>
                  <a:pt x="3840870" y="4198893"/>
                </a:lnTo>
                <a:lnTo>
                  <a:pt x="3820570" y="4227445"/>
                </a:lnTo>
                <a:lnTo>
                  <a:pt x="3799897" y="4255730"/>
                </a:lnTo>
                <a:lnTo>
                  <a:pt x="3778857" y="4283741"/>
                </a:lnTo>
                <a:lnTo>
                  <a:pt x="3757453" y="4311475"/>
                </a:lnTo>
                <a:lnTo>
                  <a:pt x="3735687" y="4338927"/>
                </a:lnTo>
                <a:lnTo>
                  <a:pt x="3713564" y="4366092"/>
                </a:lnTo>
                <a:lnTo>
                  <a:pt x="3691088" y="4392965"/>
                </a:lnTo>
                <a:lnTo>
                  <a:pt x="3668263" y="4419542"/>
                </a:lnTo>
                <a:lnTo>
                  <a:pt x="3645091" y="4445818"/>
                </a:lnTo>
                <a:lnTo>
                  <a:pt x="3621579" y="4471789"/>
                </a:lnTo>
                <a:lnTo>
                  <a:pt x="3597728" y="4497450"/>
                </a:lnTo>
                <a:lnTo>
                  <a:pt x="3573544" y="4522797"/>
                </a:lnTo>
                <a:lnTo>
                  <a:pt x="3549031" y="4547826"/>
                </a:lnTo>
                <a:lnTo>
                  <a:pt x="3524192" y="4572532"/>
                </a:lnTo>
                <a:lnTo>
                  <a:pt x="3499033" y="4596911"/>
                </a:lnTo>
                <a:lnTo>
                  <a:pt x="3473557" y="4620959"/>
                </a:lnTo>
                <a:lnTo>
                  <a:pt x="3447768" y="4644671"/>
                </a:lnTo>
                <a:lnTo>
                  <a:pt x="3421672" y="4668045"/>
                </a:lnTo>
                <a:lnTo>
                  <a:pt x="3395272" y="4691075"/>
                </a:lnTo>
                <a:lnTo>
                  <a:pt x="3368573" y="4713758"/>
                </a:lnTo>
                <a:lnTo>
                  <a:pt x="3341580" y="4736090"/>
                </a:lnTo>
                <a:lnTo>
                  <a:pt x="3314297" y="4758067"/>
                </a:lnTo>
                <a:lnTo>
                  <a:pt x="3286729" y="4779685"/>
                </a:lnTo>
                <a:lnTo>
                  <a:pt x="3258881" y="4800941"/>
                </a:lnTo>
                <a:lnTo>
                  <a:pt x="3230757" y="4821831"/>
                </a:lnTo>
                <a:lnTo>
                  <a:pt x="3202363" y="4842351"/>
                </a:lnTo>
                <a:lnTo>
                  <a:pt x="3173702" y="4862499"/>
                </a:lnTo>
                <a:lnTo>
                  <a:pt x="3144781" y="4882269"/>
                </a:lnTo>
                <a:lnTo>
                  <a:pt x="3115603" y="4901660"/>
                </a:lnTo>
                <a:lnTo>
                  <a:pt x="3086175" y="4920668"/>
                </a:lnTo>
                <a:lnTo>
                  <a:pt x="3056500" y="4939289"/>
                </a:lnTo>
                <a:lnTo>
                  <a:pt x="3026584" y="4957521"/>
                </a:lnTo>
                <a:lnTo>
                  <a:pt x="2996433" y="4975360"/>
                </a:lnTo>
                <a:lnTo>
                  <a:pt x="2966050" y="4992802"/>
                </a:lnTo>
                <a:lnTo>
                  <a:pt x="2935442" y="5009847"/>
                </a:lnTo>
                <a:lnTo>
                  <a:pt x="2904614" y="5026489"/>
                </a:lnTo>
                <a:lnTo>
                  <a:pt x="2873571" y="5042727"/>
                </a:lnTo>
                <a:lnTo>
                  <a:pt x="2842319" y="5058557"/>
                </a:lnTo>
                <a:lnTo>
                  <a:pt x="2810862" y="5073978"/>
                </a:lnTo>
                <a:lnTo>
                  <a:pt x="2779206" y="5088986"/>
                </a:lnTo>
                <a:lnTo>
                  <a:pt x="2747356" y="5103578"/>
                </a:lnTo>
                <a:lnTo>
                  <a:pt x="2715318" y="5117753"/>
                </a:lnTo>
                <a:lnTo>
                  <a:pt x="2683098" y="5131507"/>
                </a:lnTo>
                <a:lnTo>
                  <a:pt x="2650700" y="5144839"/>
                </a:lnTo>
                <a:lnTo>
                  <a:pt x="2618131" y="5157747"/>
                </a:lnTo>
                <a:lnTo>
                  <a:pt x="2585396" y="5170227"/>
                </a:lnTo>
                <a:lnTo>
                  <a:pt x="2552501" y="5182278"/>
                </a:lnTo>
                <a:lnTo>
                  <a:pt x="2519451" y="5193898"/>
                </a:lnTo>
                <a:lnTo>
                  <a:pt x="2486251" y="5205084"/>
                </a:lnTo>
                <a:lnTo>
                  <a:pt x="2452909" y="5215836"/>
                </a:lnTo>
                <a:lnTo>
                  <a:pt x="2419428" y="5226151"/>
                </a:lnTo>
                <a:lnTo>
                  <a:pt x="2385815" y="5236026"/>
                </a:lnTo>
                <a:lnTo>
                  <a:pt x="2352077" y="5245462"/>
                </a:lnTo>
                <a:lnTo>
                  <a:pt x="2318217" y="5254455"/>
                </a:lnTo>
                <a:lnTo>
                  <a:pt x="2284243" y="5263005"/>
                </a:lnTo>
                <a:lnTo>
                  <a:pt x="2250160" y="5271110"/>
                </a:lnTo>
                <a:lnTo>
                  <a:pt x="2215974" y="5278769"/>
                </a:lnTo>
                <a:lnTo>
                  <a:pt x="2181691" y="5285979"/>
                </a:lnTo>
                <a:lnTo>
                  <a:pt x="2147316" y="5292741"/>
                </a:lnTo>
                <a:lnTo>
                  <a:pt x="2112856" y="5299053"/>
                </a:lnTo>
                <a:lnTo>
                  <a:pt x="2078316" y="5304914"/>
                </a:lnTo>
                <a:lnTo>
                  <a:pt x="2043703" y="5310322"/>
                </a:lnTo>
                <a:lnTo>
                  <a:pt x="2009022" y="5315277"/>
                </a:lnTo>
                <a:lnTo>
                  <a:pt x="1974279" y="5319778"/>
                </a:lnTo>
                <a:lnTo>
                  <a:pt x="1939480" y="5323825"/>
                </a:lnTo>
                <a:lnTo>
                  <a:pt x="1904631" y="5327416"/>
                </a:lnTo>
                <a:lnTo>
                  <a:pt x="1869738" y="5330551"/>
                </a:lnTo>
                <a:lnTo>
                  <a:pt x="1834807" y="5333230"/>
                </a:lnTo>
                <a:lnTo>
                  <a:pt x="1799844" y="5335451"/>
                </a:lnTo>
                <a:lnTo>
                  <a:pt x="1764855" y="5337215"/>
                </a:lnTo>
                <a:lnTo>
                  <a:pt x="1729846" y="5338522"/>
                </a:lnTo>
                <a:lnTo>
                  <a:pt x="1694823" y="5339370"/>
                </a:lnTo>
                <a:lnTo>
                  <a:pt x="1659792" y="5339761"/>
                </a:lnTo>
                <a:lnTo>
                  <a:pt x="1624759" y="5339693"/>
                </a:lnTo>
                <a:lnTo>
                  <a:pt x="1589729" y="5339167"/>
                </a:lnTo>
                <a:lnTo>
                  <a:pt x="1554710" y="5338183"/>
                </a:lnTo>
                <a:lnTo>
                  <a:pt x="1519706" y="5336741"/>
                </a:lnTo>
                <a:lnTo>
                  <a:pt x="1484724" y="5334842"/>
                </a:lnTo>
                <a:lnTo>
                  <a:pt x="1449770" y="5332485"/>
                </a:lnTo>
                <a:lnTo>
                  <a:pt x="1414850" y="5329671"/>
                </a:lnTo>
                <a:lnTo>
                  <a:pt x="1379969" y="5326401"/>
                </a:lnTo>
                <a:lnTo>
                  <a:pt x="1345135" y="5322675"/>
                </a:lnTo>
                <a:lnTo>
                  <a:pt x="1310352" y="5318494"/>
                </a:lnTo>
                <a:lnTo>
                  <a:pt x="1275626" y="5313859"/>
                </a:lnTo>
                <a:lnTo>
                  <a:pt x="1240965" y="5308769"/>
                </a:lnTo>
                <a:lnTo>
                  <a:pt x="1206372" y="5303227"/>
                </a:lnTo>
                <a:lnTo>
                  <a:pt x="1171856" y="5297233"/>
                </a:lnTo>
                <a:lnTo>
                  <a:pt x="1137420" y="5290788"/>
                </a:lnTo>
                <a:lnTo>
                  <a:pt x="1103072" y="5283893"/>
                </a:lnTo>
                <a:lnTo>
                  <a:pt x="1068817" y="5276550"/>
                </a:lnTo>
                <a:lnTo>
                  <a:pt x="1034661" y="5268759"/>
                </a:lnTo>
                <a:lnTo>
                  <a:pt x="1000609" y="5260523"/>
                </a:lnTo>
                <a:lnTo>
                  <a:pt x="966669" y="5251841"/>
                </a:lnTo>
                <a:lnTo>
                  <a:pt x="932844" y="5242717"/>
                </a:lnTo>
                <a:lnTo>
                  <a:pt x="899142" y="5233151"/>
                </a:lnTo>
                <a:lnTo>
                  <a:pt x="865568" y="5223145"/>
                </a:lnTo>
                <a:lnTo>
                  <a:pt x="832128" y="5212701"/>
                </a:lnTo>
                <a:lnTo>
                  <a:pt x="798827" y="5201821"/>
                </a:lnTo>
                <a:lnTo>
                  <a:pt x="765671" y="5190506"/>
                </a:lnTo>
                <a:lnTo>
                  <a:pt x="732666" y="5178758"/>
                </a:lnTo>
                <a:lnTo>
                  <a:pt x="699817" y="5166580"/>
                </a:lnTo>
                <a:lnTo>
                  <a:pt x="667131" y="5153973"/>
                </a:lnTo>
                <a:lnTo>
                  <a:pt x="634612" y="5140940"/>
                </a:lnTo>
                <a:lnTo>
                  <a:pt x="602266" y="5127483"/>
                </a:lnTo>
                <a:lnTo>
                  <a:pt x="570099" y="5113604"/>
                </a:lnTo>
                <a:lnTo>
                  <a:pt x="538117" y="5099305"/>
                </a:lnTo>
                <a:lnTo>
                  <a:pt x="506324" y="5084590"/>
                </a:lnTo>
                <a:lnTo>
                  <a:pt x="474726" y="5069459"/>
                </a:lnTo>
                <a:lnTo>
                  <a:pt x="443329" y="5053917"/>
                </a:lnTo>
                <a:lnTo>
                  <a:pt x="412137" y="5037966"/>
                </a:lnTo>
                <a:lnTo>
                  <a:pt x="381157" y="5021608"/>
                </a:lnTo>
                <a:lnTo>
                  <a:pt x="350394" y="5004847"/>
                </a:lnTo>
                <a:lnTo>
                  <a:pt x="319852" y="4987684"/>
                </a:lnTo>
                <a:lnTo>
                  <a:pt x="289538" y="4970124"/>
                </a:lnTo>
                <a:lnTo>
                  <a:pt x="259455" y="4952169"/>
                </a:lnTo>
                <a:lnTo>
                  <a:pt x="229611" y="4933822"/>
                </a:lnTo>
                <a:lnTo>
                  <a:pt x="200008" y="4915086"/>
                </a:lnTo>
                <a:lnTo>
                  <a:pt x="170653" y="4895965"/>
                </a:lnTo>
                <a:lnTo>
                  <a:pt x="141551" y="4876461"/>
                </a:lnTo>
                <a:lnTo>
                  <a:pt x="112706" y="4856578"/>
                </a:lnTo>
                <a:lnTo>
                  <a:pt x="84124" y="4836320"/>
                </a:lnTo>
                <a:lnTo>
                  <a:pt x="55809" y="4815690"/>
                </a:lnTo>
                <a:lnTo>
                  <a:pt x="27766" y="4794692"/>
                </a:lnTo>
                <a:lnTo>
                  <a:pt x="0" y="4773328"/>
                </a:lnTo>
                <a:lnTo>
                  <a:pt x="14644" y="4754551"/>
                </a:lnTo>
                <a:lnTo>
                  <a:pt x="42163" y="4775725"/>
                </a:lnTo>
                <a:lnTo>
                  <a:pt x="69957" y="4796536"/>
                </a:lnTo>
                <a:lnTo>
                  <a:pt x="98020" y="4816983"/>
                </a:lnTo>
                <a:lnTo>
                  <a:pt x="126348" y="4837061"/>
                </a:lnTo>
                <a:lnTo>
                  <a:pt x="154937" y="4856767"/>
                </a:lnTo>
                <a:lnTo>
                  <a:pt x="183780" y="4876097"/>
                </a:lnTo>
                <a:lnTo>
                  <a:pt x="212874" y="4895049"/>
                </a:lnTo>
                <a:lnTo>
                  <a:pt x="242214" y="4913618"/>
                </a:lnTo>
                <a:lnTo>
                  <a:pt x="271793" y="4931802"/>
                </a:lnTo>
                <a:lnTo>
                  <a:pt x="301608" y="4949598"/>
                </a:lnTo>
                <a:lnTo>
                  <a:pt x="331653" y="4967002"/>
                </a:lnTo>
                <a:lnTo>
                  <a:pt x="361923" y="4984012"/>
                </a:lnTo>
                <a:lnTo>
                  <a:pt x="392413" y="5000624"/>
                </a:lnTo>
                <a:lnTo>
                  <a:pt x="423118" y="5016837"/>
                </a:lnTo>
                <a:lnTo>
                  <a:pt x="454032" y="5032646"/>
                </a:lnTo>
                <a:lnTo>
                  <a:pt x="485150" y="5048050"/>
                </a:lnTo>
                <a:lnTo>
                  <a:pt x="516467" y="5063046"/>
                </a:lnTo>
                <a:lnTo>
                  <a:pt x="547977" y="5077630"/>
                </a:lnTo>
                <a:lnTo>
                  <a:pt x="579676" y="5091802"/>
                </a:lnTo>
                <a:lnTo>
                  <a:pt x="611557" y="5105558"/>
                </a:lnTo>
                <a:lnTo>
                  <a:pt x="643615" y="5118895"/>
                </a:lnTo>
                <a:lnTo>
                  <a:pt x="675845" y="5131812"/>
                </a:lnTo>
                <a:lnTo>
                  <a:pt x="708241" y="5144307"/>
                </a:lnTo>
                <a:lnTo>
                  <a:pt x="740797" y="5156377"/>
                </a:lnTo>
                <a:lnTo>
                  <a:pt x="773509" y="5168020"/>
                </a:lnTo>
                <a:lnTo>
                  <a:pt x="806370" y="5179235"/>
                </a:lnTo>
                <a:lnTo>
                  <a:pt x="839375" y="5190018"/>
                </a:lnTo>
                <a:lnTo>
                  <a:pt x="872518" y="5200370"/>
                </a:lnTo>
                <a:lnTo>
                  <a:pt x="905794" y="5210286"/>
                </a:lnTo>
                <a:lnTo>
                  <a:pt x="939196" y="5219767"/>
                </a:lnTo>
                <a:lnTo>
                  <a:pt x="972720" y="5228811"/>
                </a:lnTo>
                <a:lnTo>
                  <a:pt x="1006359" y="5237415"/>
                </a:lnTo>
                <a:lnTo>
                  <a:pt x="1040108" y="5245578"/>
                </a:lnTo>
                <a:lnTo>
                  <a:pt x="1073960" y="5253300"/>
                </a:lnTo>
                <a:lnTo>
                  <a:pt x="1107911" y="5260578"/>
                </a:lnTo>
                <a:lnTo>
                  <a:pt x="1141954" y="5267411"/>
                </a:lnTo>
                <a:lnTo>
                  <a:pt x="1176083" y="5273799"/>
                </a:lnTo>
                <a:lnTo>
                  <a:pt x="1210293" y="5279740"/>
                </a:lnTo>
                <a:lnTo>
                  <a:pt x="1244578" y="5285233"/>
                </a:lnTo>
                <a:lnTo>
                  <a:pt x="1278932" y="5290277"/>
                </a:lnTo>
                <a:lnTo>
                  <a:pt x="1313348" y="5294871"/>
                </a:lnTo>
                <a:lnTo>
                  <a:pt x="1347822" y="5299015"/>
                </a:lnTo>
                <a:lnTo>
                  <a:pt x="1382347" y="5302708"/>
                </a:lnTo>
                <a:lnTo>
                  <a:pt x="1416918" y="5305949"/>
                </a:lnTo>
                <a:lnTo>
                  <a:pt x="1451527" y="5308738"/>
                </a:lnTo>
                <a:lnTo>
                  <a:pt x="1486171" y="5311073"/>
                </a:lnTo>
                <a:lnTo>
                  <a:pt x="1520842" y="5312956"/>
                </a:lnTo>
                <a:lnTo>
                  <a:pt x="1555534" y="5314385"/>
                </a:lnTo>
                <a:lnTo>
                  <a:pt x="1590242" y="5315360"/>
                </a:lnTo>
                <a:lnTo>
                  <a:pt x="1624960" y="5315881"/>
                </a:lnTo>
                <a:lnTo>
                  <a:pt x="1659682" y="5315948"/>
                </a:lnTo>
                <a:lnTo>
                  <a:pt x="1694402" y="5315561"/>
                </a:lnTo>
                <a:lnTo>
                  <a:pt x="1729114" y="5314721"/>
                </a:lnTo>
                <a:lnTo>
                  <a:pt x="1763812" y="5313426"/>
                </a:lnTo>
                <a:lnTo>
                  <a:pt x="1798490" y="5311677"/>
                </a:lnTo>
                <a:lnTo>
                  <a:pt x="1833142" y="5309476"/>
                </a:lnTo>
                <a:lnTo>
                  <a:pt x="1867762" y="5306821"/>
                </a:lnTo>
                <a:lnTo>
                  <a:pt x="1902345" y="5303714"/>
                </a:lnTo>
                <a:lnTo>
                  <a:pt x="1936884" y="5300154"/>
                </a:lnTo>
                <a:lnTo>
                  <a:pt x="1971374" y="5296144"/>
                </a:lnTo>
                <a:lnTo>
                  <a:pt x="2005808" y="5291683"/>
                </a:lnTo>
                <a:lnTo>
                  <a:pt x="2040181" y="5286771"/>
                </a:lnTo>
                <a:lnTo>
                  <a:pt x="2074486" y="5281411"/>
                </a:lnTo>
                <a:lnTo>
                  <a:pt x="2108719" y="5275603"/>
                </a:lnTo>
                <a:lnTo>
                  <a:pt x="2142873" y="5269347"/>
                </a:lnTo>
                <a:lnTo>
                  <a:pt x="2176942" y="5262645"/>
                </a:lnTo>
                <a:lnTo>
                  <a:pt x="2210921" y="5255499"/>
                </a:lnTo>
                <a:lnTo>
                  <a:pt x="2244803" y="5247908"/>
                </a:lnTo>
                <a:lnTo>
                  <a:pt x="2278583" y="5239875"/>
                </a:lnTo>
                <a:lnTo>
                  <a:pt x="2312255" y="5231401"/>
                </a:lnTo>
                <a:lnTo>
                  <a:pt x="2345813" y="5222488"/>
                </a:lnTo>
                <a:lnTo>
                  <a:pt x="2379252" y="5213136"/>
                </a:lnTo>
                <a:lnTo>
                  <a:pt x="2412566" y="5203348"/>
                </a:lnTo>
                <a:lnTo>
                  <a:pt x="2445749" y="5193125"/>
                </a:lnTo>
                <a:lnTo>
                  <a:pt x="2478795" y="5182469"/>
                </a:lnTo>
                <a:lnTo>
                  <a:pt x="2511700" y="5171382"/>
                </a:lnTo>
                <a:lnTo>
                  <a:pt x="2544456" y="5159866"/>
                </a:lnTo>
                <a:lnTo>
                  <a:pt x="2577059" y="5147922"/>
                </a:lnTo>
                <a:lnTo>
                  <a:pt x="2609503" y="5135552"/>
                </a:lnTo>
                <a:lnTo>
                  <a:pt x="2641783" y="5122760"/>
                </a:lnTo>
                <a:lnTo>
                  <a:pt x="2673892" y="5109546"/>
                </a:lnTo>
                <a:lnTo>
                  <a:pt x="2705826" y="5095914"/>
                </a:lnTo>
                <a:lnTo>
                  <a:pt x="2737579" y="5081865"/>
                </a:lnTo>
                <a:lnTo>
                  <a:pt x="2769146" y="5067402"/>
                </a:lnTo>
                <a:lnTo>
                  <a:pt x="2800520" y="5052528"/>
                </a:lnTo>
                <a:lnTo>
                  <a:pt x="2831698" y="5037245"/>
                </a:lnTo>
                <a:lnTo>
                  <a:pt x="2862673" y="5021555"/>
                </a:lnTo>
                <a:lnTo>
                  <a:pt x="2893440" y="5005461"/>
                </a:lnTo>
                <a:lnTo>
                  <a:pt x="2923994" y="4988967"/>
                </a:lnTo>
                <a:lnTo>
                  <a:pt x="2954329" y="4972074"/>
                </a:lnTo>
                <a:lnTo>
                  <a:pt x="2984442" y="4954786"/>
                </a:lnTo>
                <a:lnTo>
                  <a:pt x="3014325" y="4937106"/>
                </a:lnTo>
                <a:lnTo>
                  <a:pt x="3043975" y="4919037"/>
                </a:lnTo>
                <a:lnTo>
                  <a:pt x="3073386" y="4900581"/>
                </a:lnTo>
                <a:lnTo>
                  <a:pt x="3102553" y="4881742"/>
                </a:lnTo>
                <a:lnTo>
                  <a:pt x="3131471" y="4862524"/>
                </a:lnTo>
                <a:lnTo>
                  <a:pt x="3160136" y="4842929"/>
                </a:lnTo>
                <a:lnTo>
                  <a:pt x="3188541" y="4822961"/>
                </a:lnTo>
                <a:lnTo>
                  <a:pt x="3216684" y="4802623"/>
                </a:lnTo>
                <a:lnTo>
                  <a:pt x="3244557" y="4781918"/>
                </a:lnTo>
                <a:lnTo>
                  <a:pt x="3272158" y="4760851"/>
                </a:lnTo>
                <a:lnTo>
                  <a:pt x="3299481" y="4739425"/>
                </a:lnTo>
                <a:lnTo>
                  <a:pt x="3326521" y="4717644"/>
                </a:lnTo>
                <a:lnTo>
                  <a:pt x="3353274" y="4695510"/>
                </a:lnTo>
                <a:lnTo>
                  <a:pt x="3379736" y="4673029"/>
                </a:lnTo>
                <a:lnTo>
                  <a:pt x="3405901" y="4650203"/>
                </a:lnTo>
                <a:lnTo>
                  <a:pt x="3431765" y="4627038"/>
                </a:lnTo>
                <a:lnTo>
                  <a:pt x="3457325" y="4603536"/>
                </a:lnTo>
                <a:lnTo>
                  <a:pt x="3482574" y="4579702"/>
                </a:lnTo>
                <a:lnTo>
                  <a:pt x="3507510" y="4555539"/>
                </a:lnTo>
                <a:lnTo>
                  <a:pt x="3532128" y="4531053"/>
                </a:lnTo>
                <a:lnTo>
                  <a:pt x="3556423" y="4506247"/>
                </a:lnTo>
                <a:lnTo>
                  <a:pt x="3580392" y="4481125"/>
                </a:lnTo>
                <a:lnTo>
                  <a:pt x="3604031" y="4455692"/>
                </a:lnTo>
                <a:lnTo>
                  <a:pt x="3627335" y="4429952"/>
                </a:lnTo>
                <a:lnTo>
                  <a:pt x="3650300" y="4403909"/>
                </a:lnTo>
                <a:lnTo>
                  <a:pt x="3672923" y="4377569"/>
                </a:lnTo>
                <a:lnTo>
                  <a:pt x="3695199" y="4350934"/>
                </a:lnTo>
                <a:lnTo>
                  <a:pt x="3717125" y="4324011"/>
                </a:lnTo>
                <a:lnTo>
                  <a:pt x="3738697" y="4296803"/>
                </a:lnTo>
                <a:lnTo>
                  <a:pt x="3759911" y="4269316"/>
                </a:lnTo>
                <a:lnTo>
                  <a:pt x="3780765" y="4241553"/>
                </a:lnTo>
                <a:lnTo>
                  <a:pt x="3801253" y="4213520"/>
                </a:lnTo>
                <a:lnTo>
                  <a:pt x="3821373" y="4185222"/>
                </a:lnTo>
                <a:lnTo>
                  <a:pt x="3841121" y="4156663"/>
                </a:lnTo>
                <a:lnTo>
                  <a:pt x="3860494" y="4127848"/>
                </a:lnTo>
                <a:lnTo>
                  <a:pt x="3879489" y="4098782"/>
                </a:lnTo>
                <a:lnTo>
                  <a:pt x="3898102" y="4069470"/>
                </a:lnTo>
                <a:lnTo>
                  <a:pt x="3916330" y="4039918"/>
                </a:lnTo>
                <a:lnTo>
                  <a:pt x="3934170" y="4010129"/>
                </a:lnTo>
                <a:lnTo>
                  <a:pt x="3951618" y="3980110"/>
                </a:lnTo>
                <a:lnTo>
                  <a:pt x="3968673" y="3949865"/>
                </a:lnTo>
                <a:lnTo>
                  <a:pt x="3985331" y="3919400"/>
                </a:lnTo>
                <a:lnTo>
                  <a:pt x="4001589" y="3888719"/>
                </a:lnTo>
                <a:lnTo>
                  <a:pt x="4017444" y="3857829"/>
                </a:lnTo>
                <a:lnTo>
                  <a:pt x="4032895" y="3826734"/>
                </a:lnTo>
                <a:lnTo>
                  <a:pt x="4047937" y="3795439"/>
                </a:lnTo>
                <a:lnTo>
                  <a:pt x="4062568" y="3763951"/>
                </a:lnTo>
                <a:lnTo>
                  <a:pt x="4076787" y="3732273"/>
                </a:lnTo>
                <a:lnTo>
                  <a:pt x="4090590" y="3700413"/>
                </a:lnTo>
                <a:lnTo>
                  <a:pt x="4103975" y="3668374"/>
                </a:lnTo>
                <a:lnTo>
                  <a:pt x="4116940" y="3636164"/>
                </a:lnTo>
                <a:lnTo>
                  <a:pt x="4129483" y="3603787"/>
                </a:lnTo>
                <a:lnTo>
                  <a:pt x="4141601" y="3571248"/>
                </a:lnTo>
                <a:lnTo>
                  <a:pt x="4153293" y="3538554"/>
                </a:lnTo>
                <a:lnTo>
                  <a:pt x="4164556" y="3505709"/>
                </a:lnTo>
                <a:lnTo>
                  <a:pt x="4175389" y="3472720"/>
                </a:lnTo>
                <a:lnTo>
                  <a:pt x="4185789" y="3439592"/>
                </a:lnTo>
                <a:lnTo>
                  <a:pt x="4195756" y="3406332"/>
                </a:lnTo>
                <a:lnTo>
                  <a:pt x="4205286" y="3372943"/>
                </a:lnTo>
                <a:lnTo>
                  <a:pt x="4214379" y="3339433"/>
                </a:lnTo>
                <a:lnTo>
                  <a:pt x="4223033" y="3305807"/>
                </a:lnTo>
                <a:lnTo>
                  <a:pt x="4231247" y="3272070"/>
                </a:lnTo>
                <a:lnTo>
                  <a:pt x="4239019" y="3238229"/>
                </a:lnTo>
                <a:lnTo>
                  <a:pt x="4246347" y="3204289"/>
                </a:lnTo>
                <a:lnTo>
                  <a:pt x="4253231" y="3170257"/>
                </a:lnTo>
                <a:lnTo>
                  <a:pt x="4259669" y="3136137"/>
                </a:lnTo>
                <a:lnTo>
                  <a:pt x="4265661" y="3101936"/>
                </a:lnTo>
                <a:lnTo>
                  <a:pt x="4271205" y="3067659"/>
                </a:lnTo>
                <a:lnTo>
                  <a:pt x="4276300" y="3033313"/>
                </a:lnTo>
                <a:lnTo>
                  <a:pt x="4280946" y="2998903"/>
                </a:lnTo>
                <a:lnTo>
                  <a:pt x="4285141" y="2964436"/>
                </a:lnTo>
                <a:lnTo>
                  <a:pt x="4288885" y="2929916"/>
                </a:lnTo>
                <a:lnTo>
                  <a:pt x="4292177" y="2895351"/>
                </a:lnTo>
                <a:lnTo>
                  <a:pt x="4295017" y="2860745"/>
                </a:lnTo>
                <a:lnTo>
                  <a:pt x="4297405" y="2826105"/>
                </a:lnTo>
                <a:lnTo>
                  <a:pt x="4299339" y="2791437"/>
                </a:lnTo>
                <a:lnTo>
                  <a:pt x="4300819" y="2756747"/>
                </a:lnTo>
                <a:lnTo>
                  <a:pt x="4301846" y="2722040"/>
                </a:lnTo>
                <a:lnTo>
                  <a:pt x="4302419" y="2687323"/>
                </a:lnTo>
                <a:lnTo>
                  <a:pt x="4302537" y="2652601"/>
                </a:lnTo>
                <a:lnTo>
                  <a:pt x="4302202" y="2617880"/>
                </a:lnTo>
                <a:lnTo>
                  <a:pt x="4301413" y="2583167"/>
                </a:lnTo>
                <a:lnTo>
                  <a:pt x="4300169" y="2548468"/>
                </a:lnTo>
                <a:lnTo>
                  <a:pt x="4298473" y="2513787"/>
                </a:lnTo>
                <a:lnTo>
                  <a:pt x="4296322" y="2479132"/>
                </a:lnTo>
                <a:lnTo>
                  <a:pt x="4293719" y="2444508"/>
                </a:lnTo>
                <a:lnTo>
                  <a:pt x="4290663" y="2409920"/>
                </a:lnTo>
                <a:lnTo>
                  <a:pt x="4287155" y="2375376"/>
                </a:lnTo>
                <a:lnTo>
                  <a:pt x="4283196" y="2340880"/>
                </a:lnTo>
                <a:lnTo>
                  <a:pt x="4278786" y="2306440"/>
                </a:lnTo>
                <a:lnTo>
                  <a:pt x="4273926" y="2272060"/>
                </a:lnTo>
                <a:lnTo>
                  <a:pt x="4268616" y="2237746"/>
                </a:lnTo>
                <a:lnTo>
                  <a:pt x="4262859" y="2203505"/>
                </a:lnTo>
                <a:lnTo>
                  <a:pt x="4256654" y="2169342"/>
                </a:lnTo>
                <a:lnTo>
                  <a:pt x="4250003" y="2135263"/>
                </a:lnTo>
                <a:lnTo>
                  <a:pt x="4242906" y="2101273"/>
                </a:lnTo>
                <a:lnTo>
                  <a:pt x="4235366" y="2067380"/>
                </a:lnTo>
                <a:lnTo>
                  <a:pt x="4227384" y="2033588"/>
                </a:lnTo>
                <a:lnTo>
                  <a:pt x="4218960" y="1999903"/>
                </a:lnTo>
                <a:lnTo>
                  <a:pt x="4210096" y="1966332"/>
                </a:lnTo>
                <a:lnTo>
                  <a:pt x="4200794" y="1932879"/>
                </a:lnTo>
                <a:lnTo>
                  <a:pt x="4191056" y="1899551"/>
                </a:lnTo>
                <a:lnTo>
                  <a:pt x="4180882" y="1866353"/>
                </a:lnTo>
                <a:lnTo>
                  <a:pt x="4170275" y="1833290"/>
                </a:lnTo>
                <a:lnTo>
                  <a:pt x="4159237" y="1800370"/>
                </a:lnTo>
                <a:lnTo>
                  <a:pt x="4147769" y="1767596"/>
                </a:lnTo>
                <a:lnTo>
                  <a:pt x="4135873" y="1734975"/>
                </a:lnTo>
                <a:lnTo>
                  <a:pt x="4123552" y="1702513"/>
                </a:lnTo>
                <a:lnTo>
                  <a:pt x="4110808" y="1670215"/>
                </a:lnTo>
                <a:lnTo>
                  <a:pt x="4097642" y="1638086"/>
                </a:lnTo>
                <a:lnTo>
                  <a:pt x="4084057" y="1606131"/>
                </a:lnTo>
                <a:lnTo>
                  <a:pt x="4070056" y="1574358"/>
                </a:lnTo>
                <a:lnTo>
                  <a:pt x="4055640" y="1542770"/>
                </a:lnTo>
                <a:lnTo>
                  <a:pt x="4040812" y="1511373"/>
                </a:lnTo>
                <a:lnTo>
                  <a:pt x="4025575" y="1480173"/>
                </a:lnTo>
                <a:lnTo>
                  <a:pt x="4009931" y="1449175"/>
                </a:lnTo>
                <a:lnTo>
                  <a:pt x="3993883" y="1418384"/>
                </a:lnTo>
                <a:lnTo>
                  <a:pt x="3977434" y="1387805"/>
                </a:lnTo>
                <a:lnTo>
                  <a:pt x="3960587" y="1357444"/>
                </a:lnTo>
                <a:lnTo>
                  <a:pt x="3943344" y="1327307"/>
                </a:lnTo>
                <a:lnTo>
                  <a:pt x="3925708" y="1297397"/>
                </a:lnTo>
                <a:lnTo>
                  <a:pt x="3907682" y="1267720"/>
                </a:lnTo>
                <a:lnTo>
                  <a:pt x="3889270" y="1238282"/>
                </a:lnTo>
                <a:lnTo>
                  <a:pt x="3870475" y="1209087"/>
                </a:lnTo>
                <a:lnTo>
                  <a:pt x="3851299" y="1180140"/>
                </a:lnTo>
                <a:lnTo>
                  <a:pt x="3831747" y="1151446"/>
                </a:lnTo>
                <a:lnTo>
                  <a:pt x="3811821" y="1123011"/>
                </a:lnTo>
                <a:lnTo>
                  <a:pt x="3791525" y="1094839"/>
                </a:lnTo>
                <a:lnTo>
                  <a:pt x="3770862" y="1066934"/>
                </a:lnTo>
                <a:lnTo>
                  <a:pt x="3749836" y="1039302"/>
                </a:lnTo>
                <a:lnTo>
                  <a:pt x="3728450" y="1011948"/>
                </a:lnTo>
                <a:lnTo>
                  <a:pt x="3706709" y="984875"/>
                </a:lnTo>
                <a:lnTo>
                  <a:pt x="3684615" y="958089"/>
                </a:lnTo>
                <a:lnTo>
                  <a:pt x="3662173" y="931594"/>
                </a:lnTo>
                <a:lnTo>
                  <a:pt x="3639387" y="905395"/>
                </a:lnTo>
                <a:lnTo>
                  <a:pt x="3616260" y="879496"/>
                </a:lnTo>
                <a:lnTo>
                  <a:pt x="3592796" y="853902"/>
                </a:lnTo>
                <a:lnTo>
                  <a:pt x="3568999" y="828617"/>
                </a:lnTo>
                <a:lnTo>
                  <a:pt x="3544874" y="803645"/>
                </a:lnTo>
                <a:lnTo>
                  <a:pt x="3520424" y="778991"/>
                </a:lnTo>
                <a:lnTo>
                  <a:pt x="3495654" y="754659"/>
                </a:lnTo>
                <a:lnTo>
                  <a:pt x="3470568" y="730653"/>
                </a:lnTo>
                <a:lnTo>
                  <a:pt x="3445170" y="706977"/>
                </a:lnTo>
                <a:lnTo>
                  <a:pt x="3419465" y="683635"/>
                </a:lnTo>
                <a:lnTo>
                  <a:pt x="3393456" y="660631"/>
                </a:lnTo>
                <a:lnTo>
                  <a:pt x="3367149" y="637969"/>
                </a:lnTo>
                <a:lnTo>
                  <a:pt x="3340548" y="615653"/>
                </a:lnTo>
                <a:lnTo>
                  <a:pt x="3313657" y="593687"/>
                </a:lnTo>
                <a:lnTo>
                  <a:pt x="3286482" y="572075"/>
                </a:lnTo>
                <a:lnTo>
                  <a:pt x="3259026" y="550819"/>
                </a:lnTo>
                <a:lnTo>
                  <a:pt x="3231294" y="529925"/>
                </a:lnTo>
                <a:lnTo>
                  <a:pt x="3203292" y="509395"/>
                </a:lnTo>
                <a:lnTo>
                  <a:pt x="3175023" y="489233"/>
                </a:lnTo>
                <a:lnTo>
                  <a:pt x="3146493" y="469442"/>
                </a:lnTo>
                <a:lnTo>
                  <a:pt x="3117707" y="450026"/>
                </a:lnTo>
                <a:lnTo>
                  <a:pt x="3088670" y="430989"/>
                </a:lnTo>
                <a:lnTo>
                  <a:pt x="3059386" y="412332"/>
                </a:lnTo>
                <a:lnTo>
                  <a:pt x="3029860" y="394061"/>
                </a:lnTo>
                <a:lnTo>
                  <a:pt x="3000098" y="376176"/>
                </a:lnTo>
                <a:lnTo>
                  <a:pt x="2970105" y="358683"/>
                </a:lnTo>
                <a:lnTo>
                  <a:pt x="2939885" y="341583"/>
                </a:lnTo>
                <a:lnTo>
                  <a:pt x="2909445" y="324880"/>
                </a:lnTo>
                <a:lnTo>
                  <a:pt x="2878789" y="308577"/>
                </a:lnTo>
                <a:lnTo>
                  <a:pt x="2847922" y="292675"/>
                </a:lnTo>
                <a:lnTo>
                  <a:pt x="2816849" y="277179"/>
                </a:lnTo>
                <a:lnTo>
                  <a:pt x="2785577" y="262091"/>
                </a:lnTo>
                <a:lnTo>
                  <a:pt x="2754110" y="247412"/>
                </a:lnTo>
                <a:lnTo>
                  <a:pt x="2722454" y="233147"/>
                </a:lnTo>
                <a:lnTo>
                  <a:pt x="2690614" y="219296"/>
                </a:lnTo>
                <a:lnTo>
                  <a:pt x="2658596" y="205863"/>
                </a:lnTo>
                <a:lnTo>
                  <a:pt x="2626405" y="192851"/>
                </a:lnTo>
                <a:lnTo>
                  <a:pt x="2594046" y="180260"/>
                </a:lnTo>
                <a:lnTo>
                  <a:pt x="2561525" y="168093"/>
                </a:lnTo>
                <a:lnTo>
                  <a:pt x="2528848" y="156353"/>
                </a:lnTo>
                <a:lnTo>
                  <a:pt x="2496021" y="145041"/>
                </a:lnTo>
                <a:lnTo>
                  <a:pt x="2463048" y="134159"/>
                </a:lnTo>
                <a:lnTo>
                  <a:pt x="2429936" y="123709"/>
                </a:lnTo>
                <a:lnTo>
                  <a:pt x="2396690" y="113694"/>
                </a:lnTo>
                <a:lnTo>
                  <a:pt x="2363315" y="104114"/>
                </a:lnTo>
                <a:lnTo>
                  <a:pt x="2329819" y="94971"/>
                </a:lnTo>
                <a:lnTo>
                  <a:pt x="2296206" y="86267"/>
                </a:lnTo>
                <a:lnTo>
                  <a:pt x="2262481" y="78003"/>
                </a:lnTo>
                <a:lnTo>
                  <a:pt x="2228652" y="70181"/>
                </a:lnTo>
                <a:lnTo>
                  <a:pt x="2194723" y="62802"/>
                </a:lnTo>
                <a:lnTo>
                  <a:pt x="2160700" y="55868"/>
                </a:lnTo>
                <a:lnTo>
                  <a:pt x="2126590" y="49379"/>
                </a:lnTo>
                <a:lnTo>
                  <a:pt x="2092398" y="43336"/>
                </a:lnTo>
                <a:lnTo>
                  <a:pt x="2058130" y="37741"/>
                </a:lnTo>
                <a:lnTo>
                  <a:pt x="2023791" y="32595"/>
                </a:lnTo>
                <a:lnTo>
                  <a:pt x="1989388" y="27899"/>
                </a:lnTo>
                <a:lnTo>
                  <a:pt x="1954927" y="23652"/>
                </a:lnTo>
                <a:close/>
              </a:path>
            </a:pathLst>
          </a:custGeom>
          <a:solidFill xmlns:a="http://schemas.openxmlformats.org/drawingml/2006/main">
            <a:srgbClr val="106667"/>
          </a:solidFill>
          <a:ln xmlns:a="http://schemas.openxmlformats.org/drawingml/2006/main" w="0">
            <a:noFill/>
          </a:ln>
        </p:spPr>
      </p:sp>
      <p:sp>
        <p:nvSpPr>
          <p:cNvPr id="259" name="research_paper-zero-baseline">
            <a:extLst xmlns:a="http://schemas.openxmlformats.org/drawingml/2006/main">
              <a:ext uri="{FF2B5EF4-FFF2-40B4-BE49-F238E27FC236}">
                <a16:creationId xmlns:a16="http://schemas.microsoft.com/office/drawing/2014/main" id="{515837E5-226D-4F23-A170-85F13E759810}"/>
              </a:ext>
            </a:extLst>
          </p:cNvPr>
          <p:cNvSpPr>
            <a:spLocks xmlns:a="http://schemas.openxmlformats.org/drawingml/2006/main" noGrp="1"/>
          </p:cNvSpPr>
          <p:nvPr/>
        </p:nvSpPr>
        <p:spPr>
          <a:xfrm xmlns:a="http://schemas.openxmlformats.org/drawingml/2006/main">
            <a:off x="3417106" y="5104602"/>
            <a:ext cx="608228" cy="2811063"/>
          </a:xfrm>
          <a:custGeom xmlns:a="http://schemas.openxmlformats.org/drawingml/2006/main">
            <a:pathLst>
              <a:path w="608228" h="2811063">
                <a:moveTo>
                  <a:pt x="589657" y="2811063"/>
                </a:moveTo>
                <a:lnTo>
                  <a:pt x="568121" y="2783872"/>
                </a:lnTo>
                <a:lnTo>
                  <a:pt x="546940" y="2756405"/>
                </a:lnTo>
                <a:lnTo>
                  <a:pt x="526116" y="2728665"/>
                </a:lnTo>
                <a:lnTo>
                  <a:pt x="505653" y="2700658"/>
                </a:lnTo>
                <a:lnTo>
                  <a:pt x="485554" y="2672389"/>
                </a:lnTo>
                <a:lnTo>
                  <a:pt x="465823" y="2643862"/>
                </a:lnTo>
                <a:lnTo>
                  <a:pt x="446464" y="2615081"/>
                </a:lnTo>
                <a:lnTo>
                  <a:pt x="427478" y="2586053"/>
                </a:lnTo>
                <a:lnTo>
                  <a:pt x="408870" y="2556781"/>
                </a:lnTo>
                <a:lnTo>
                  <a:pt x="390642" y="2527270"/>
                </a:lnTo>
                <a:lnTo>
                  <a:pt x="372798" y="2497526"/>
                </a:lnTo>
                <a:lnTo>
                  <a:pt x="355340" y="2467554"/>
                </a:lnTo>
                <a:lnTo>
                  <a:pt x="338272" y="2437357"/>
                </a:lnTo>
                <a:lnTo>
                  <a:pt x="321597" y="2406943"/>
                </a:lnTo>
                <a:lnTo>
                  <a:pt x="305316" y="2376315"/>
                </a:lnTo>
                <a:lnTo>
                  <a:pt x="289434" y="2345479"/>
                </a:lnTo>
                <a:lnTo>
                  <a:pt x="273952" y="2314440"/>
                </a:lnTo>
                <a:lnTo>
                  <a:pt x="258873" y="2283203"/>
                </a:lnTo>
                <a:lnTo>
                  <a:pt x="244201" y="2251773"/>
                </a:lnTo>
                <a:lnTo>
                  <a:pt x="229936" y="2220156"/>
                </a:lnTo>
                <a:lnTo>
                  <a:pt x="216081" y="2188357"/>
                </a:lnTo>
                <a:lnTo>
                  <a:pt x="202640" y="2156381"/>
                </a:lnTo>
                <a:lnTo>
                  <a:pt x="189614" y="2124234"/>
                </a:lnTo>
                <a:lnTo>
                  <a:pt x="177005" y="2091921"/>
                </a:lnTo>
                <a:lnTo>
                  <a:pt x="164816" y="2059448"/>
                </a:lnTo>
                <a:lnTo>
                  <a:pt x="153047" y="2026819"/>
                </a:lnTo>
                <a:lnTo>
                  <a:pt x="141703" y="1994041"/>
                </a:lnTo>
                <a:lnTo>
                  <a:pt x="130784" y="1961118"/>
                </a:lnTo>
                <a:lnTo>
                  <a:pt x="120292" y="1928057"/>
                </a:lnTo>
                <a:lnTo>
                  <a:pt x="110229" y="1894863"/>
                </a:lnTo>
                <a:lnTo>
                  <a:pt x="100596" y="1861541"/>
                </a:lnTo>
                <a:lnTo>
                  <a:pt x="91396" y="1828098"/>
                </a:lnTo>
                <a:lnTo>
                  <a:pt x="82630" y="1794538"/>
                </a:lnTo>
                <a:lnTo>
                  <a:pt x="74298" y="1760867"/>
                </a:lnTo>
                <a:lnTo>
                  <a:pt x="66404" y="1727091"/>
                </a:lnTo>
                <a:lnTo>
                  <a:pt x="58947" y="1693216"/>
                </a:lnTo>
                <a:lnTo>
                  <a:pt x="51930" y="1659248"/>
                </a:lnTo>
                <a:lnTo>
                  <a:pt x="45353" y="1625191"/>
                </a:lnTo>
                <a:lnTo>
                  <a:pt x="39218" y="1591052"/>
                </a:lnTo>
                <a:lnTo>
                  <a:pt x="33525" y="1556836"/>
                </a:lnTo>
                <a:lnTo>
                  <a:pt x="28275" y="1522550"/>
                </a:lnTo>
                <a:lnTo>
                  <a:pt x="23470" y="1488198"/>
                </a:lnTo>
                <a:lnTo>
                  <a:pt x="19110" y="1453787"/>
                </a:lnTo>
                <a:lnTo>
                  <a:pt x="15196" y="1419323"/>
                </a:lnTo>
                <a:lnTo>
                  <a:pt x="11729" y="1384811"/>
                </a:lnTo>
                <a:lnTo>
                  <a:pt x="8709" y="1350256"/>
                </a:lnTo>
                <a:lnTo>
                  <a:pt x="6136" y="1315666"/>
                </a:lnTo>
                <a:lnTo>
                  <a:pt x="4011" y="1281045"/>
                </a:lnTo>
                <a:lnTo>
                  <a:pt x="2335" y="1246400"/>
                </a:lnTo>
                <a:lnTo>
                  <a:pt x="1108" y="1211735"/>
                </a:lnTo>
                <a:lnTo>
                  <a:pt x="329" y="1177058"/>
                </a:lnTo>
                <a:lnTo>
                  <a:pt x="0" y="1142374"/>
                </a:lnTo>
                <a:lnTo>
                  <a:pt x="120" y="1107688"/>
                </a:lnTo>
                <a:lnTo>
                  <a:pt x="688" y="1073007"/>
                </a:lnTo>
                <a:lnTo>
                  <a:pt x="1706" y="1038336"/>
                </a:lnTo>
                <a:lnTo>
                  <a:pt x="3173" y="1003681"/>
                </a:lnTo>
                <a:lnTo>
                  <a:pt x="5088" y="969048"/>
                </a:lnTo>
                <a:lnTo>
                  <a:pt x="7451" y="934442"/>
                </a:lnTo>
                <a:lnTo>
                  <a:pt x="10263" y="899870"/>
                </a:lnTo>
                <a:lnTo>
                  <a:pt x="13521" y="865338"/>
                </a:lnTo>
                <a:lnTo>
                  <a:pt x="17227" y="830850"/>
                </a:lnTo>
                <a:lnTo>
                  <a:pt x="21378" y="796414"/>
                </a:lnTo>
                <a:lnTo>
                  <a:pt x="25976" y="762034"/>
                </a:lnTo>
                <a:lnTo>
                  <a:pt x="31017" y="727716"/>
                </a:lnTo>
                <a:lnTo>
                  <a:pt x="36503" y="693467"/>
                </a:lnTo>
                <a:lnTo>
                  <a:pt x="42432" y="659291"/>
                </a:lnTo>
                <a:lnTo>
                  <a:pt x="48803" y="625195"/>
                </a:lnTo>
                <a:lnTo>
                  <a:pt x="55615" y="591185"/>
                </a:lnTo>
                <a:lnTo>
                  <a:pt x="62866" y="557265"/>
                </a:lnTo>
                <a:lnTo>
                  <a:pt x="70556" y="523442"/>
                </a:lnTo>
                <a:lnTo>
                  <a:pt x="78684" y="489722"/>
                </a:lnTo>
                <a:lnTo>
                  <a:pt x="87247" y="456110"/>
                </a:lnTo>
                <a:lnTo>
                  <a:pt x="96245" y="422611"/>
                </a:lnTo>
                <a:lnTo>
                  <a:pt x="105676" y="389232"/>
                </a:lnTo>
                <a:lnTo>
                  <a:pt x="115538" y="355977"/>
                </a:lnTo>
                <a:lnTo>
                  <a:pt x="125830" y="322853"/>
                </a:lnTo>
                <a:lnTo>
                  <a:pt x="136550" y="289865"/>
                </a:lnTo>
                <a:lnTo>
                  <a:pt x="147696" y="257019"/>
                </a:lnTo>
                <a:lnTo>
                  <a:pt x="159266" y="224320"/>
                </a:lnTo>
                <a:lnTo>
                  <a:pt x="171259" y="191773"/>
                </a:lnTo>
                <a:lnTo>
                  <a:pt x="183672" y="159384"/>
                </a:lnTo>
                <a:lnTo>
                  <a:pt x="196504" y="127159"/>
                </a:lnTo>
                <a:lnTo>
                  <a:pt x="209752" y="95103"/>
                </a:lnTo>
                <a:lnTo>
                  <a:pt x="223413" y="63220"/>
                </a:lnTo>
                <a:lnTo>
                  <a:pt x="237487" y="31518"/>
                </a:lnTo>
                <a:lnTo>
                  <a:pt x="251969" y="0"/>
                </a:lnTo>
                <a:lnTo>
                  <a:pt x="273542" y="10082"/>
                </a:lnTo>
                <a:lnTo>
                  <a:pt x="259188" y="41320"/>
                </a:lnTo>
                <a:lnTo>
                  <a:pt x="245240" y="72741"/>
                </a:lnTo>
                <a:lnTo>
                  <a:pt x="231700" y="104340"/>
                </a:lnTo>
                <a:lnTo>
                  <a:pt x="218570" y="136111"/>
                </a:lnTo>
                <a:lnTo>
                  <a:pt x="205852" y="168050"/>
                </a:lnTo>
                <a:lnTo>
                  <a:pt x="193549" y="200151"/>
                </a:lnTo>
                <a:lnTo>
                  <a:pt x="181663" y="232408"/>
                </a:lnTo>
                <a:lnTo>
                  <a:pt x="170195" y="264817"/>
                </a:lnTo>
                <a:lnTo>
                  <a:pt x="159148" y="297371"/>
                </a:lnTo>
                <a:lnTo>
                  <a:pt x="148524" y="330066"/>
                </a:lnTo>
                <a:lnTo>
                  <a:pt x="138323" y="362895"/>
                </a:lnTo>
                <a:lnTo>
                  <a:pt x="128549" y="395854"/>
                </a:lnTo>
                <a:lnTo>
                  <a:pt x="119202" y="428937"/>
                </a:lnTo>
                <a:lnTo>
                  <a:pt x="110284" y="462138"/>
                </a:lnTo>
                <a:lnTo>
                  <a:pt x="101797" y="495451"/>
                </a:lnTo>
                <a:lnTo>
                  <a:pt x="93742" y="528872"/>
                </a:lnTo>
                <a:lnTo>
                  <a:pt x="86120" y="562394"/>
                </a:lnTo>
                <a:lnTo>
                  <a:pt x="78933" y="596012"/>
                </a:lnTo>
                <a:lnTo>
                  <a:pt x="72182" y="629720"/>
                </a:lnTo>
                <a:lnTo>
                  <a:pt x="65867" y="663513"/>
                </a:lnTo>
                <a:lnTo>
                  <a:pt x="59991" y="697385"/>
                </a:lnTo>
                <a:lnTo>
                  <a:pt x="54554" y="731330"/>
                </a:lnTo>
                <a:lnTo>
                  <a:pt x="49557" y="765342"/>
                </a:lnTo>
                <a:lnTo>
                  <a:pt x="45001" y="799417"/>
                </a:lnTo>
                <a:lnTo>
                  <a:pt x="40886" y="833547"/>
                </a:lnTo>
                <a:lnTo>
                  <a:pt x="37213" y="867728"/>
                </a:lnTo>
                <a:lnTo>
                  <a:pt x="33984" y="901954"/>
                </a:lnTo>
                <a:lnTo>
                  <a:pt x="31197" y="936218"/>
                </a:lnTo>
                <a:lnTo>
                  <a:pt x="28855" y="970516"/>
                </a:lnTo>
                <a:lnTo>
                  <a:pt x="26957" y="1004841"/>
                </a:lnTo>
                <a:lnTo>
                  <a:pt x="25503" y="1039188"/>
                </a:lnTo>
                <a:lnTo>
                  <a:pt x="24495" y="1073551"/>
                </a:lnTo>
                <a:lnTo>
                  <a:pt x="23931" y="1107924"/>
                </a:lnTo>
                <a:lnTo>
                  <a:pt x="23812" y="1142302"/>
                </a:lnTo>
                <a:lnTo>
                  <a:pt x="24139" y="1176678"/>
                </a:lnTo>
                <a:lnTo>
                  <a:pt x="24910" y="1211047"/>
                </a:lnTo>
                <a:lnTo>
                  <a:pt x="26127" y="1245403"/>
                </a:lnTo>
                <a:lnTo>
                  <a:pt x="27788" y="1279740"/>
                </a:lnTo>
                <a:lnTo>
                  <a:pt x="29894" y="1314054"/>
                </a:lnTo>
                <a:lnTo>
                  <a:pt x="32444" y="1348337"/>
                </a:lnTo>
                <a:lnTo>
                  <a:pt x="35437" y="1382584"/>
                </a:lnTo>
                <a:lnTo>
                  <a:pt x="38874" y="1416789"/>
                </a:lnTo>
                <a:lnTo>
                  <a:pt x="42753" y="1450947"/>
                </a:lnTo>
                <a:lnTo>
                  <a:pt x="47074" y="1485052"/>
                </a:lnTo>
                <a:lnTo>
                  <a:pt x="51836" y="1519098"/>
                </a:lnTo>
                <a:lnTo>
                  <a:pt x="57039" y="1553080"/>
                </a:lnTo>
                <a:lnTo>
                  <a:pt x="62681" y="1586992"/>
                </a:lnTo>
                <a:lnTo>
                  <a:pt x="68762" y="1620827"/>
                </a:lnTo>
                <a:lnTo>
                  <a:pt x="75281" y="1654581"/>
                </a:lnTo>
                <a:lnTo>
                  <a:pt x="82236" y="1688248"/>
                </a:lnTo>
                <a:lnTo>
                  <a:pt x="89626" y="1721822"/>
                </a:lnTo>
                <a:lnTo>
                  <a:pt x="97450" y="1755297"/>
                </a:lnTo>
                <a:lnTo>
                  <a:pt x="105707" y="1788669"/>
                </a:lnTo>
                <a:lnTo>
                  <a:pt x="114396" y="1821930"/>
                </a:lnTo>
                <a:lnTo>
                  <a:pt x="123514" y="1855077"/>
                </a:lnTo>
                <a:lnTo>
                  <a:pt x="133061" y="1888102"/>
                </a:lnTo>
                <a:lnTo>
                  <a:pt x="143035" y="1921001"/>
                </a:lnTo>
                <a:lnTo>
                  <a:pt x="153434" y="1953768"/>
                </a:lnTo>
                <a:lnTo>
                  <a:pt x="164256" y="1986398"/>
                </a:lnTo>
                <a:lnTo>
                  <a:pt x="175499" y="2018885"/>
                </a:lnTo>
                <a:lnTo>
                  <a:pt x="187163" y="2051224"/>
                </a:lnTo>
                <a:lnTo>
                  <a:pt x="199244" y="2083409"/>
                </a:lnTo>
                <a:lnTo>
                  <a:pt x="211741" y="2115435"/>
                </a:lnTo>
                <a:lnTo>
                  <a:pt x="224651" y="2147296"/>
                </a:lnTo>
                <a:lnTo>
                  <a:pt x="237973" y="2178987"/>
                </a:lnTo>
                <a:lnTo>
                  <a:pt x="251704" y="2210504"/>
                </a:lnTo>
                <a:lnTo>
                  <a:pt x="265842" y="2241840"/>
                </a:lnTo>
                <a:lnTo>
                  <a:pt x="280385" y="2272990"/>
                </a:lnTo>
                <a:lnTo>
                  <a:pt x="295329" y="2303949"/>
                </a:lnTo>
                <a:lnTo>
                  <a:pt x="310674" y="2334713"/>
                </a:lnTo>
                <a:lnTo>
                  <a:pt x="326415" y="2365275"/>
                </a:lnTo>
                <a:lnTo>
                  <a:pt x="342551" y="2395630"/>
                </a:lnTo>
                <a:lnTo>
                  <a:pt x="359078" y="2425774"/>
                </a:lnTo>
                <a:lnTo>
                  <a:pt x="375994" y="2455702"/>
                </a:lnTo>
                <a:lnTo>
                  <a:pt x="393296" y="2485408"/>
                </a:lnTo>
                <a:lnTo>
                  <a:pt x="410982" y="2514888"/>
                </a:lnTo>
                <a:lnTo>
                  <a:pt x="429048" y="2544136"/>
                </a:lnTo>
                <a:lnTo>
                  <a:pt x="447490" y="2573148"/>
                </a:lnTo>
                <a:lnTo>
                  <a:pt x="466307" y="2601918"/>
                </a:lnTo>
                <a:lnTo>
                  <a:pt x="485495" y="2630443"/>
                </a:lnTo>
                <a:lnTo>
                  <a:pt x="505051" y="2658717"/>
                </a:lnTo>
                <a:lnTo>
                  <a:pt x="524971" y="2686735"/>
                </a:lnTo>
                <a:lnTo>
                  <a:pt x="545252" y="2714493"/>
                </a:lnTo>
                <a:lnTo>
                  <a:pt x="565891" y="2741986"/>
                </a:lnTo>
                <a:lnTo>
                  <a:pt x="586884" y="2769209"/>
                </a:lnTo>
                <a:lnTo>
                  <a:pt x="608228" y="2796159"/>
                </a:lnTo>
                <a:close/>
              </a:path>
            </a:pathLst>
          </a:custGeom>
          <a:solidFill xmlns:a="http://schemas.openxmlformats.org/drawingml/2006/main">
            <a:srgbClr val="3D4799"/>
          </a:solidFill>
          <a:ln xmlns:a="http://schemas.openxmlformats.org/drawingml/2006/main" w="0">
            <a:noFill/>
          </a:ln>
        </p:spPr>
      </p:sp>
      <p:sp>
        <p:nvSpPr>
          <p:cNvPr id="260" name="research_notes-zero-baseline">
            <a:extLst xmlns:a="http://schemas.openxmlformats.org/drawingml/2006/main">
              <a:ext uri="{FF2B5EF4-FFF2-40B4-BE49-F238E27FC236}">
                <a16:creationId xmlns:a16="http://schemas.microsoft.com/office/drawing/2014/main" id="{78A530DF-ED47-4A42-AAB6-5EDF097181FF}"/>
              </a:ext>
            </a:extLst>
          </p:cNvPr>
          <p:cNvSpPr>
            <a:spLocks xmlns:a="http://schemas.openxmlformats.org/drawingml/2006/main" noGrp="1"/>
          </p:cNvSpPr>
          <p:nvPr/>
        </p:nvSpPr>
        <p:spPr>
          <a:xfrm xmlns:a="http://schemas.openxmlformats.org/drawingml/2006/main">
            <a:off x="3858235" y="3792524"/>
            <a:ext cx="1155725" cy="986708"/>
          </a:xfrm>
          <a:custGeom xmlns:a="http://schemas.openxmlformats.org/drawingml/2006/main">
            <a:pathLst>
              <a:path w="1155725" h="986708">
                <a:moveTo>
                  <a:pt x="0" y="973617"/>
                </a:moveTo>
                <a:lnTo>
                  <a:pt x="19231" y="944804"/>
                </a:lnTo>
                <a:lnTo>
                  <a:pt x="38833" y="916241"/>
                </a:lnTo>
                <a:lnTo>
                  <a:pt x="58802" y="887935"/>
                </a:lnTo>
                <a:lnTo>
                  <a:pt x="79136" y="859889"/>
                </a:lnTo>
                <a:lnTo>
                  <a:pt x="99831" y="832109"/>
                </a:lnTo>
                <a:lnTo>
                  <a:pt x="120884" y="804598"/>
                </a:lnTo>
                <a:lnTo>
                  <a:pt x="142290" y="777362"/>
                </a:lnTo>
                <a:lnTo>
                  <a:pt x="164047" y="750405"/>
                </a:lnTo>
                <a:lnTo>
                  <a:pt x="186151" y="723732"/>
                </a:lnTo>
                <a:lnTo>
                  <a:pt x="208597" y="697347"/>
                </a:lnTo>
                <a:lnTo>
                  <a:pt x="231383" y="671254"/>
                </a:lnTo>
                <a:lnTo>
                  <a:pt x="254504" y="645458"/>
                </a:lnTo>
                <a:lnTo>
                  <a:pt x="277958" y="619963"/>
                </a:lnTo>
                <a:lnTo>
                  <a:pt x="301738" y="594774"/>
                </a:lnTo>
                <a:lnTo>
                  <a:pt x="325843" y="569894"/>
                </a:lnTo>
                <a:lnTo>
                  <a:pt x="350267" y="545328"/>
                </a:lnTo>
                <a:lnTo>
                  <a:pt x="375007" y="521079"/>
                </a:lnTo>
                <a:lnTo>
                  <a:pt x="400058" y="497153"/>
                </a:lnTo>
                <a:lnTo>
                  <a:pt x="425417" y="473553"/>
                </a:lnTo>
                <a:lnTo>
                  <a:pt x="451078" y="450282"/>
                </a:lnTo>
                <a:lnTo>
                  <a:pt x="477039" y="427346"/>
                </a:lnTo>
                <a:lnTo>
                  <a:pt x="503294" y="404747"/>
                </a:lnTo>
                <a:lnTo>
                  <a:pt x="529839" y="382489"/>
                </a:lnTo>
                <a:lnTo>
                  <a:pt x="556669" y="360577"/>
                </a:lnTo>
                <a:lnTo>
                  <a:pt x="583781" y="339013"/>
                </a:lnTo>
                <a:lnTo>
                  <a:pt x="611169" y="317801"/>
                </a:lnTo>
                <a:lnTo>
                  <a:pt x="638829" y="296946"/>
                </a:lnTo>
                <a:lnTo>
                  <a:pt x="666756" y="276450"/>
                </a:lnTo>
                <a:lnTo>
                  <a:pt x="694947" y="256317"/>
                </a:lnTo>
                <a:lnTo>
                  <a:pt x="723395" y="236550"/>
                </a:lnTo>
                <a:lnTo>
                  <a:pt x="752096" y="217152"/>
                </a:lnTo>
                <a:lnTo>
                  <a:pt x="781046" y="198127"/>
                </a:lnTo>
                <a:lnTo>
                  <a:pt x="810240" y="179479"/>
                </a:lnTo>
                <a:lnTo>
                  <a:pt x="839672" y="161209"/>
                </a:lnTo>
                <a:lnTo>
                  <a:pt x="869338" y="143321"/>
                </a:lnTo>
                <a:lnTo>
                  <a:pt x="899232" y="125819"/>
                </a:lnTo>
                <a:lnTo>
                  <a:pt x="929351" y="108704"/>
                </a:lnTo>
                <a:lnTo>
                  <a:pt x="959688" y="91981"/>
                </a:lnTo>
                <a:lnTo>
                  <a:pt x="990239" y="75651"/>
                </a:lnTo>
                <a:lnTo>
                  <a:pt x="1020999" y="59717"/>
                </a:lnTo>
                <a:lnTo>
                  <a:pt x="1051962" y="44183"/>
                </a:lnTo>
                <a:lnTo>
                  <a:pt x="1083124" y="29050"/>
                </a:lnTo>
                <a:lnTo>
                  <a:pt x="1114478" y="14322"/>
                </a:lnTo>
                <a:lnTo>
                  <a:pt x="1146021" y="0"/>
                </a:lnTo>
                <a:lnTo>
                  <a:pt x="1155725" y="21745"/>
                </a:lnTo>
                <a:lnTo>
                  <a:pt x="1124463" y="35940"/>
                </a:lnTo>
                <a:lnTo>
                  <a:pt x="1093387" y="50537"/>
                </a:lnTo>
                <a:lnTo>
                  <a:pt x="1062503" y="65536"/>
                </a:lnTo>
                <a:lnTo>
                  <a:pt x="1031815" y="80932"/>
                </a:lnTo>
                <a:lnTo>
                  <a:pt x="1001329" y="96724"/>
                </a:lnTo>
                <a:lnTo>
                  <a:pt x="971049" y="112909"/>
                </a:lnTo>
                <a:lnTo>
                  <a:pt x="940981" y="129483"/>
                </a:lnTo>
                <a:lnTo>
                  <a:pt x="911131" y="146446"/>
                </a:lnTo>
                <a:lnTo>
                  <a:pt x="881502" y="163793"/>
                </a:lnTo>
                <a:lnTo>
                  <a:pt x="852099" y="181521"/>
                </a:lnTo>
                <a:lnTo>
                  <a:pt x="822929" y="199629"/>
                </a:lnTo>
                <a:lnTo>
                  <a:pt x="793995" y="218112"/>
                </a:lnTo>
                <a:lnTo>
                  <a:pt x="765302" y="236967"/>
                </a:lnTo>
                <a:lnTo>
                  <a:pt x="736856" y="256192"/>
                </a:lnTo>
                <a:lnTo>
                  <a:pt x="708661" y="275784"/>
                </a:lnTo>
                <a:lnTo>
                  <a:pt x="680721" y="295738"/>
                </a:lnTo>
                <a:lnTo>
                  <a:pt x="653042" y="316052"/>
                </a:lnTo>
                <a:lnTo>
                  <a:pt x="625627" y="336722"/>
                </a:lnTo>
                <a:lnTo>
                  <a:pt x="598483" y="357745"/>
                </a:lnTo>
                <a:lnTo>
                  <a:pt x="571612" y="379117"/>
                </a:lnTo>
                <a:lnTo>
                  <a:pt x="545020" y="400835"/>
                </a:lnTo>
                <a:lnTo>
                  <a:pt x="518711" y="422894"/>
                </a:lnTo>
                <a:lnTo>
                  <a:pt x="492690" y="445292"/>
                </a:lnTo>
                <a:lnTo>
                  <a:pt x="466960" y="468025"/>
                </a:lnTo>
                <a:lnTo>
                  <a:pt x="441527" y="491089"/>
                </a:lnTo>
                <a:lnTo>
                  <a:pt x="416393" y="514479"/>
                </a:lnTo>
                <a:lnTo>
                  <a:pt x="391565" y="538193"/>
                </a:lnTo>
                <a:lnTo>
                  <a:pt x="367045" y="562226"/>
                </a:lnTo>
                <a:lnTo>
                  <a:pt x="342838" y="586573"/>
                </a:lnTo>
                <a:lnTo>
                  <a:pt x="318947" y="611232"/>
                </a:lnTo>
                <a:lnTo>
                  <a:pt x="295378" y="636198"/>
                </a:lnTo>
                <a:lnTo>
                  <a:pt x="272133" y="661466"/>
                </a:lnTo>
                <a:lnTo>
                  <a:pt x="249218" y="687032"/>
                </a:lnTo>
                <a:lnTo>
                  <a:pt x="226634" y="712893"/>
                </a:lnTo>
                <a:lnTo>
                  <a:pt x="204387" y="739044"/>
                </a:lnTo>
                <a:lnTo>
                  <a:pt x="182480" y="765480"/>
                </a:lnTo>
                <a:lnTo>
                  <a:pt x="160917" y="792198"/>
                </a:lnTo>
                <a:lnTo>
                  <a:pt x="139700" y="819192"/>
                </a:lnTo>
                <a:lnTo>
                  <a:pt x="118835" y="846458"/>
                </a:lnTo>
                <a:lnTo>
                  <a:pt x="98324" y="873991"/>
                </a:lnTo>
                <a:lnTo>
                  <a:pt x="78171" y="901788"/>
                </a:lnTo>
                <a:lnTo>
                  <a:pt x="58379" y="929842"/>
                </a:lnTo>
                <a:lnTo>
                  <a:pt x="38951" y="958151"/>
                </a:lnTo>
                <a:lnTo>
                  <a:pt x="19891" y="986708"/>
                </a:lnTo>
                <a:close/>
              </a:path>
            </a:pathLst>
          </a:custGeom>
          <a:solidFill xmlns:a="http://schemas.openxmlformats.org/drawingml/2006/main">
            <a:srgbClr val="AA4829"/>
          </a:solidFill>
          <a:ln xmlns:a="http://schemas.openxmlformats.org/drawingml/2006/main" w="0">
            <a:noFill/>
          </a:ln>
        </p:spPr>
      </p:sp>
      <p:sp>
        <p:nvSpPr>
          <p:cNvPr id="261" name="chapter-4-0">
            <a:extLst xmlns:a="http://schemas.openxmlformats.org/drawingml/2006/main">
              <a:ext uri="{FF2B5EF4-FFF2-40B4-BE49-F238E27FC236}">
                <a16:creationId xmlns:a16="http://schemas.microsoft.com/office/drawing/2014/main" id="{780F0C64-BDA0-4C90-A2E6-0F9E731B528F}"/>
              </a:ext>
            </a:extLst>
          </p:cNvPr>
          <p:cNvSpPr>
            <a:spLocks xmlns:a="http://schemas.openxmlformats.org/drawingml/2006/main" noGrp="1"/>
          </p:cNvSpPr>
          <p:nvPr/>
        </p:nvSpPr>
        <p:spPr>
          <a:xfrm xmlns:a="http://schemas.openxmlformats.org/drawingml/2006/main" rot="1913052">
            <a:off x="8829670" y="129793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F82"/>
                </a:solidFill>
                <a:latin typeface="Arial"/>
                <a:ea typeface="Arial"/>
                <a:cs typeface="Arial"/>
              </a:defRPr>
            </a:pPr>
            <a:r>
              <a:rPr sz="1725" b="0">
                <a:solidFill>
                  <a:srgbClr val="087F82"/>
                </a:solidFill>
                <a:latin typeface="Arial"/>
                <a:ea typeface="Arial"/>
                <a:cs typeface="Arial"/>
              </a:rPr>
              <a:t>C</a:t>
            </a:r>
          </a:p>
        </p:txBody>
      </p:sp>
      <p:sp>
        <p:nvSpPr>
          <p:cNvPr id="262" name="chapter-4-1">
            <a:extLst xmlns:a="http://schemas.openxmlformats.org/drawingml/2006/main">
              <a:ext uri="{FF2B5EF4-FFF2-40B4-BE49-F238E27FC236}">
                <a16:creationId xmlns:a16="http://schemas.microsoft.com/office/drawing/2014/main" id="{59619171-0382-435F-B720-915B27281577}"/>
              </a:ext>
            </a:extLst>
          </p:cNvPr>
          <p:cNvSpPr>
            <a:spLocks xmlns:a="http://schemas.openxmlformats.org/drawingml/2006/main" noGrp="1"/>
          </p:cNvSpPr>
          <p:nvPr/>
        </p:nvSpPr>
        <p:spPr>
          <a:xfrm xmlns:a="http://schemas.openxmlformats.org/drawingml/2006/main" rot="2003554">
            <a:off x="8953194" y="137705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F82"/>
                </a:solidFill>
                <a:latin typeface="Arial"/>
                <a:ea typeface="Arial"/>
                <a:cs typeface="Arial"/>
              </a:defRPr>
            </a:pPr>
            <a:r>
              <a:rPr sz="1725" b="0">
                <a:solidFill>
                  <a:srgbClr val="087F82"/>
                </a:solidFill>
                <a:latin typeface="Arial"/>
                <a:ea typeface="Arial"/>
                <a:cs typeface="Arial"/>
              </a:rPr>
              <a:t>h</a:t>
            </a:r>
          </a:p>
        </p:txBody>
      </p:sp>
      <p:sp>
        <p:nvSpPr>
          <p:cNvPr id="263" name="chapter-4-2">
            <a:extLst xmlns:a="http://schemas.openxmlformats.org/drawingml/2006/main">
              <a:ext uri="{FF2B5EF4-FFF2-40B4-BE49-F238E27FC236}">
                <a16:creationId xmlns:a16="http://schemas.microsoft.com/office/drawing/2014/main" id="{7B8EC28A-D3A4-4C9D-83E0-982CA7F8DA6E}"/>
              </a:ext>
            </a:extLst>
          </p:cNvPr>
          <p:cNvSpPr>
            <a:spLocks xmlns:a="http://schemas.openxmlformats.org/drawingml/2006/main" noGrp="1"/>
          </p:cNvSpPr>
          <p:nvPr/>
        </p:nvSpPr>
        <p:spPr>
          <a:xfrm xmlns:a="http://schemas.openxmlformats.org/drawingml/2006/main" rot="2064028">
            <a:off x="9034554" y="143171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F82"/>
                </a:solidFill>
                <a:latin typeface="Arial"/>
                <a:ea typeface="Arial"/>
                <a:cs typeface="Arial"/>
              </a:defRPr>
            </a:pPr>
            <a:r>
              <a:rPr sz="1725" b="0">
                <a:solidFill>
                  <a:srgbClr val="087F82"/>
                </a:solidFill>
                <a:latin typeface="Arial"/>
                <a:ea typeface="Arial"/>
                <a:cs typeface="Arial"/>
              </a:rPr>
              <a:t>.</a:t>
            </a:r>
          </a:p>
        </p:txBody>
      </p:sp>
      <p:sp>
        <p:nvSpPr>
          <p:cNvPr id="264" name="chapter-4-4">
            <a:extLst xmlns:a="http://schemas.openxmlformats.org/drawingml/2006/main">
              <a:ext uri="{FF2B5EF4-FFF2-40B4-BE49-F238E27FC236}">
                <a16:creationId xmlns:a16="http://schemas.microsoft.com/office/drawing/2014/main" id="{C9833A81-0A65-4BDB-9108-4CBD22B6C789}"/>
              </a:ext>
            </a:extLst>
          </p:cNvPr>
          <p:cNvSpPr>
            <a:spLocks xmlns:a="http://schemas.openxmlformats.org/drawingml/2006/main" noGrp="1"/>
          </p:cNvSpPr>
          <p:nvPr/>
        </p:nvSpPr>
        <p:spPr>
          <a:xfrm xmlns:a="http://schemas.openxmlformats.org/drawingml/2006/main" rot="2166167">
            <a:off x="9169745" y="152726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F82"/>
                </a:solidFill>
                <a:latin typeface="Arial"/>
                <a:ea typeface="Arial"/>
                <a:cs typeface="Arial"/>
              </a:defRPr>
            </a:pPr>
            <a:r>
              <a:rPr sz="1725" b="0">
                <a:solidFill>
                  <a:srgbClr val="087F82"/>
                </a:solidFill>
                <a:latin typeface="Arial"/>
                <a:ea typeface="Arial"/>
                <a:cs typeface="Arial"/>
              </a:rPr>
              <a:t>4</a:t>
            </a:r>
          </a:p>
        </p:txBody>
      </p:sp>
      <p:sp>
        <p:nvSpPr>
          <p:cNvPr id="265" name="chapter-4-arc-a">
            <a:extLst xmlns:a="http://schemas.openxmlformats.org/drawingml/2006/main">
              <a:ext uri="{FF2B5EF4-FFF2-40B4-BE49-F238E27FC236}">
                <a16:creationId xmlns:a16="http://schemas.microsoft.com/office/drawing/2014/main" id="{A2632795-55C7-4555-BD3A-40E9779D0334}"/>
              </a:ext>
            </a:extLst>
          </p:cNvPr>
          <p:cNvSpPr>
            <a:spLocks xmlns:a="http://schemas.openxmlformats.org/drawingml/2006/main" noGrp="1"/>
          </p:cNvSpPr>
          <p:nvPr/>
        </p:nvSpPr>
        <p:spPr>
          <a:xfrm xmlns:a="http://schemas.openxmlformats.org/drawingml/2006/main">
            <a:off x="6740171" y="694778"/>
            <a:ext cx="2084910" cy="691738"/>
          </a:xfrm>
          <a:custGeom xmlns:a="http://schemas.openxmlformats.org/drawingml/2006/main">
            <a:pathLst>
              <a:path w="2084910" h="691738">
                <a:moveTo>
                  <a:pt x="2206" y="0"/>
                </a:moveTo>
                <a:lnTo>
                  <a:pt x="72760" y="8681"/>
                </a:lnTo>
                <a:lnTo>
                  <a:pt x="143197" y="18261"/>
                </a:lnTo>
                <a:lnTo>
                  <a:pt x="213507" y="28736"/>
                </a:lnTo>
                <a:lnTo>
                  <a:pt x="283678" y="40107"/>
                </a:lnTo>
                <a:lnTo>
                  <a:pt x="353698" y="52369"/>
                </a:lnTo>
                <a:lnTo>
                  <a:pt x="423556" y="65523"/>
                </a:lnTo>
                <a:lnTo>
                  <a:pt x="493241" y="79565"/>
                </a:lnTo>
                <a:lnTo>
                  <a:pt x="562742" y="94494"/>
                </a:lnTo>
                <a:lnTo>
                  <a:pt x="632047" y="110306"/>
                </a:lnTo>
                <a:lnTo>
                  <a:pt x="701145" y="127000"/>
                </a:lnTo>
                <a:lnTo>
                  <a:pt x="770025" y="144572"/>
                </a:lnTo>
                <a:lnTo>
                  <a:pt x="838675" y="163021"/>
                </a:lnTo>
                <a:lnTo>
                  <a:pt x="907085" y="182342"/>
                </a:lnTo>
                <a:lnTo>
                  <a:pt x="975243" y="202532"/>
                </a:lnTo>
                <a:lnTo>
                  <a:pt x="1043139" y="223589"/>
                </a:lnTo>
                <a:lnTo>
                  <a:pt x="1110760" y="245509"/>
                </a:lnTo>
                <a:lnTo>
                  <a:pt x="1178098" y="268289"/>
                </a:lnTo>
                <a:lnTo>
                  <a:pt x="1245139" y="291924"/>
                </a:lnTo>
                <a:lnTo>
                  <a:pt x="1311874" y="316411"/>
                </a:lnTo>
                <a:lnTo>
                  <a:pt x="1378292" y="341746"/>
                </a:lnTo>
                <a:lnTo>
                  <a:pt x="1444382" y="367925"/>
                </a:lnTo>
                <a:lnTo>
                  <a:pt x="1510133" y="394943"/>
                </a:lnTo>
                <a:lnTo>
                  <a:pt x="1575535" y="422797"/>
                </a:lnTo>
                <a:lnTo>
                  <a:pt x="1640577" y="451481"/>
                </a:lnTo>
                <a:lnTo>
                  <a:pt x="1705248" y="480991"/>
                </a:lnTo>
                <a:lnTo>
                  <a:pt x="1769538" y="511322"/>
                </a:lnTo>
                <a:lnTo>
                  <a:pt x="1833437" y="542470"/>
                </a:lnTo>
                <a:lnTo>
                  <a:pt x="1896933" y="574429"/>
                </a:lnTo>
                <a:lnTo>
                  <a:pt x="1960018" y="607194"/>
                </a:lnTo>
                <a:lnTo>
                  <a:pt x="2022680" y="640759"/>
                </a:lnTo>
                <a:lnTo>
                  <a:pt x="2084910" y="675120"/>
                </a:lnTo>
                <a:lnTo>
                  <a:pt x="2075595" y="691738"/>
                </a:lnTo>
                <a:lnTo>
                  <a:pt x="2013578" y="657494"/>
                </a:lnTo>
                <a:lnTo>
                  <a:pt x="1951130" y="624043"/>
                </a:lnTo>
                <a:lnTo>
                  <a:pt x="1888261" y="591390"/>
                </a:lnTo>
                <a:lnTo>
                  <a:pt x="1824981" y="559540"/>
                </a:lnTo>
                <a:lnTo>
                  <a:pt x="1761300" y="528499"/>
                </a:lnTo>
                <a:lnTo>
                  <a:pt x="1697230" y="498271"/>
                </a:lnTo>
                <a:lnTo>
                  <a:pt x="1632779" y="468862"/>
                </a:lnTo>
                <a:lnTo>
                  <a:pt x="1567959" y="440275"/>
                </a:lnTo>
                <a:lnTo>
                  <a:pt x="1502781" y="412517"/>
                </a:lnTo>
                <a:lnTo>
                  <a:pt x="1437254" y="385591"/>
                </a:lnTo>
                <a:lnTo>
                  <a:pt x="1371390" y="359501"/>
                </a:lnTo>
                <a:lnTo>
                  <a:pt x="1305199" y="334253"/>
                </a:lnTo>
                <a:lnTo>
                  <a:pt x="1238691" y="309850"/>
                </a:lnTo>
                <a:lnTo>
                  <a:pt x="1171878" y="286295"/>
                </a:lnTo>
                <a:lnTo>
                  <a:pt x="1104771" y="263593"/>
                </a:lnTo>
                <a:lnTo>
                  <a:pt x="1037380" y="241748"/>
                </a:lnTo>
                <a:lnTo>
                  <a:pt x="969716" y="220763"/>
                </a:lnTo>
                <a:lnTo>
                  <a:pt x="901790" y="200641"/>
                </a:lnTo>
                <a:lnTo>
                  <a:pt x="833614" y="181386"/>
                </a:lnTo>
                <a:lnTo>
                  <a:pt x="765198" y="163001"/>
                </a:lnTo>
                <a:lnTo>
                  <a:pt x="696553" y="145488"/>
                </a:lnTo>
                <a:lnTo>
                  <a:pt x="627691" y="128852"/>
                </a:lnTo>
                <a:lnTo>
                  <a:pt x="558623" y="113093"/>
                </a:lnTo>
                <a:lnTo>
                  <a:pt x="489360" y="98216"/>
                </a:lnTo>
                <a:lnTo>
                  <a:pt x="419912" y="84221"/>
                </a:lnTo>
                <a:lnTo>
                  <a:pt x="350292" y="71112"/>
                </a:lnTo>
                <a:lnTo>
                  <a:pt x="280511" y="58891"/>
                </a:lnTo>
                <a:lnTo>
                  <a:pt x="210580" y="47560"/>
                </a:lnTo>
                <a:lnTo>
                  <a:pt x="140510" y="37120"/>
                </a:lnTo>
                <a:lnTo>
                  <a:pt x="70313" y="27574"/>
                </a:lnTo>
                <a:lnTo>
                  <a:pt x="0" y="18922"/>
                </a:lnTo>
                <a:close/>
              </a:path>
            </a:pathLst>
          </a:custGeom>
          <a:solidFill xmlns:a="http://schemas.openxmlformats.org/drawingml/2006/main">
            <a:srgbClr val="087F82"/>
          </a:solidFill>
          <a:ln xmlns:a="http://schemas.openxmlformats.org/drawingml/2006/main" w="0">
            <a:noFill/>
          </a:ln>
        </p:spPr>
      </p:sp>
      <p:sp>
        <p:nvSpPr>
          <p:cNvPr id="266" name="chapter-4-arc-b">
            <a:extLst xmlns:a="http://schemas.openxmlformats.org/drawingml/2006/main">
              <a:ext uri="{FF2B5EF4-FFF2-40B4-BE49-F238E27FC236}">
                <a16:creationId xmlns:a16="http://schemas.microsoft.com/office/drawing/2014/main" id="{CAEB5C25-1E92-456A-8604-73E4374C0CD6}"/>
              </a:ext>
            </a:extLst>
          </p:cNvPr>
          <p:cNvSpPr>
            <a:spLocks xmlns:a="http://schemas.openxmlformats.org/drawingml/2006/main" noGrp="1"/>
          </p:cNvSpPr>
          <p:nvPr/>
        </p:nvSpPr>
        <p:spPr>
          <a:xfrm xmlns:a="http://schemas.openxmlformats.org/drawingml/2006/main">
            <a:off x="9561018" y="1872401"/>
            <a:ext cx="1423871" cy="1682418"/>
          </a:xfrm>
          <a:custGeom xmlns:a="http://schemas.openxmlformats.org/drawingml/2006/main">
            <a:pathLst>
              <a:path w="1423871" h="1682418">
                <a:moveTo>
                  <a:pt x="11866" y="0"/>
                </a:moveTo>
                <a:lnTo>
                  <a:pt x="67193" y="44634"/>
                </a:lnTo>
                <a:lnTo>
                  <a:pt x="121947" y="89968"/>
                </a:lnTo>
                <a:lnTo>
                  <a:pt x="176119" y="135996"/>
                </a:lnTo>
                <a:lnTo>
                  <a:pt x="229701" y="182711"/>
                </a:lnTo>
                <a:lnTo>
                  <a:pt x="282683" y="230104"/>
                </a:lnTo>
                <a:lnTo>
                  <a:pt x="335057" y="278167"/>
                </a:lnTo>
                <a:lnTo>
                  <a:pt x="386815" y="326894"/>
                </a:lnTo>
                <a:lnTo>
                  <a:pt x="437948" y="376277"/>
                </a:lnTo>
                <a:lnTo>
                  <a:pt x="488448" y="426306"/>
                </a:lnTo>
                <a:lnTo>
                  <a:pt x="538307" y="476974"/>
                </a:lnTo>
                <a:lnTo>
                  <a:pt x="587517" y="528274"/>
                </a:lnTo>
                <a:lnTo>
                  <a:pt x="636069" y="580196"/>
                </a:lnTo>
                <a:lnTo>
                  <a:pt x="683956" y="632732"/>
                </a:lnTo>
                <a:lnTo>
                  <a:pt x="731171" y="685873"/>
                </a:lnTo>
                <a:lnTo>
                  <a:pt x="777704" y="739612"/>
                </a:lnTo>
                <a:lnTo>
                  <a:pt x="823549" y="793938"/>
                </a:lnTo>
                <a:lnTo>
                  <a:pt x="868699" y="848845"/>
                </a:lnTo>
                <a:lnTo>
                  <a:pt x="913146" y="904322"/>
                </a:lnTo>
                <a:lnTo>
                  <a:pt x="956883" y="960360"/>
                </a:lnTo>
                <a:lnTo>
                  <a:pt x="999903" y="1016951"/>
                </a:lnTo>
                <a:lnTo>
                  <a:pt x="1042198" y="1074085"/>
                </a:lnTo>
                <a:lnTo>
                  <a:pt x="1083762" y="1131753"/>
                </a:lnTo>
                <a:lnTo>
                  <a:pt x="1124589" y="1189946"/>
                </a:lnTo>
                <a:lnTo>
                  <a:pt x="1164671" y="1248654"/>
                </a:lnTo>
                <a:lnTo>
                  <a:pt x="1204002" y="1307867"/>
                </a:lnTo>
                <a:lnTo>
                  <a:pt x="1242576" y="1367577"/>
                </a:lnTo>
                <a:lnTo>
                  <a:pt x="1280386" y="1427773"/>
                </a:lnTo>
                <a:lnTo>
                  <a:pt x="1317427" y="1488446"/>
                </a:lnTo>
                <a:lnTo>
                  <a:pt x="1353692" y="1549586"/>
                </a:lnTo>
                <a:lnTo>
                  <a:pt x="1389175" y="1611183"/>
                </a:lnTo>
                <a:lnTo>
                  <a:pt x="1423871" y="1673226"/>
                </a:lnTo>
                <a:lnTo>
                  <a:pt x="1407185" y="1682418"/>
                </a:lnTo>
                <a:lnTo>
                  <a:pt x="1372608" y="1620586"/>
                </a:lnTo>
                <a:lnTo>
                  <a:pt x="1337246" y="1559200"/>
                </a:lnTo>
                <a:lnTo>
                  <a:pt x="1301104" y="1498269"/>
                </a:lnTo>
                <a:lnTo>
                  <a:pt x="1264190" y="1437803"/>
                </a:lnTo>
                <a:lnTo>
                  <a:pt x="1226509" y="1377812"/>
                </a:lnTo>
                <a:lnTo>
                  <a:pt x="1188067" y="1318306"/>
                </a:lnTo>
                <a:lnTo>
                  <a:pt x="1148870" y="1259295"/>
                </a:lnTo>
                <a:lnTo>
                  <a:pt x="1108925" y="1200787"/>
                </a:lnTo>
                <a:lnTo>
                  <a:pt x="1068237" y="1142793"/>
                </a:lnTo>
                <a:lnTo>
                  <a:pt x="1026815" y="1085322"/>
                </a:lnTo>
                <a:lnTo>
                  <a:pt x="984664" y="1028383"/>
                </a:lnTo>
                <a:lnTo>
                  <a:pt x="941791" y="971985"/>
                </a:lnTo>
                <a:lnTo>
                  <a:pt x="898204" y="916138"/>
                </a:lnTo>
                <a:lnTo>
                  <a:pt x="853908" y="860850"/>
                </a:lnTo>
                <a:lnTo>
                  <a:pt x="808913" y="806131"/>
                </a:lnTo>
                <a:lnTo>
                  <a:pt x="763224" y="751990"/>
                </a:lnTo>
                <a:lnTo>
                  <a:pt x="716849" y="698435"/>
                </a:lnTo>
                <a:lnTo>
                  <a:pt x="669796" y="645475"/>
                </a:lnTo>
                <a:lnTo>
                  <a:pt x="622072" y="593118"/>
                </a:lnTo>
                <a:lnTo>
                  <a:pt x="573686" y="541373"/>
                </a:lnTo>
                <a:lnTo>
                  <a:pt x="524644" y="490249"/>
                </a:lnTo>
                <a:lnTo>
                  <a:pt x="474955" y="439754"/>
                </a:lnTo>
                <a:lnTo>
                  <a:pt x="424628" y="389895"/>
                </a:lnTo>
                <a:lnTo>
                  <a:pt x="373669" y="340681"/>
                </a:lnTo>
                <a:lnTo>
                  <a:pt x="322088" y="292121"/>
                </a:lnTo>
                <a:lnTo>
                  <a:pt x="269892" y="244221"/>
                </a:lnTo>
                <a:lnTo>
                  <a:pt x="217091" y="196990"/>
                </a:lnTo>
                <a:lnTo>
                  <a:pt x="163692" y="150435"/>
                </a:lnTo>
                <a:lnTo>
                  <a:pt x="109705" y="104564"/>
                </a:lnTo>
                <a:lnTo>
                  <a:pt x="55138" y="59384"/>
                </a:lnTo>
                <a:lnTo>
                  <a:pt x="0" y="14903"/>
                </a:lnTo>
                <a:close/>
              </a:path>
            </a:pathLst>
          </a:custGeom>
          <a:solidFill xmlns:a="http://schemas.openxmlformats.org/drawingml/2006/main">
            <a:srgbClr val="087F82"/>
          </a:solidFill>
          <a:ln xmlns:a="http://schemas.openxmlformats.org/drawingml/2006/main" w="0">
            <a:noFill/>
          </a:ln>
        </p:spPr>
      </p:sp>
      <p:sp>
        <p:nvSpPr>
          <p:cNvPr id="267" name="chapter-5-0">
            <a:extLst xmlns:a="http://schemas.openxmlformats.org/drawingml/2006/main">
              <a:ext uri="{FF2B5EF4-FFF2-40B4-BE49-F238E27FC236}">
                <a16:creationId xmlns:a16="http://schemas.microsoft.com/office/drawing/2014/main" id="{114AB088-20C8-477A-853D-FD0854B28CD5}"/>
              </a:ext>
            </a:extLst>
          </p:cNvPr>
          <p:cNvSpPr>
            <a:spLocks xmlns:a="http://schemas.openxmlformats.org/drawingml/2006/main" noGrp="1"/>
          </p:cNvSpPr>
          <p:nvPr/>
        </p:nvSpPr>
        <p:spPr>
          <a:xfrm xmlns:a="http://schemas.openxmlformats.org/drawingml/2006/main" rot="4823052">
            <a:off x="11380287" y="509855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9695B"/>
                </a:solidFill>
                <a:latin typeface="Arial"/>
                <a:ea typeface="Arial"/>
                <a:cs typeface="Arial"/>
              </a:defRPr>
            </a:pPr>
            <a:r>
              <a:rPr sz="1725" b="0">
                <a:solidFill>
                  <a:srgbClr val="09695B"/>
                </a:solidFill>
                <a:latin typeface="Arial"/>
                <a:ea typeface="Arial"/>
                <a:cs typeface="Arial"/>
              </a:rPr>
              <a:t>C</a:t>
            </a:r>
          </a:p>
        </p:txBody>
      </p:sp>
      <p:sp>
        <p:nvSpPr>
          <p:cNvPr id="268" name="chapter-5-1">
            <a:extLst xmlns:a="http://schemas.openxmlformats.org/drawingml/2006/main">
              <a:ext uri="{FF2B5EF4-FFF2-40B4-BE49-F238E27FC236}">
                <a16:creationId xmlns:a16="http://schemas.microsoft.com/office/drawing/2014/main" id="{FB4E7FEA-384F-45C7-BCC0-71880B977BA9}"/>
              </a:ext>
            </a:extLst>
          </p:cNvPr>
          <p:cNvSpPr>
            <a:spLocks xmlns:a="http://schemas.openxmlformats.org/drawingml/2006/main" noGrp="1"/>
          </p:cNvSpPr>
          <p:nvPr/>
        </p:nvSpPr>
        <p:spPr>
          <a:xfrm xmlns:a="http://schemas.openxmlformats.org/drawingml/2006/main" rot="4913554">
            <a:off x="11402884" y="524349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9695B"/>
                </a:solidFill>
                <a:latin typeface="Arial"/>
                <a:ea typeface="Arial"/>
                <a:cs typeface="Arial"/>
              </a:defRPr>
            </a:pPr>
            <a:r>
              <a:rPr sz="1725" b="0">
                <a:solidFill>
                  <a:srgbClr val="09695B"/>
                </a:solidFill>
                <a:latin typeface="Arial"/>
                <a:ea typeface="Arial"/>
                <a:cs typeface="Arial"/>
              </a:rPr>
              <a:t>h</a:t>
            </a:r>
          </a:p>
        </p:txBody>
      </p:sp>
      <p:sp>
        <p:nvSpPr>
          <p:cNvPr id="269" name="chapter-5-2">
            <a:extLst xmlns:a="http://schemas.openxmlformats.org/drawingml/2006/main">
              <a:ext uri="{FF2B5EF4-FFF2-40B4-BE49-F238E27FC236}">
                <a16:creationId xmlns:a16="http://schemas.microsoft.com/office/drawing/2014/main" id="{93FD41EF-24B9-4AE4-A9B3-54059DD7EB2D}"/>
              </a:ext>
            </a:extLst>
          </p:cNvPr>
          <p:cNvSpPr>
            <a:spLocks xmlns:a="http://schemas.openxmlformats.org/drawingml/2006/main" noGrp="1"/>
          </p:cNvSpPr>
          <p:nvPr/>
        </p:nvSpPr>
        <p:spPr>
          <a:xfrm xmlns:a="http://schemas.openxmlformats.org/drawingml/2006/main" rot="4974028">
            <a:off x="11415853" y="534064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9695B"/>
                </a:solidFill>
                <a:latin typeface="Arial"/>
                <a:ea typeface="Arial"/>
                <a:cs typeface="Arial"/>
              </a:defRPr>
            </a:pPr>
            <a:r>
              <a:rPr sz="1725" b="0">
                <a:solidFill>
                  <a:srgbClr val="09695B"/>
                </a:solidFill>
                <a:latin typeface="Arial"/>
                <a:ea typeface="Arial"/>
                <a:cs typeface="Arial"/>
              </a:rPr>
              <a:t>.</a:t>
            </a:r>
          </a:p>
        </p:txBody>
      </p:sp>
      <p:sp>
        <p:nvSpPr>
          <p:cNvPr id="270" name="chapter-5-4">
            <a:extLst xmlns:a="http://schemas.openxmlformats.org/drawingml/2006/main">
              <a:ext uri="{FF2B5EF4-FFF2-40B4-BE49-F238E27FC236}">
                <a16:creationId xmlns:a16="http://schemas.microsoft.com/office/drawing/2014/main" id="{310BE01D-7B5B-493E-801C-1D52A7832F56}"/>
              </a:ext>
            </a:extLst>
          </p:cNvPr>
          <p:cNvSpPr>
            <a:spLocks xmlns:a="http://schemas.openxmlformats.org/drawingml/2006/main" noGrp="1"/>
          </p:cNvSpPr>
          <p:nvPr/>
        </p:nvSpPr>
        <p:spPr>
          <a:xfrm xmlns:a="http://schemas.openxmlformats.org/drawingml/2006/main" rot="5076167">
            <a:off x="11433871" y="550521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9695B"/>
                </a:solidFill>
                <a:latin typeface="Arial"/>
                <a:ea typeface="Arial"/>
                <a:cs typeface="Arial"/>
              </a:defRPr>
            </a:pPr>
            <a:r>
              <a:rPr sz="1725" b="0">
                <a:solidFill>
                  <a:srgbClr val="09695B"/>
                </a:solidFill>
                <a:latin typeface="Arial"/>
                <a:ea typeface="Arial"/>
                <a:cs typeface="Arial"/>
              </a:rPr>
              <a:t>5</a:t>
            </a:r>
          </a:p>
        </p:txBody>
      </p:sp>
      <p:sp>
        <p:nvSpPr>
          <p:cNvPr id="271" name="chapter-5-arc-a">
            <a:extLst xmlns:a="http://schemas.openxmlformats.org/drawingml/2006/main">
              <a:ext uri="{FF2B5EF4-FFF2-40B4-BE49-F238E27FC236}">
                <a16:creationId xmlns:a16="http://schemas.microsoft.com/office/drawing/2014/main" id="{DBD48C4C-393A-433C-99BC-7BD8E26F8B35}"/>
              </a:ext>
            </a:extLst>
          </p:cNvPr>
          <p:cNvSpPr>
            <a:spLocks xmlns:a="http://schemas.openxmlformats.org/drawingml/2006/main" noGrp="1"/>
          </p:cNvSpPr>
          <p:nvPr/>
        </p:nvSpPr>
        <p:spPr>
          <a:xfrm xmlns:a="http://schemas.openxmlformats.org/drawingml/2006/main">
            <a:off x="11114629" y="3831517"/>
            <a:ext cx="436363" cy="1229072"/>
          </a:xfrm>
          <a:custGeom xmlns:a="http://schemas.openxmlformats.org/drawingml/2006/main">
            <a:pathLst>
              <a:path w="436363" h="1229072">
                <a:moveTo>
                  <a:pt x="17187" y="0"/>
                </a:moveTo>
                <a:lnTo>
                  <a:pt x="47860" y="65243"/>
                </a:lnTo>
                <a:lnTo>
                  <a:pt x="77688" y="130876"/>
                </a:lnTo>
                <a:lnTo>
                  <a:pt x="106666" y="196889"/>
                </a:lnTo>
                <a:lnTo>
                  <a:pt x="134788" y="263271"/>
                </a:lnTo>
                <a:lnTo>
                  <a:pt x="162051" y="330011"/>
                </a:lnTo>
                <a:lnTo>
                  <a:pt x="188450" y="397097"/>
                </a:lnTo>
                <a:lnTo>
                  <a:pt x="213979" y="464519"/>
                </a:lnTo>
                <a:lnTo>
                  <a:pt x="238636" y="532264"/>
                </a:lnTo>
                <a:lnTo>
                  <a:pt x="262416" y="600323"/>
                </a:lnTo>
                <a:lnTo>
                  <a:pt x="285315" y="668683"/>
                </a:lnTo>
                <a:lnTo>
                  <a:pt x="307329" y="737333"/>
                </a:lnTo>
                <a:lnTo>
                  <a:pt x="328455" y="806262"/>
                </a:lnTo>
                <a:lnTo>
                  <a:pt x="348688" y="875457"/>
                </a:lnTo>
                <a:lnTo>
                  <a:pt x="368026" y="944909"/>
                </a:lnTo>
                <a:lnTo>
                  <a:pt x="386466" y="1014604"/>
                </a:lnTo>
                <a:lnTo>
                  <a:pt x="404004" y="1084531"/>
                </a:lnTo>
                <a:lnTo>
                  <a:pt x="420637" y="1154680"/>
                </a:lnTo>
                <a:lnTo>
                  <a:pt x="436363" y="1225037"/>
                </a:lnTo>
                <a:lnTo>
                  <a:pt x="417745" y="1229072"/>
                </a:lnTo>
                <a:lnTo>
                  <a:pt x="402073" y="1158955"/>
                </a:lnTo>
                <a:lnTo>
                  <a:pt x="385496" y="1089046"/>
                </a:lnTo>
                <a:lnTo>
                  <a:pt x="368019" y="1019357"/>
                </a:lnTo>
                <a:lnTo>
                  <a:pt x="349642" y="949900"/>
                </a:lnTo>
                <a:lnTo>
                  <a:pt x="330370" y="880686"/>
                </a:lnTo>
                <a:lnTo>
                  <a:pt x="310205" y="811726"/>
                </a:lnTo>
                <a:lnTo>
                  <a:pt x="289152" y="743033"/>
                </a:lnTo>
                <a:lnTo>
                  <a:pt x="267213" y="674617"/>
                </a:lnTo>
                <a:lnTo>
                  <a:pt x="244392" y="606490"/>
                </a:lnTo>
                <a:lnTo>
                  <a:pt x="220694" y="538664"/>
                </a:lnTo>
                <a:lnTo>
                  <a:pt x="196121" y="471150"/>
                </a:lnTo>
                <a:lnTo>
                  <a:pt x="170678" y="403958"/>
                </a:lnTo>
                <a:lnTo>
                  <a:pt x="144369" y="337101"/>
                </a:lnTo>
                <a:lnTo>
                  <a:pt x="117200" y="270589"/>
                </a:lnTo>
                <a:lnTo>
                  <a:pt x="89173" y="204434"/>
                </a:lnTo>
                <a:lnTo>
                  <a:pt x="60294" y="138646"/>
                </a:lnTo>
                <a:lnTo>
                  <a:pt x="30568" y="73236"/>
                </a:lnTo>
                <a:lnTo>
                  <a:pt x="0" y="8216"/>
                </a:lnTo>
                <a:close/>
              </a:path>
            </a:pathLst>
          </a:custGeom>
          <a:solidFill xmlns:a="http://schemas.openxmlformats.org/drawingml/2006/main">
            <a:srgbClr val="09695B"/>
          </a:solidFill>
          <a:ln xmlns:a="http://schemas.openxmlformats.org/drawingml/2006/main" w="0">
            <a:noFill/>
          </a:ln>
        </p:spPr>
      </p:sp>
      <p:sp>
        <p:nvSpPr>
          <p:cNvPr id="272" name="chapter-5-arc-b">
            <a:extLst xmlns:a="http://schemas.openxmlformats.org/drawingml/2006/main">
              <a:ext uri="{FF2B5EF4-FFF2-40B4-BE49-F238E27FC236}">
                <a16:creationId xmlns:a16="http://schemas.microsoft.com/office/drawing/2014/main" id="{A101D27A-1769-4A0D-800F-F25DD3926924}"/>
              </a:ext>
            </a:extLst>
          </p:cNvPr>
          <p:cNvSpPr>
            <a:spLocks xmlns:a="http://schemas.openxmlformats.org/drawingml/2006/main" noGrp="1"/>
          </p:cNvSpPr>
          <p:nvPr/>
        </p:nvSpPr>
        <p:spPr>
          <a:xfrm xmlns:a="http://schemas.openxmlformats.org/drawingml/2006/main">
            <a:off x="11568089" y="5949594"/>
            <a:ext cx="109561" cy="1292084"/>
          </a:xfrm>
          <a:custGeom xmlns:a="http://schemas.openxmlformats.org/drawingml/2006/main">
            <a:pathLst>
              <a:path w="109561" h="1292084">
                <a:moveTo>
                  <a:pt x="102060" y="0"/>
                </a:moveTo>
                <a:lnTo>
                  <a:pt x="105331" y="72019"/>
                </a:lnTo>
                <a:lnTo>
                  <a:pt x="107672" y="144074"/>
                </a:lnTo>
                <a:lnTo>
                  <a:pt x="109082" y="216154"/>
                </a:lnTo>
                <a:lnTo>
                  <a:pt x="109561" y="288246"/>
                </a:lnTo>
                <a:lnTo>
                  <a:pt x="109109" y="360337"/>
                </a:lnTo>
                <a:lnTo>
                  <a:pt x="107726" y="432417"/>
                </a:lnTo>
                <a:lnTo>
                  <a:pt x="105411" y="504474"/>
                </a:lnTo>
                <a:lnTo>
                  <a:pt x="102167" y="576494"/>
                </a:lnTo>
                <a:lnTo>
                  <a:pt x="97992" y="648466"/>
                </a:lnTo>
                <a:lnTo>
                  <a:pt x="92888" y="720379"/>
                </a:lnTo>
                <a:lnTo>
                  <a:pt x="86856" y="792219"/>
                </a:lnTo>
                <a:lnTo>
                  <a:pt x="79897" y="863976"/>
                </a:lnTo>
                <a:lnTo>
                  <a:pt x="72011" y="935636"/>
                </a:lnTo>
                <a:lnTo>
                  <a:pt x="63200" y="1007189"/>
                </a:lnTo>
                <a:lnTo>
                  <a:pt x="53466" y="1078622"/>
                </a:lnTo>
                <a:lnTo>
                  <a:pt x="42810" y="1149924"/>
                </a:lnTo>
                <a:lnTo>
                  <a:pt x="31234" y="1221082"/>
                </a:lnTo>
                <a:lnTo>
                  <a:pt x="18740" y="1292084"/>
                </a:lnTo>
                <a:lnTo>
                  <a:pt x="0" y="1288662"/>
                </a:lnTo>
                <a:lnTo>
                  <a:pt x="12451" y="1217902"/>
                </a:lnTo>
                <a:lnTo>
                  <a:pt x="23988" y="1146987"/>
                </a:lnTo>
                <a:lnTo>
                  <a:pt x="34607" y="1075928"/>
                </a:lnTo>
                <a:lnTo>
                  <a:pt x="44308" y="1004739"/>
                </a:lnTo>
                <a:lnTo>
                  <a:pt x="53089" y="933430"/>
                </a:lnTo>
                <a:lnTo>
                  <a:pt x="60948" y="862014"/>
                </a:lnTo>
                <a:lnTo>
                  <a:pt x="67884" y="790503"/>
                </a:lnTo>
                <a:lnTo>
                  <a:pt x="73895" y="718907"/>
                </a:lnTo>
                <a:lnTo>
                  <a:pt x="78982" y="647240"/>
                </a:lnTo>
                <a:lnTo>
                  <a:pt x="83142" y="575514"/>
                </a:lnTo>
                <a:lnTo>
                  <a:pt x="86376" y="503739"/>
                </a:lnTo>
                <a:lnTo>
                  <a:pt x="88682" y="431929"/>
                </a:lnTo>
                <a:lnTo>
                  <a:pt x="90060" y="360095"/>
                </a:lnTo>
                <a:lnTo>
                  <a:pt x="90511" y="288249"/>
                </a:lnTo>
                <a:lnTo>
                  <a:pt x="90034" y="216403"/>
                </a:lnTo>
                <a:lnTo>
                  <a:pt x="88628" y="144570"/>
                </a:lnTo>
                <a:lnTo>
                  <a:pt x="86296" y="72761"/>
                </a:lnTo>
                <a:lnTo>
                  <a:pt x="83035" y="987"/>
                </a:lnTo>
                <a:close/>
              </a:path>
            </a:pathLst>
          </a:custGeom>
          <a:solidFill xmlns:a="http://schemas.openxmlformats.org/drawingml/2006/main">
            <a:srgbClr val="09695B"/>
          </a:solidFill>
          <a:ln xmlns:a="http://schemas.openxmlformats.org/drawingml/2006/main" w="0">
            <a:noFill/>
          </a:ln>
        </p:spPr>
      </p:sp>
      <p:sp>
        <p:nvSpPr>
          <p:cNvPr id="273" name="chapter-6-0">
            <a:extLst xmlns:a="http://schemas.openxmlformats.org/drawingml/2006/main">
              <a:ext uri="{FF2B5EF4-FFF2-40B4-BE49-F238E27FC236}">
                <a16:creationId xmlns:a16="http://schemas.microsoft.com/office/drawing/2014/main" id="{44CD5093-064F-4B55-9852-DF654FB5F1B4}"/>
              </a:ext>
            </a:extLst>
          </p:cNvPr>
          <p:cNvSpPr>
            <a:spLocks xmlns:a="http://schemas.openxmlformats.org/drawingml/2006/main" noGrp="1"/>
          </p:cNvSpPr>
          <p:nvPr/>
        </p:nvSpPr>
        <p:spPr>
          <a:xfrm xmlns:a="http://schemas.openxmlformats.org/drawingml/2006/main" rot="-2267052">
            <a:off x="9300431" y="10433109"/>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238351"/>
                </a:solidFill>
                <a:latin typeface="Arial"/>
                <a:ea typeface="Arial"/>
                <a:cs typeface="Arial"/>
              </a:defRPr>
            </a:pPr>
            <a:r>
              <a:rPr sz="1725" b="0">
                <a:solidFill>
                  <a:srgbClr val="238351"/>
                </a:solidFill>
                <a:latin typeface="Arial"/>
                <a:ea typeface="Arial"/>
                <a:cs typeface="Arial"/>
              </a:rPr>
              <a:t>C</a:t>
            </a:r>
          </a:p>
        </p:txBody>
      </p:sp>
      <p:sp>
        <p:nvSpPr>
          <p:cNvPr id="274" name="chapter-6-1">
            <a:extLst xmlns:a="http://schemas.openxmlformats.org/drawingml/2006/main">
              <a:ext uri="{FF2B5EF4-FFF2-40B4-BE49-F238E27FC236}">
                <a16:creationId xmlns:a16="http://schemas.microsoft.com/office/drawing/2014/main" id="{CF0AEED1-C154-4535-85A8-5B1B33E6E48C}"/>
              </a:ext>
            </a:extLst>
          </p:cNvPr>
          <p:cNvSpPr>
            <a:spLocks xmlns:a="http://schemas.openxmlformats.org/drawingml/2006/main" noGrp="1"/>
          </p:cNvSpPr>
          <p:nvPr/>
        </p:nvSpPr>
        <p:spPr>
          <a:xfrm xmlns:a="http://schemas.openxmlformats.org/drawingml/2006/main" rot="-2357554">
            <a:off x="9415168" y="1034171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238351"/>
                </a:solidFill>
                <a:latin typeface="Arial"/>
                <a:ea typeface="Arial"/>
                <a:cs typeface="Arial"/>
              </a:defRPr>
            </a:pPr>
            <a:r>
              <a:rPr sz="1725" b="0">
                <a:solidFill>
                  <a:srgbClr val="238351"/>
                </a:solidFill>
                <a:latin typeface="Arial"/>
                <a:ea typeface="Arial"/>
                <a:cs typeface="Arial"/>
              </a:rPr>
              <a:t>h</a:t>
            </a:r>
          </a:p>
        </p:txBody>
      </p:sp>
      <p:sp>
        <p:nvSpPr>
          <p:cNvPr id="275" name="chapter-6-2">
            <a:extLst xmlns:a="http://schemas.openxmlformats.org/drawingml/2006/main">
              <a:ext uri="{FF2B5EF4-FFF2-40B4-BE49-F238E27FC236}">
                <a16:creationId xmlns:a16="http://schemas.microsoft.com/office/drawing/2014/main" id="{7389A853-CE20-49D0-8831-CF7B02E6D386}"/>
              </a:ext>
            </a:extLst>
          </p:cNvPr>
          <p:cNvSpPr>
            <a:spLocks xmlns:a="http://schemas.openxmlformats.org/drawingml/2006/main" noGrp="1"/>
          </p:cNvSpPr>
          <p:nvPr/>
        </p:nvSpPr>
        <p:spPr>
          <a:xfrm xmlns:a="http://schemas.openxmlformats.org/drawingml/2006/main" rot="-2418028">
            <a:off x="9490478" y="10278979"/>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238351"/>
                </a:solidFill>
                <a:latin typeface="Arial"/>
                <a:ea typeface="Arial"/>
                <a:cs typeface="Arial"/>
              </a:defRPr>
            </a:pPr>
            <a:r>
              <a:rPr sz="1725" b="0">
                <a:solidFill>
                  <a:srgbClr val="238351"/>
                </a:solidFill>
                <a:latin typeface="Arial"/>
                <a:ea typeface="Arial"/>
                <a:cs typeface="Arial"/>
              </a:rPr>
              <a:t>.</a:t>
            </a:r>
          </a:p>
        </p:txBody>
      </p:sp>
      <p:sp>
        <p:nvSpPr>
          <p:cNvPr id="276" name="chapter-6-4">
            <a:extLst xmlns:a="http://schemas.openxmlformats.org/drawingml/2006/main">
              <a:ext uri="{FF2B5EF4-FFF2-40B4-BE49-F238E27FC236}">
                <a16:creationId xmlns:a16="http://schemas.microsoft.com/office/drawing/2014/main" id="{C876EF2F-5AF2-4CA2-8015-ADFCCF580D79}"/>
              </a:ext>
            </a:extLst>
          </p:cNvPr>
          <p:cNvSpPr>
            <a:spLocks xmlns:a="http://schemas.openxmlformats.org/drawingml/2006/main" noGrp="1"/>
          </p:cNvSpPr>
          <p:nvPr/>
        </p:nvSpPr>
        <p:spPr>
          <a:xfrm xmlns:a="http://schemas.openxmlformats.org/drawingml/2006/main" rot="-2520167">
            <a:off x="9615131" y="1017004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238351"/>
                </a:solidFill>
                <a:latin typeface="Arial"/>
                <a:ea typeface="Arial"/>
                <a:cs typeface="Arial"/>
              </a:defRPr>
            </a:pPr>
            <a:r>
              <a:rPr sz="1725" b="0">
                <a:solidFill>
                  <a:srgbClr val="238351"/>
                </a:solidFill>
                <a:latin typeface="Arial"/>
                <a:ea typeface="Arial"/>
                <a:cs typeface="Arial"/>
              </a:rPr>
              <a:t>6</a:t>
            </a:r>
          </a:p>
        </p:txBody>
      </p:sp>
      <p:sp>
        <p:nvSpPr>
          <p:cNvPr id="277" name="chapter-6-arc-a">
            <a:extLst xmlns:a="http://schemas.openxmlformats.org/drawingml/2006/main">
              <a:ext uri="{FF2B5EF4-FFF2-40B4-BE49-F238E27FC236}">
                <a16:creationId xmlns:a16="http://schemas.microsoft.com/office/drawing/2014/main" id="{67FFBCCE-A2BB-4BC7-9722-127390DE861E}"/>
              </a:ext>
            </a:extLst>
          </p:cNvPr>
          <p:cNvSpPr>
            <a:spLocks xmlns:a="http://schemas.openxmlformats.org/drawingml/2006/main" noGrp="1"/>
          </p:cNvSpPr>
          <p:nvPr/>
        </p:nvSpPr>
        <p:spPr>
          <a:xfrm xmlns:a="http://schemas.openxmlformats.org/drawingml/2006/main">
            <a:off x="9989972" y="7551594"/>
            <a:ext cx="1530027" cy="2673227"/>
          </a:xfrm>
          <a:custGeom xmlns:a="http://schemas.openxmlformats.org/drawingml/2006/main">
            <a:pathLst>
              <a:path w="1530027" h="2673227">
                <a:moveTo>
                  <a:pt x="1530027" y="4496"/>
                </a:moveTo>
                <a:lnTo>
                  <a:pt x="1512506" y="74658"/>
                </a:lnTo>
                <a:lnTo>
                  <a:pt x="1494077" y="144588"/>
                </a:lnTo>
                <a:lnTo>
                  <a:pt x="1474744" y="214273"/>
                </a:lnTo>
                <a:lnTo>
                  <a:pt x="1454510" y="283702"/>
                </a:lnTo>
                <a:lnTo>
                  <a:pt x="1433378" y="352863"/>
                </a:lnTo>
                <a:lnTo>
                  <a:pt x="1411351" y="421744"/>
                </a:lnTo>
                <a:lnTo>
                  <a:pt x="1388434" y="490335"/>
                </a:lnTo>
                <a:lnTo>
                  <a:pt x="1364631" y="558622"/>
                </a:lnTo>
                <a:lnTo>
                  <a:pt x="1339944" y="626595"/>
                </a:lnTo>
                <a:lnTo>
                  <a:pt x="1314379" y="694243"/>
                </a:lnTo>
                <a:lnTo>
                  <a:pt x="1287940" y="761554"/>
                </a:lnTo>
                <a:lnTo>
                  <a:pt x="1260631" y="828517"/>
                </a:lnTo>
                <a:lnTo>
                  <a:pt x="1232456" y="895120"/>
                </a:lnTo>
                <a:lnTo>
                  <a:pt x="1203421" y="961353"/>
                </a:lnTo>
                <a:lnTo>
                  <a:pt x="1173530" y="1027204"/>
                </a:lnTo>
                <a:lnTo>
                  <a:pt x="1142789" y="1092662"/>
                </a:lnTo>
                <a:lnTo>
                  <a:pt x="1111202" y="1157716"/>
                </a:lnTo>
                <a:lnTo>
                  <a:pt x="1078775" y="1222356"/>
                </a:lnTo>
                <a:lnTo>
                  <a:pt x="1045513" y="1286570"/>
                </a:lnTo>
                <a:lnTo>
                  <a:pt x="1011422" y="1350347"/>
                </a:lnTo>
                <a:lnTo>
                  <a:pt x="976508" y="1413678"/>
                </a:lnTo>
                <a:lnTo>
                  <a:pt x="940776" y="1476551"/>
                </a:lnTo>
                <a:lnTo>
                  <a:pt x="904233" y="1538956"/>
                </a:lnTo>
                <a:lnTo>
                  <a:pt x="866883" y="1600882"/>
                </a:lnTo>
                <a:lnTo>
                  <a:pt x="828735" y="1662319"/>
                </a:lnTo>
                <a:lnTo>
                  <a:pt x="789794" y="1723257"/>
                </a:lnTo>
                <a:lnTo>
                  <a:pt x="750067" y="1783685"/>
                </a:lnTo>
                <a:lnTo>
                  <a:pt x="709560" y="1843593"/>
                </a:lnTo>
                <a:lnTo>
                  <a:pt x="668281" y="1902972"/>
                </a:lnTo>
                <a:lnTo>
                  <a:pt x="626235" y="1961810"/>
                </a:lnTo>
                <a:lnTo>
                  <a:pt x="583431" y="2020099"/>
                </a:lnTo>
                <a:lnTo>
                  <a:pt x="539876" y="2077829"/>
                </a:lnTo>
                <a:lnTo>
                  <a:pt x="495576" y="2134989"/>
                </a:lnTo>
                <a:lnTo>
                  <a:pt x="450539" y="2191570"/>
                </a:lnTo>
                <a:lnTo>
                  <a:pt x="404772" y="2247564"/>
                </a:lnTo>
                <a:lnTo>
                  <a:pt x="358285" y="2302959"/>
                </a:lnTo>
                <a:lnTo>
                  <a:pt x="311083" y="2357748"/>
                </a:lnTo>
                <a:lnTo>
                  <a:pt x="263176" y="2411921"/>
                </a:lnTo>
                <a:lnTo>
                  <a:pt x="214570" y="2465468"/>
                </a:lnTo>
                <a:lnTo>
                  <a:pt x="165275" y="2518381"/>
                </a:lnTo>
                <a:lnTo>
                  <a:pt x="115299" y="2570651"/>
                </a:lnTo>
                <a:lnTo>
                  <a:pt x="64649" y="2622269"/>
                </a:lnTo>
                <a:lnTo>
                  <a:pt x="13336" y="2673227"/>
                </a:lnTo>
                <a:lnTo>
                  <a:pt x="0" y="2659623"/>
                </a:lnTo>
                <a:lnTo>
                  <a:pt x="51139" y="2608839"/>
                </a:lnTo>
                <a:lnTo>
                  <a:pt x="101615" y="2557397"/>
                </a:lnTo>
                <a:lnTo>
                  <a:pt x="151421" y="2505306"/>
                </a:lnTo>
                <a:lnTo>
                  <a:pt x="200548" y="2452573"/>
                </a:lnTo>
                <a:lnTo>
                  <a:pt x="248987" y="2399209"/>
                </a:lnTo>
                <a:lnTo>
                  <a:pt x="296731" y="2345221"/>
                </a:lnTo>
                <a:lnTo>
                  <a:pt x="343772" y="2290619"/>
                </a:lnTo>
                <a:lnTo>
                  <a:pt x="390101" y="2235413"/>
                </a:lnTo>
                <a:lnTo>
                  <a:pt x="435711" y="2179610"/>
                </a:lnTo>
                <a:lnTo>
                  <a:pt x="480594" y="2123222"/>
                </a:lnTo>
                <a:lnTo>
                  <a:pt x="524743" y="2066257"/>
                </a:lnTo>
                <a:lnTo>
                  <a:pt x="568150" y="2008724"/>
                </a:lnTo>
                <a:lnTo>
                  <a:pt x="610808" y="1950634"/>
                </a:lnTo>
                <a:lnTo>
                  <a:pt x="652710" y="1891996"/>
                </a:lnTo>
                <a:lnTo>
                  <a:pt x="693849" y="1832821"/>
                </a:lnTo>
                <a:lnTo>
                  <a:pt x="734217" y="1773117"/>
                </a:lnTo>
                <a:lnTo>
                  <a:pt x="773809" y="1712895"/>
                </a:lnTo>
                <a:lnTo>
                  <a:pt x="812617" y="1652166"/>
                </a:lnTo>
                <a:lnTo>
                  <a:pt x="850635" y="1590938"/>
                </a:lnTo>
                <a:lnTo>
                  <a:pt x="887856" y="1529223"/>
                </a:lnTo>
                <a:lnTo>
                  <a:pt x="924275" y="1467032"/>
                </a:lnTo>
                <a:lnTo>
                  <a:pt x="959885" y="1404373"/>
                </a:lnTo>
                <a:lnTo>
                  <a:pt x="994680" y="1341258"/>
                </a:lnTo>
                <a:lnTo>
                  <a:pt x="1028655" y="1277698"/>
                </a:lnTo>
                <a:lnTo>
                  <a:pt x="1061803" y="1213703"/>
                </a:lnTo>
                <a:lnTo>
                  <a:pt x="1094120" y="1149284"/>
                </a:lnTo>
                <a:lnTo>
                  <a:pt x="1125599" y="1084452"/>
                </a:lnTo>
                <a:lnTo>
                  <a:pt x="1156235" y="1019217"/>
                </a:lnTo>
                <a:lnTo>
                  <a:pt x="1186024" y="953591"/>
                </a:lnTo>
                <a:lnTo>
                  <a:pt x="1214960" y="887585"/>
                </a:lnTo>
                <a:lnTo>
                  <a:pt x="1243038" y="821209"/>
                </a:lnTo>
                <a:lnTo>
                  <a:pt x="1270254" y="754475"/>
                </a:lnTo>
                <a:lnTo>
                  <a:pt x="1296603" y="687393"/>
                </a:lnTo>
                <a:lnTo>
                  <a:pt x="1322081" y="619977"/>
                </a:lnTo>
                <a:lnTo>
                  <a:pt x="1346683" y="552235"/>
                </a:lnTo>
                <a:lnTo>
                  <a:pt x="1370406" y="484181"/>
                </a:lnTo>
                <a:lnTo>
                  <a:pt x="1393244" y="415825"/>
                </a:lnTo>
                <a:lnTo>
                  <a:pt x="1415196" y="347179"/>
                </a:lnTo>
                <a:lnTo>
                  <a:pt x="1436256" y="278254"/>
                </a:lnTo>
                <a:lnTo>
                  <a:pt x="1456421" y="209062"/>
                </a:lnTo>
                <a:lnTo>
                  <a:pt x="1475688" y="139614"/>
                </a:lnTo>
                <a:lnTo>
                  <a:pt x="1494054" y="69923"/>
                </a:lnTo>
                <a:lnTo>
                  <a:pt x="1511515" y="0"/>
                </a:lnTo>
                <a:close/>
              </a:path>
            </a:pathLst>
          </a:custGeom>
          <a:solidFill xmlns:a="http://schemas.openxmlformats.org/drawingml/2006/main">
            <a:srgbClr val="238351"/>
          </a:solidFill>
          <a:ln xmlns:a="http://schemas.openxmlformats.org/drawingml/2006/main" w="0">
            <a:noFill/>
          </a:ln>
        </p:spPr>
      </p:sp>
      <p:sp>
        <p:nvSpPr>
          <p:cNvPr id="278" name="chapter-6-arc-b">
            <a:extLst xmlns:a="http://schemas.openxmlformats.org/drawingml/2006/main">
              <a:ext uri="{FF2B5EF4-FFF2-40B4-BE49-F238E27FC236}">
                <a16:creationId xmlns:a16="http://schemas.microsoft.com/office/drawing/2014/main" id="{61F5CF9D-470C-4EEA-858F-0C30A5788E20}"/>
              </a:ext>
            </a:extLst>
          </p:cNvPr>
          <p:cNvSpPr>
            <a:spLocks xmlns:a="http://schemas.openxmlformats.org/drawingml/2006/main" noGrp="1"/>
          </p:cNvSpPr>
          <p:nvPr/>
        </p:nvSpPr>
        <p:spPr>
          <a:xfrm xmlns:a="http://schemas.openxmlformats.org/drawingml/2006/main">
            <a:off x="6411359" y="10785958"/>
            <a:ext cx="2899760" cy="1025589"/>
          </a:xfrm>
          <a:custGeom xmlns:a="http://schemas.openxmlformats.org/drawingml/2006/main">
            <a:pathLst>
              <a:path w="2899760" h="1025589">
                <a:moveTo>
                  <a:pt x="2899760" y="15572"/>
                </a:moveTo>
                <a:lnTo>
                  <a:pt x="2840376" y="56844"/>
                </a:lnTo>
                <a:lnTo>
                  <a:pt x="2780463" y="97344"/>
                </a:lnTo>
                <a:lnTo>
                  <a:pt x="2720030" y="137063"/>
                </a:lnTo>
                <a:lnTo>
                  <a:pt x="2659087" y="175997"/>
                </a:lnTo>
                <a:lnTo>
                  <a:pt x="2597645" y="214137"/>
                </a:lnTo>
                <a:lnTo>
                  <a:pt x="2535715" y="251478"/>
                </a:lnTo>
                <a:lnTo>
                  <a:pt x="2473305" y="288014"/>
                </a:lnTo>
                <a:lnTo>
                  <a:pt x="2410428" y="323738"/>
                </a:lnTo>
                <a:lnTo>
                  <a:pt x="2347093" y="358644"/>
                </a:lnTo>
                <a:lnTo>
                  <a:pt x="2283311" y="392727"/>
                </a:lnTo>
                <a:lnTo>
                  <a:pt x="2219092" y="425981"/>
                </a:lnTo>
                <a:lnTo>
                  <a:pt x="2154449" y="458400"/>
                </a:lnTo>
                <a:lnTo>
                  <a:pt x="2089390" y="489979"/>
                </a:lnTo>
                <a:lnTo>
                  <a:pt x="2023928" y="520712"/>
                </a:lnTo>
                <a:lnTo>
                  <a:pt x="1958074" y="550594"/>
                </a:lnTo>
                <a:lnTo>
                  <a:pt x="1891837" y="579621"/>
                </a:lnTo>
                <a:lnTo>
                  <a:pt x="1825231" y="607787"/>
                </a:lnTo>
                <a:lnTo>
                  <a:pt x="1758265" y="635088"/>
                </a:lnTo>
                <a:lnTo>
                  <a:pt x="1690950" y="661519"/>
                </a:lnTo>
                <a:lnTo>
                  <a:pt x="1623299" y="687075"/>
                </a:lnTo>
                <a:lnTo>
                  <a:pt x="1555323" y="711753"/>
                </a:lnTo>
                <a:lnTo>
                  <a:pt x="1487032" y="735549"/>
                </a:lnTo>
                <a:lnTo>
                  <a:pt x="1418439" y="758457"/>
                </a:lnTo>
                <a:lnTo>
                  <a:pt x="1349555" y="780475"/>
                </a:lnTo>
                <a:lnTo>
                  <a:pt x="1280392" y="801598"/>
                </a:lnTo>
                <a:lnTo>
                  <a:pt x="1210960" y="821824"/>
                </a:lnTo>
                <a:lnTo>
                  <a:pt x="1141273" y="841148"/>
                </a:lnTo>
                <a:lnTo>
                  <a:pt x="1071341" y="859568"/>
                </a:lnTo>
                <a:lnTo>
                  <a:pt x="1001176" y="877080"/>
                </a:lnTo>
                <a:lnTo>
                  <a:pt x="930790" y="893682"/>
                </a:lnTo>
                <a:lnTo>
                  <a:pt x="860195" y="909370"/>
                </a:lnTo>
                <a:lnTo>
                  <a:pt x="789402" y="924143"/>
                </a:lnTo>
                <a:lnTo>
                  <a:pt x="718425" y="937997"/>
                </a:lnTo>
                <a:lnTo>
                  <a:pt x="647273" y="950930"/>
                </a:lnTo>
                <a:lnTo>
                  <a:pt x="575960" y="962941"/>
                </a:lnTo>
                <a:lnTo>
                  <a:pt x="504497" y="974026"/>
                </a:lnTo>
                <a:lnTo>
                  <a:pt x="432897" y="984185"/>
                </a:lnTo>
                <a:lnTo>
                  <a:pt x="361171" y="993415"/>
                </a:lnTo>
                <a:lnTo>
                  <a:pt x="289332" y="1001715"/>
                </a:lnTo>
                <a:lnTo>
                  <a:pt x="217391" y="1009084"/>
                </a:lnTo>
                <a:lnTo>
                  <a:pt x="145361" y="1015520"/>
                </a:lnTo>
                <a:lnTo>
                  <a:pt x="73253" y="1021022"/>
                </a:lnTo>
                <a:lnTo>
                  <a:pt x="1080" y="1025589"/>
                </a:lnTo>
                <a:lnTo>
                  <a:pt x="0" y="1006570"/>
                </a:lnTo>
                <a:lnTo>
                  <a:pt x="71927" y="1002018"/>
                </a:lnTo>
                <a:lnTo>
                  <a:pt x="143788" y="996535"/>
                </a:lnTo>
                <a:lnTo>
                  <a:pt x="215573" y="990121"/>
                </a:lnTo>
                <a:lnTo>
                  <a:pt x="287268" y="982777"/>
                </a:lnTo>
                <a:lnTo>
                  <a:pt x="358862" y="974505"/>
                </a:lnTo>
                <a:lnTo>
                  <a:pt x="430343" y="965307"/>
                </a:lnTo>
                <a:lnTo>
                  <a:pt x="501699" y="955183"/>
                </a:lnTo>
                <a:lnTo>
                  <a:pt x="572918" y="944135"/>
                </a:lnTo>
                <a:lnTo>
                  <a:pt x="643988" y="932166"/>
                </a:lnTo>
                <a:lnTo>
                  <a:pt x="714896" y="919277"/>
                </a:lnTo>
                <a:lnTo>
                  <a:pt x="785632" y="905470"/>
                </a:lnTo>
                <a:lnTo>
                  <a:pt x="856183" y="890748"/>
                </a:lnTo>
                <a:lnTo>
                  <a:pt x="926537" y="875113"/>
                </a:lnTo>
                <a:lnTo>
                  <a:pt x="996683" y="858568"/>
                </a:lnTo>
                <a:lnTo>
                  <a:pt x="1066608" y="841115"/>
                </a:lnTo>
                <a:lnTo>
                  <a:pt x="1136301" y="822758"/>
                </a:lnTo>
                <a:lnTo>
                  <a:pt x="1205751" y="803500"/>
                </a:lnTo>
                <a:lnTo>
                  <a:pt x="1274946" y="783343"/>
                </a:lnTo>
                <a:lnTo>
                  <a:pt x="1343873" y="762292"/>
                </a:lnTo>
                <a:lnTo>
                  <a:pt x="1412522" y="740349"/>
                </a:lnTo>
                <a:lnTo>
                  <a:pt x="1480881" y="717519"/>
                </a:lnTo>
                <a:lnTo>
                  <a:pt x="1548938" y="693805"/>
                </a:lnTo>
                <a:lnTo>
                  <a:pt x="1616683" y="669211"/>
                </a:lnTo>
                <a:lnTo>
                  <a:pt x="1684103" y="643742"/>
                </a:lnTo>
                <a:lnTo>
                  <a:pt x="1751187" y="617401"/>
                </a:lnTo>
                <a:lnTo>
                  <a:pt x="1817925" y="590194"/>
                </a:lnTo>
                <a:lnTo>
                  <a:pt x="1884304" y="562124"/>
                </a:lnTo>
                <a:lnTo>
                  <a:pt x="1950315" y="533196"/>
                </a:lnTo>
                <a:lnTo>
                  <a:pt x="2015944" y="503416"/>
                </a:lnTo>
                <a:lnTo>
                  <a:pt x="2081183" y="472787"/>
                </a:lnTo>
                <a:lnTo>
                  <a:pt x="2146019" y="441317"/>
                </a:lnTo>
                <a:lnTo>
                  <a:pt x="2210442" y="409008"/>
                </a:lnTo>
                <a:lnTo>
                  <a:pt x="2274441" y="375868"/>
                </a:lnTo>
                <a:lnTo>
                  <a:pt x="2338006" y="341901"/>
                </a:lnTo>
                <a:lnTo>
                  <a:pt x="2401125" y="307114"/>
                </a:lnTo>
                <a:lnTo>
                  <a:pt x="2463788" y="271512"/>
                </a:lnTo>
                <a:lnTo>
                  <a:pt x="2525984" y="235101"/>
                </a:lnTo>
                <a:lnTo>
                  <a:pt x="2587703" y="197887"/>
                </a:lnTo>
                <a:lnTo>
                  <a:pt x="2648936" y="159877"/>
                </a:lnTo>
                <a:lnTo>
                  <a:pt x="2709670" y="121076"/>
                </a:lnTo>
                <a:lnTo>
                  <a:pt x="2769897" y="81492"/>
                </a:lnTo>
                <a:lnTo>
                  <a:pt x="2829606" y="41131"/>
                </a:lnTo>
                <a:lnTo>
                  <a:pt x="2888787" y="0"/>
                </a:lnTo>
                <a:close/>
              </a:path>
            </a:pathLst>
          </a:custGeom>
          <a:solidFill xmlns:a="http://schemas.openxmlformats.org/drawingml/2006/main">
            <a:srgbClr val="238351"/>
          </a:solidFill>
          <a:ln xmlns:a="http://schemas.openxmlformats.org/drawingml/2006/main" w="0">
            <a:noFill/>
          </a:ln>
        </p:spPr>
      </p:sp>
      <p:sp>
        <p:nvSpPr>
          <p:cNvPr id="279" name="chapter-7-0">
            <a:extLst xmlns:a="http://schemas.openxmlformats.org/drawingml/2006/main">
              <a:ext uri="{FF2B5EF4-FFF2-40B4-BE49-F238E27FC236}">
                <a16:creationId xmlns:a16="http://schemas.microsoft.com/office/drawing/2014/main" id="{88432964-8666-4911-976D-165E9D2AB805}"/>
              </a:ext>
            </a:extLst>
          </p:cNvPr>
          <p:cNvSpPr>
            <a:spLocks xmlns:a="http://schemas.openxmlformats.org/drawingml/2006/main" noGrp="1"/>
          </p:cNvSpPr>
          <p:nvPr/>
        </p:nvSpPr>
        <p:spPr>
          <a:xfrm xmlns:a="http://schemas.openxmlformats.org/drawingml/2006/main" rot="917181">
            <a:off x="4357127" y="11624822"/>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D9B"/>
                </a:solidFill>
                <a:latin typeface="Arial"/>
                <a:ea typeface="Arial"/>
                <a:cs typeface="Arial"/>
              </a:defRPr>
            </a:pPr>
            <a:r>
              <a:rPr sz="1725" b="0">
                <a:solidFill>
                  <a:srgbClr val="087D9B"/>
                </a:solidFill>
                <a:latin typeface="Arial"/>
                <a:ea typeface="Arial"/>
                <a:cs typeface="Arial"/>
              </a:rPr>
              <a:t>C</a:t>
            </a:r>
          </a:p>
        </p:txBody>
      </p:sp>
      <p:sp>
        <p:nvSpPr>
          <p:cNvPr id="280" name="chapter-7-1">
            <a:extLst xmlns:a="http://schemas.openxmlformats.org/drawingml/2006/main">
              <a:ext uri="{FF2B5EF4-FFF2-40B4-BE49-F238E27FC236}">
                <a16:creationId xmlns:a16="http://schemas.microsoft.com/office/drawing/2014/main" id="{CE7F377C-AE13-4E10-864B-13B8B72CBEBE}"/>
              </a:ext>
            </a:extLst>
          </p:cNvPr>
          <p:cNvSpPr>
            <a:spLocks xmlns:a="http://schemas.openxmlformats.org/drawingml/2006/main" noGrp="1"/>
          </p:cNvSpPr>
          <p:nvPr/>
        </p:nvSpPr>
        <p:spPr>
          <a:xfrm xmlns:a="http://schemas.openxmlformats.org/drawingml/2006/main" rot="830246">
            <a:off x="4499103" y="1166170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D9B"/>
                </a:solidFill>
                <a:latin typeface="Arial"/>
                <a:ea typeface="Arial"/>
                <a:cs typeface="Arial"/>
              </a:defRPr>
            </a:pPr>
            <a:r>
              <a:rPr sz="1725" b="0">
                <a:solidFill>
                  <a:srgbClr val="087D9B"/>
                </a:solidFill>
                <a:latin typeface="Arial"/>
                <a:ea typeface="Arial"/>
                <a:cs typeface="Arial"/>
              </a:rPr>
              <a:t>h</a:t>
            </a:r>
          </a:p>
        </p:txBody>
      </p:sp>
      <p:sp>
        <p:nvSpPr>
          <p:cNvPr id="281" name="chapter-7-2">
            <a:extLst xmlns:a="http://schemas.openxmlformats.org/drawingml/2006/main">
              <a:ext uri="{FF2B5EF4-FFF2-40B4-BE49-F238E27FC236}">
                <a16:creationId xmlns:a16="http://schemas.microsoft.com/office/drawing/2014/main" id="{EF7AE424-2BA1-49F4-B39D-34123A8FD2A0}"/>
              </a:ext>
            </a:extLst>
          </p:cNvPr>
          <p:cNvSpPr>
            <a:spLocks xmlns:a="http://schemas.openxmlformats.org/drawingml/2006/main" noGrp="1"/>
          </p:cNvSpPr>
          <p:nvPr/>
        </p:nvSpPr>
        <p:spPr>
          <a:xfrm xmlns:a="http://schemas.openxmlformats.org/drawingml/2006/main" rot="772155">
            <a:off x="4594472" y="1168434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D9B"/>
                </a:solidFill>
                <a:latin typeface="Arial"/>
                <a:ea typeface="Arial"/>
                <a:cs typeface="Arial"/>
              </a:defRPr>
            </a:pPr>
            <a:r>
              <a:rPr sz="1725" b="0">
                <a:solidFill>
                  <a:srgbClr val="087D9B"/>
                </a:solidFill>
                <a:latin typeface="Arial"/>
                <a:ea typeface="Arial"/>
                <a:cs typeface="Arial"/>
              </a:rPr>
              <a:t>.</a:t>
            </a:r>
          </a:p>
        </p:txBody>
      </p:sp>
      <p:sp>
        <p:nvSpPr>
          <p:cNvPr id="282" name="chapter-7-4">
            <a:extLst xmlns:a="http://schemas.openxmlformats.org/drawingml/2006/main">
              <a:ext uri="{FF2B5EF4-FFF2-40B4-BE49-F238E27FC236}">
                <a16:creationId xmlns:a16="http://schemas.microsoft.com/office/drawing/2014/main" id="{2135E335-EF25-4D40-B1B2-875F52259525}"/>
              </a:ext>
            </a:extLst>
          </p:cNvPr>
          <p:cNvSpPr>
            <a:spLocks xmlns:a="http://schemas.openxmlformats.org/drawingml/2006/main" noGrp="1"/>
          </p:cNvSpPr>
          <p:nvPr/>
        </p:nvSpPr>
        <p:spPr>
          <a:xfrm xmlns:a="http://schemas.openxmlformats.org/drawingml/2006/main" rot="674041">
            <a:off x="4756371" y="1171890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087D9B"/>
                </a:solidFill>
                <a:latin typeface="Arial"/>
                <a:ea typeface="Arial"/>
                <a:cs typeface="Arial"/>
              </a:defRPr>
            </a:pPr>
            <a:r>
              <a:rPr sz="1725" b="0">
                <a:solidFill>
                  <a:srgbClr val="087D9B"/>
                </a:solidFill>
                <a:latin typeface="Arial"/>
                <a:ea typeface="Arial"/>
                <a:cs typeface="Arial"/>
              </a:rPr>
              <a:t>7</a:t>
            </a:r>
          </a:p>
        </p:txBody>
      </p:sp>
      <p:sp>
        <p:nvSpPr>
          <p:cNvPr id="283" name="chapter-7-arc-a">
            <a:extLst xmlns:a="http://schemas.openxmlformats.org/drawingml/2006/main">
              <a:ext uri="{FF2B5EF4-FFF2-40B4-BE49-F238E27FC236}">
                <a16:creationId xmlns:a16="http://schemas.microsoft.com/office/drawing/2014/main" id="{283FBFAC-F07E-4C01-9F4D-D52B79B0ED0D}"/>
              </a:ext>
            </a:extLst>
          </p:cNvPr>
          <p:cNvSpPr>
            <a:spLocks xmlns:a="http://schemas.openxmlformats.org/drawingml/2006/main" noGrp="1"/>
          </p:cNvSpPr>
          <p:nvPr/>
        </p:nvSpPr>
        <p:spPr>
          <a:xfrm xmlns:a="http://schemas.openxmlformats.org/drawingml/2006/main">
            <a:off x="5203877" y="11961403"/>
            <a:ext cx="887069" cy="87720"/>
          </a:xfrm>
          <a:custGeom xmlns:a="http://schemas.openxmlformats.org/drawingml/2006/main">
            <a:pathLst>
              <a:path w="887069" h="87720">
                <a:moveTo>
                  <a:pt x="887052" y="87720"/>
                </a:moveTo>
                <a:lnTo>
                  <a:pt x="812839" y="87181"/>
                </a:lnTo>
                <a:lnTo>
                  <a:pt x="738638" y="85695"/>
                </a:lnTo>
                <a:lnTo>
                  <a:pt x="664462" y="83260"/>
                </a:lnTo>
                <a:lnTo>
                  <a:pt x="590323" y="79879"/>
                </a:lnTo>
                <a:lnTo>
                  <a:pt x="516234" y="75551"/>
                </a:lnTo>
                <a:lnTo>
                  <a:pt x="442206" y="70276"/>
                </a:lnTo>
                <a:lnTo>
                  <a:pt x="368251" y="64057"/>
                </a:lnTo>
                <a:lnTo>
                  <a:pt x="294382" y="56893"/>
                </a:lnTo>
                <a:lnTo>
                  <a:pt x="220610" y="48787"/>
                </a:lnTo>
                <a:lnTo>
                  <a:pt x="146948" y="39739"/>
                </a:lnTo>
                <a:lnTo>
                  <a:pt x="73407" y="29751"/>
                </a:lnTo>
                <a:lnTo>
                  <a:pt x="0" y="18824"/>
                </a:lnTo>
                <a:lnTo>
                  <a:pt x="2925" y="0"/>
                </a:lnTo>
                <a:lnTo>
                  <a:pt x="76091" y="10891"/>
                </a:lnTo>
                <a:lnTo>
                  <a:pt x="149391" y="20846"/>
                </a:lnTo>
                <a:lnTo>
                  <a:pt x="222811" y="29865"/>
                </a:lnTo>
                <a:lnTo>
                  <a:pt x="296341" y="37945"/>
                </a:lnTo>
                <a:lnTo>
                  <a:pt x="369968" y="45085"/>
                </a:lnTo>
                <a:lnTo>
                  <a:pt x="443681" y="51283"/>
                </a:lnTo>
                <a:lnTo>
                  <a:pt x="517466" y="56540"/>
                </a:lnTo>
                <a:lnTo>
                  <a:pt x="591313" y="60854"/>
                </a:lnTo>
                <a:lnTo>
                  <a:pt x="665208" y="64225"/>
                </a:lnTo>
                <a:lnTo>
                  <a:pt x="739141" y="66651"/>
                </a:lnTo>
                <a:lnTo>
                  <a:pt x="813099" y="68133"/>
                </a:lnTo>
                <a:lnTo>
                  <a:pt x="887069" y="68670"/>
                </a:lnTo>
                <a:close/>
              </a:path>
            </a:pathLst>
          </a:custGeom>
          <a:solidFill xmlns:a="http://schemas.openxmlformats.org/drawingml/2006/main">
            <a:srgbClr val="087D9B"/>
          </a:solidFill>
          <a:ln xmlns:a="http://schemas.openxmlformats.org/drawingml/2006/main" w="0">
            <a:noFill/>
          </a:ln>
        </p:spPr>
      </p:sp>
      <p:sp>
        <p:nvSpPr>
          <p:cNvPr id="284" name="chapter-7-arc-b">
            <a:extLst xmlns:a="http://schemas.openxmlformats.org/drawingml/2006/main">
              <a:ext uri="{FF2B5EF4-FFF2-40B4-BE49-F238E27FC236}">
                <a16:creationId xmlns:a16="http://schemas.microsoft.com/office/drawing/2014/main" id="{ACF7E23E-B0EE-43B8-B56A-9A9F14D9B445}"/>
              </a:ext>
            </a:extLst>
          </p:cNvPr>
          <p:cNvSpPr>
            <a:spLocks xmlns:a="http://schemas.openxmlformats.org/drawingml/2006/main" noGrp="1"/>
          </p:cNvSpPr>
          <p:nvPr/>
        </p:nvSpPr>
        <p:spPr>
          <a:xfrm xmlns:a="http://schemas.openxmlformats.org/drawingml/2006/main">
            <a:off x="3489875" y="11414836"/>
            <a:ext cx="829268" cy="354046"/>
          </a:xfrm>
          <a:custGeom xmlns:a="http://schemas.openxmlformats.org/drawingml/2006/main">
            <a:pathLst>
              <a:path w="829268" h="354046">
                <a:moveTo>
                  <a:pt x="823423" y="354046"/>
                </a:moveTo>
                <a:lnTo>
                  <a:pt x="752934" y="330825"/>
                </a:lnTo>
                <a:lnTo>
                  <a:pt x="682747" y="306705"/>
                </a:lnTo>
                <a:lnTo>
                  <a:pt x="612874" y="281690"/>
                </a:lnTo>
                <a:lnTo>
                  <a:pt x="543326" y="255785"/>
                </a:lnTo>
                <a:lnTo>
                  <a:pt x="474115" y="228994"/>
                </a:lnTo>
                <a:lnTo>
                  <a:pt x="405251" y="201321"/>
                </a:lnTo>
                <a:lnTo>
                  <a:pt x="336747" y="172770"/>
                </a:lnTo>
                <a:lnTo>
                  <a:pt x="268613" y="143347"/>
                </a:lnTo>
                <a:lnTo>
                  <a:pt x="200860" y="113056"/>
                </a:lnTo>
                <a:lnTo>
                  <a:pt x="133500" y="81902"/>
                </a:lnTo>
                <a:lnTo>
                  <a:pt x="66543" y="49891"/>
                </a:lnTo>
                <a:lnTo>
                  <a:pt x="0" y="17026"/>
                </a:lnTo>
                <a:lnTo>
                  <a:pt x="8545" y="0"/>
                </a:lnTo>
                <a:lnTo>
                  <a:pt x="74869" y="32757"/>
                </a:lnTo>
                <a:lnTo>
                  <a:pt x="141606" y="64663"/>
                </a:lnTo>
                <a:lnTo>
                  <a:pt x="208746" y="95715"/>
                </a:lnTo>
                <a:lnTo>
                  <a:pt x="276277" y="125907"/>
                </a:lnTo>
                <a:lnTo>
                  <a:pt x="344187" y="155233"/>
                </a:lnTo>
                <a:lnTo>
                  <a:pt x="412467" y="183690"/>
                </a:lnTo>
                <a:lnTo>
                  <a:pt x="481105" y="211273"/>
                </a:lnTo>
                <a:lnTo>
                  <a:pt x="550089" y="237976"/>
                </a:lnTo>
                <a:lnTo>
                  <a:pt x="619409" y="263796"/>
                </a:lnTo>
                <a:lnTo>
                  <a:pt x="689053" y="288729"/>
                </a:lnTo>
                <a:lnTo>
                  <a:pt x="759010" y="312770"/>
                </a:lnTo>
                <a:lnTo>
                  <a:pt x="829268" y="335915"/>
                </a:lnTo>
                <a:close/>
              </a:path>
            </a:pathLst>
          </a:custGeom>
          <a:solidFill xmlns:a="http://schemas.openxmlformats.org/drawingml/2006/main">
            <a:srgbClr val="087D9B"/>
          </a:solidFill>
          <a:ln xmlns:a="http://schemas.openxmlformats.org/drawingml/2006/main" w="0">
            <a:noFill/>
          </a:ln>
        </p:spPr>
      </p:sp>
      <p:sp>
        <p:nvSpPr>
          <p:cNvPr id="285" name="chapter-8-0">
            <a:extLst xmlns:a="http://schemas.openxmlformats.org/drawingml/2006/main">
              <a:ext uri="{FF2B5EF4-FFF2-40B4-BE49-F238E27FC236}">
                <a16:creationId xmlns:a16="http://schemas.microsoft.com/office/drawing/2014/main" id="{0A2E54C5-6746-497E-A6E1-78A66531FA5D}"/>
              </a:ext>
            </a:extLst>
          </p:cNvPr>
          <p:cNvSpPr>
            <a:spLocks xmlns:a="http://schemas.openxmlformats.org/drawingml/2006/main" noGrp="1"/>
          </p:cNvSpPr>
          <p:nvPr/>
        </p:nvSpPr>
        <p:spPr>
          <a:xfrm xmlns:a="http://schemas.openxmlformats.org/drawingml/2006/main" rot="2147554">
            <a:off x="2321190" y="1097403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144F5F"/>
                </a:solidFill>
                <a:latin typeface="Arial"/>
                <a:ea typeface="Arial"/>
                <a:cs typeface="Arial"/>
              </a:defRPr>
            </a:pPr>
            <a:r>
              <a:rPr sz="1725" b="0">
                <a:solidFill>
                  <a:srgbClr val="144F5F"/>
                </a:solidFill>
                <a:latin typeface="Arial"/>
                <a:ea typeface="Arial"/>
                <a:cs typeface="Arial"/>
              </a:rPr>
              <a:t>C</a:t>
            </a:r>
          </a:p>
        </p:txBody>
      </p:sp>
      <p:sp>
        <p:nvSpPr>
          <p:cNvPr id="286" name="chapter-8-1">
            <a:extLst xmlns:a="http://schemas.openxmlformats.org/drawingml/2006/main">
              <a:ext uri="{FF2B5EF4-FFF2-40B4-BE49-F238E27FC236}">
                <a16:creationId xmlns:a16="http://schemas.microsoft.com/office/drawing/2014/main" id="{C33BA71F-D151-4683-8676-6986E337B3FC}"/>
              </a:ext>
            </a:extLst>
          </p:cNvPr>
          <p:cNvSpPr>
            <a:spLocks xmlns:a="http://schemas.openxmlformats.org/drawingml/2006/main" noGrp="1"/>
          </p:cNvSpPr>
          <p:nvPr/>
        </p:nvSpPr>
        <p:spPr>
          <a:xfrm xmlns:a="http://schemas.openxmlformats.org/drawingml/2006/main" rot="2064829">
            <a:off x="2441198" y="1105838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144F5F"/>
                </a:solidFill>
                <a:latin typeface="Arial"/>
                <a:ea typeface="Arial"/>
                <a:cs typeface="Arial"/>
              </a:defRPr>
            </a:pPr>
            <a:r>
              <a:rPr sz="1725" b="0">
                <a:solidFill>
                  <a:srgbClr val="144F5F"/>
                </a:solidFill>
                <a:latin typeface="Arial"/>
                <a:ea typeface="Arial"/>
                <a:cs typeface="Arial"/>
              </a:rPr>
              <a:t>h</a:t>
            </a:r>
          </a:p>
        </p:txBody>
      </p:sp>
      <p:sp>
        <p:nvSpPr>
          <p:cNvPr id="287" name="chapter-8-2">
            <a:extLst xmlns:a="http://schemas.openxmlformats.org/drawingml/2006/main">
              <a:ext uri="{FF2B5EF4-FFF2-40B4-BE49-F238E27FC236}">
                <a16:creationId xmlns:a16="http://schemas.microsoft.com/office/drawing/2014/main" id="{67D2DD8A-A67E-4F59-BD13-EA6226A703BA}"/>
              </a:ext>
            </a:extLst>
          </p:cNvPr>
          <p:cNvSpPr>
            <a:spLocks xmlns:a="http://schemas.openxmlformats.org/drawingml/2006/main" noGrp="1"/>
          </p:cNvSpPr>
          <p:nvPr/>
        </p:nvSpPr>
        <p:spPr>
          <a:xfrm xmlns:a="http://schemas.openxmlformats.org/drawingml/2006/main" rot="2009552">
            <a:off x="2522504" y="1111313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144F5F"/>
                </a:solidFill>
                <a:latin typeface="Arial"/>
                <a:ea typeface="Arial"/>
                <a:cs typeface="Arial"/>
              </a:defRPr>
            </a:pPr>
            <a:r>
              <a:rPr sz="1725" b="0">
                <a:solidFill>
                  <a:srgbClr val="144F5F"/>
                </a:solidFill>
                <a:latin typeface="Arial"/>
                <a:ea typeface="Arial"/>
                <a:cs typeface="Arial"/>
              </a:rPr>
              <a:t>.</a:t>
            </a:r>
          </a:p>
        </p:txBody>
      </p:sp>
      <p:sp>
        <p:nvSpPr>
          <p:cNvPr id="288" name="chapter-8-4">
            <a:extLst xmlns:a="http://schemas.openxmlformats.org/drawingml/2006/main">
              <a:ext uri="{FF2B5EF4-FFF2-40B4-BE49-F238E27FC236}">
                <a16:creationId xmlns:a16="http://schemas.microsoft.com/office/drawing/2014/main" id="{D2F94C56-29F3-4B0E-AE3A-613D7ACFB225}"/>
              </a:ext>
            </a:extLst>
          </p:cNvPr>
          <p:cNvSpPr>
            <a:spLocks xmlns:a="http://schemas.openxmlformats.org/drawingml/2006/main" noGrp="1"/>
          </p:cNvSpPr>
          <p:nvPr/>
        </p:nvSpPr>
        <p:spPr>
          <a:xfrm xmlns:a="http://schemas.openxmlformats.org/drawingml/2006/main" rot="1916191">
            <a:off x="2661792" y="11202602"/>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144F5F"/>
                </a:solidFill>
                <a:latin typeface="Arial"/>
                <a:ea typeface="Arial"/>
                <a:cs typeface="Arial"/>
              </a:defRPr>
            </a:pPr>
            <a:r>
              <a:rPr sz="1725" b="0">
                <a:solidFill>
                  <a:srgbClr val="144F5F"/>
                </a:solidFill>
                <a:latin typeface="Arial"/>
                <a:ea typeface="Arial"/>
                <a:cs typeface="Arial"/>
              </a:rPr>
              <a:t>8</a:t>
            </a:r>
          </a:p>
        </p:txBody>
      </p:sp>
      <p:sp>
        <p:nvSpPr>
          <p:cNvPr id="289" name="category-FOML-0">
            <a:extLst xmlns:a="http://schemas.openxmlformats.org/drawingml/2006/main">
              <a:ext uri="{FF2B5EF4-FFF2-40B4-BE49-F238E27FC236}">
                <a16:creationId xmlns:a16="http://schemas.microsoft.com/office/drawing/2014/main" id="{46E70679-6264-4B63-BDD7-8A9DEA6AC75F}"/>
              </a:ext>
            </a:extLst>
          </p:cNvPr>
          <p:cNvSpPr>
            <a:spLocks xmlns:a="http://schemas.openxmlformats.org/drawingml/2006/main" noGrp="1"/>
          </p:cNvSpPr>
          <p:nvPr/>
        </p:nvSpPr>
        <p:spPr>
          <a:xfrm xmlns:a="http://schemas.openxmlformats.org/drawingml/2006/main" rot="-1842282">
            <a:off x="8887287" y="1108236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106667"/>
                </a:solidFill>
                <a:latin typeface="Arial"/>
                <a:ea typeface="Arial"/>
                <a:cs typeface="Arial"/>
              </a:defRPr>
            </a:pPr>
            <a:r>
              <a:rPr sz="2325" b="1">
                <a:solidFill>
                  <a:srgbClr val="106667"/>
                </a:solidFill>
                <a:latin typeface="Arial"/>
                <a:ea typeface="Arial"/>
                <a:cs typeface="Arial"/>
              </a:rPr>
              <a:t>F</a:t>
            </a:r>
          </a:p>
        </p:txBody>
      </p:sp>
      <p:sp>
        <p:nvSpPr>
          <p:cNvPr id="290" name="category-FOML-1">
            <a:extLst xmlns:a="http://schemas.openxmlformats.org/drawingml/2006/main">
              <a:ext uri="{FF2B5EF4-FFF2-40B4-BE49-F238E27FC236}">
                <a16:creationId xmlns:a16="http://schemas.microsoft.com/office/drawing/2014/main" id="{3441AD37-F52E-4663-8415-6A5EB5892117}"/>
              </a:ext>
            </a:extLst>
          </p:cNvPr>
          <p:cNvSpPr>
            <a:spLocks xmlns:a="http://schemas.openxmlformats.org/drawingml/2006/main" noGrp="1"/>
          </p:cNvSpPr>
          <p:nvPr/>
        </p:nvSpPr>
        <p:spPr>
          <a:xfrm xmlns:a="http://schemas.openxmlformats.org/drawingml/2006/main" rot="-1966110">
            <a:off x="9067312" y="1097102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106667"/>
                </a:solidFill>
                <a:latin typeface="Arial"/>
                <a:ea typeface="Arial"/>
                <a:cs typeface="Arial"/>
              </a:defRPr>
            </a:pPr>
            <a:r>
              <a:rPr sz="2325" b="1">
                <a:solidFill>
                  <a:srgbClr val="106667"/>
                </a:solidFill>
                <a:latin typeface="Arial"/>
                <a:ea typeface="Arial"/>
                <a:cs typeface="Arial"/>
              </a:rPr>
              <a:t>O</a:t>
            </a:r>
          </a:p>
        </p:txBody>
      </p:sp>
      <p:sp>
        <p:nvSpPr>
          <p:cNvPr id="291" name="category-FOML-2">
            <a:extLst xmlns:a="http://schemas.openxmlformats.org/drawingml/2006/main">
              <a:ext uri="{FF2B5EF4-FFF2-40B4-BE49-F238E27FC236}">
                <a16:creationId xmlns:a16="http://schemas.microsoft.com/office/drawing/2014/main" id="{A0E9E04A-2122-4798-BFB7-B654048CD20C}"/>
              </a:ext>
            </a:extLst>
          </p:cNvPr>
          <p:cNvSpPr>
            <a:spLocks xmlns:a="http://schemas.openxmlformats.org/drawingml/2006/main" noGrp="1"/>
          </p:cNvSpPr>
          <p:nvPr/>
        </p:nvSpPr>
        <p:spPr>
          <a:xfrm xmlns:a="http://schemas.openxmlformats.org/drawingml/2006/main" rot="-2109125">
            <a:off x="9270082" y="1083445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106667"/>
                </a:solidFill>
                <a:latin typeface="Arial"/>
                <a:ea typeface="Arial"/>
                <a:cs typeface="Arial"/>
              </a:defRPr>
            </a:pPr>
            <a:r>
              <a:rPr sz="2325" b="1">
                <a:solidFill>
                  <a:srgbClr val="106667"/>
                </a:solidFill>
                <a:latin typeface="Arial"/>
                <a:ea typeface="Arial"/>
                <a:cs typeface="Arial"/>
              </a:rPr>
              <a:t>M</a:t>
            </a:r>
          </a:p>
        </p:txBody>
      </p:sp>
      <p:sp>
        <p:nvSpPr>
          <p:cNvPr id="292" name="category-FOML-3">
            <a:extLst xmlns:a="http://schemas.openxmlformats.org/drawingml/2006/main">
              <a:ext uri="{FF2B5EF4-FFF2-40B4-BE49-F238E27FC236}">
                <a16:creationId xmlns:a16="http://schemas.microsoft.com/office/drawing/2014/main" id="{E584166F-DC1B-406E-806A-DB287EA1B8F0}"/>
              </a:ext>
            </a:extLst>
          </p:cNvPr>
          <p:cNvSpPr>
            <a:spLocks xmlns:a="http://schemas.openxmlformats.org/drawingml/2006/main" noGrp="1"/>
          </p:cNvSpPr>
          <p:nvPr/>
        </p:nvSpPr>
        <p:spPr>
          <a:xfrm xmlns:a="http://schemas.openxmlformats.org/drawingml/2006/main" rot="-2237718">
            <a:off x="9447415" y="1070455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106667"/>
                </a:solidFill>
                <a:latin typeface="Arial"/>
                <a:ea typeface="Arial"/>
                <a:cs typeface="Arial"/>
              </a:defRPr>
            </a:pPr>
            <a:r>
              <a:rPr sz="2325" b="1">
                <a:solidFill>
                  <a:srgbClr val="106667"/>
                </a:solidFill>
                <a:latin typeface="Arial"/>
                <a:ea typeface="Arial"/>
                <a:cs typeface="Arial"/>
              </a:rPr>
              <a:t>L</a:t>
            </a:r>
          </a:p>
        </p:txBody>
      </p:sp>
      <p:sp>
        <p:nvSpPr>
          <p:cNvPr id="293" name="category-research_paper-0">
            <a:extLst xmlns:a="http://schemas.openxmlformats.org/drawingml/2006/main">
              <a:ext uri="{FF2B5EF4-FFF2-40B4-BE49-F238E27FC236}">
                <a16:creationId xmlns:a16="http://schemas.microsoft.com/office/drawing/2014/main" id="{C6B90A86-CCCA-4AA8-8B06-E3306BB211F0}"/>
              </a:ext>
            </a:extLst>
          </p:cNvPr>
          <p:cNvSpPr>
            <a:spLocks xmlns:a="http://schemas.openxmlformats.org/drawingml/2006/main" noGrp="1"/>
          </p:cNvSpPr>
          <p:nvPr/>
        </p:nvSpPr>
        <p:spPr>
          <a:xfrm xmlns:a="http://schemas.openxmlformats.org/drawingml/2006/main" rot="6196360">
            <a:off x="296294" y="471068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R</a:t>
            </a:r>
          </a:p>
        </p:txBody>
      </p:sp>
      <p:sp>
        <p:nvSpPr>
          <p:cNvPr id="294" name="category-research_paper-1">
            <a:extLst xmlns:a="http://schemas.openxmlformats.org/drawingml/2006/main">
              <a:ext uri="{FF2B5EF4-FFF2-40B4-BE49-F238E27FC236}">
                <a16:creationId xmlns:a16="http://schemas.microsoft.com/office/drawing/2014/main" id="{FC9C8CCF-9EBB-4C67-904A-B7F809564FE7}"/>
              </a:ext>
            </a:extLst>
          </p:cNvPr>
          <p:cNvSpPr>
            <a:spLocks xmlns:a="http://schemas.openxmlformats.org/drawingml/2006/main" noGrp="1"/>
          </p:cNvSpPr>
          <p:nvPr/>
        </p:nvSpPr>
        <p:spPr>
          <a:xfrm xmlns:a="http://schemas.openxmlformats.org/drawingml/2006/main" rot="6079408">
            <a:off x="254678" y="490158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e</a:t>
            </a:r>
          </a:p>
        </p:txBody>
      </p:sp>
      <p:sp>
        <p:nvSpPr>
          <p:cNvPr id="295" name="category-research_paper-2">
            <a:extLst xmlns:a="http://schemas.openxmlformats.org/drawingml/2006/main">
              <a:ext uri="{FF2B5EF4-FFF2-40B4-BE49-F238E27FC236}">
                <a16:creationId xmlns:a16="http://schemas.microsoft.com/office/drawing/2014/main" id="{CD3AFC74-5F29-4105-A630-23E3AEB63B5D}"/>
              </a:ext>
            </a:extLst>
          </p:cNvPr>
          <p:cNvSpPr>
            <a:spLocks xmlns:a="http://schemas.openxmlformats.org/drawingml/2006/main" noGrp="1"/>
          </p:cNvSpPr>
          <p:nvPr/>
        </p:nvSpPr>
        <p:spPr>
          <a:xfrm xmlns:a="http://schemas.openxmlformats.org/drawingml/2006/main" rot="5977127">
            <a:off x="223622" y="506962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s</a:t>
            </a:r>
          </a:p>
        </p:txBody>
      </p:sp>
      <p:sp>
        <p:nvSpPr>
          <p:cNvPr id="296" name="category-research_paper-3">
            <a:extLst xmlns:a="http://schemas.openxmlformats.org/drawingml/2006/main">
              <a:ext uri="{FF2B5EF4-FFF2-40B4-BE49-F238E27FC236}">
                <a16:creationId xmlns:a16="http://schemas.microsoft.com/office/drawing/2014/main" id="{20A52633-F90A-416F-B62B-5967114E4B31}"/>
              </a:ext>
            </a:extLst>
          </p:cNvPr>
          <p:cNvSpPr>
            <a:spLocks xmlns:a="http://schemas.openxmlformats.org/drawingml/2006/main" noGrp="1"/>
          </p:cNvSpPr>
          <p:nvPr/>
        </p:nvSpPr>
        <p:spPr>
          <a:xfrm xmlns:a="http://schemas.openxmlformats.org/drawingml/2006/main" rot="5874846">
            <a:off x="197579" y="523850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e</a:t>
            </a:r>
          </a:p>
        </p:txBody>
      </p:sp>
      <p:sp>
        <p:nvSpPr>
          <p:cNvPr id="297" name="category-research_paper-4">
            <a:extLst xmlns:a="http://schemas.openxmlformats.org/drawingml/2006/main">
              <a:ext uri="{FF2B5EF4-FFF2-40B4-BE49-F238E27FC236}">
                <a16:creationId xmlns:a16="http://schemas.microsoft.com/office/drawing/2014/main" id="{D41B4710-DE3E-4DA6-86E4-F951A76F0E3D}"/>
              </a:ext>
            </a:extLst>
          </p:cNvPr>
          <p:cNvSpPr>
            <a:spLocks xmlns:a="http://schemas.openxmlformats.org/drawingml/2006/main" noGrp="1"/>
          </p:cNvSpPr>
          <p:nvPr/>
        </p:nvSpPr>
        <p:spPr>
          <a:xfrm xmlns:a="http://schemas.openxmlformats.org/drawingml/2006/main" rot="5772564">
            <a:off x="176571" y="540808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a</a:t>
            </a:r>
          </a:p>
        </p:txBody>
      </p:sp>
      <p:sp>
        <p:nvSpPr>
          <p:cNvPr id="298" name="category-research_paper-5">
            <a:extLst xmlns:a="http://schemas.openxmlformats.org/drawingml/2006/main">
              <a:ext uri="{FF2B5EF4-FFF2-40B4-BE49-F238E27FC236}">
                <a16:creationId xmlns:a16="http://schemas.microsoft.com/office/drawing/2014/main" id="{73D9CAEA-8A32-4FF8-A808-6026D040A569}"/>
              </a:ext>
            </a:extLst>
          </p:cNvPr>
          <p:cNvSpPr>
            <a:spLocks xmlns:a="http://schemas.openxmlformats.org/drawingml/2006/main" noGrp="1"/>
          </p:cNvSpPr>
          <p:nvPr/>
        </p:nvSpPr>
        <p:spPr>
          <a:xfrm xmlns:a="http://schemas.openxmlformats.org/drawingml/2006/main" rot="5685039">
            <a:off x="162607" y="555364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r</a:t>
            </a:r>
          </a:p>
        </p:txBody>
      </p:sp>
      <p:sp>
        <p:nvSpPr>
          <p:cNvPr id="299" name="category-research_paper-6">
            <a:extLst xmlns:a="http://schemas.openxmlformats.org/drawingml/2006/main">
              <a:ext uri="{FF2B5EF4-FFF2-40B4-BE49-F238E27FC236}">
                <a16:creationId xmlns:a16="http://schemas.microsoft.com/office/drawing/2014/main" id="{80A14D35-4E6B-4A7C-A18D-7969AB93D173}"/>
              </a:ext>
            </a:extLst>
          </p:cNvPr>
          <p:cNvSpPr>
            <a:spLocks xmlns:a="http://schemas.openxmlformats.org/drawingml/2006/main" noGrp="1"/>
          </p:cNvSpPr>
          <p:nvPr/>
        </p:nvSpPr>
        <p:spPr>
          <a:xfrm xmlns:a="http://schemas.openxmlformats.org/drawingml/2006/main" rot="5597515">
            <a:off x="152352" y="5699511"/>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c</a:t>
            </a:r>
          </a:p>
        </p:txBody>
      </p:sp>
      <p:sp>
        <p:nvSpPr>
          <p:cNvPr id="300" name="category-research_paper-7">
            <a:extLst xmlns:a="http://schemas.openxmlformats.org/drawingml/2006/main">
              <a:ext uri="{FF2B5EF4-FFF2-40B4-BE49-F238E27FC236}">
                <a16:creationId xmlns:a16="http://schemas.microsoft.com/office/drawing/2014/main" id="{90D361FB-AA86-4A8B-B3C6-0996B3D50E53}"/>
              </a:ext>
            </a:extLst>
          </p:cNvPr>
          <p:cNvSpPr>
            <a:spLocks xmlns:a="http://schemas.openxmlformats.org/drawingml/2006/main" noGrp="1"/>
          </p:cNvSpPr>
          <p:nvPr/>
        </p:nvSpPr>
        <p:spPr>
          <a:xfrm xmlns:a="http://schemas.openxmlformats.org/drawingml/2006/main" rot="5490401">
            <a:off x="144861" y="587830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h</a:t>
            </a:r>
          </a:p>
        </p:txBody>
      </p:sp>
      <p:sp>
        <p:nvSpPr>
          <p:cNvPr id="301" name="category-research_paper-9">
            <a:extLst xmlns:a="http://schemas.openxmlformats.org/drawingml/2006/main">
              <a:ext uri="{FF2B5EF4-FFF2-40B4-BE49-F238E27FC236}">
                <a16:creationId xmlns:a16="http://schemas.microsoft.com/office/drawing/2014/main" id="{D9308D69-D68A-47C9-964F-23D1A9139A03}"/>
              </a:ext>
            </a:extLst>
          </p:cNvPr>
          <p:cNvSpPr>
            <a:spLocks xmlns:a="http://schemas.openxmlformats.org/drawingml/2006/main" noGrp="1"/>
          </p:cNvSpPr>
          <p:nvPr/>
        </p:nvSpPr>
        <p:spPr>
          <a:xfrm xmlns:a="http://schemas.openxmlformats.org/drawingml/2006/main" rot="5325361">
            <a:off x="144229" y="615401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p</a:t>
            </a:r>
          </a:p>
        </p:txBody>
      </p:sp>
      <p:sp>
        <p:nvSpPr>
          <p:cNvPr id="302" name="category-research_paper-10">
            <a:extLst xmlns:a="http://schemas.openxmlformats.org/drawingml/2006/main">
              <a:ext uri="{FF2B5EF4-FFF2-40B4-BE49-F238E27FC236}">
                <a16:creationId xmlns:a16="http://schemas.microsoft.com/office/drawing/2014/main" id="{9AF63F4B-39B8-4B69-9B92-2D23280A3293}"/>
              </a:ext>
            </a:extLst>
          </p:cNvPr>
          <p:cNvSpPr>
            <a:spLocks xmlns:a="http://schemas.openxmlformats.org/drawingml/2006/main" noGrp="1"/>
          </p:cNvSpPr>
          <p:nvPr/>
        </p:nvSpPr>
        <p:spPr>
          <a:xfrm xmlns:a="http://schemas.openxmlformats.org/drawingml/2006/main" rot="5218247">
            <a:off x="150900" y="633284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a</a:t>
            </a:r>
          </a:p>
        </p:txBody>
      </p:sp>
      <p:sp>
        <p:nvSpPr>
          <p:cNvPr id="303" name="category-research_paper-11">
            <a:extLst xmlns:a="http://schemas.openxmlformats.org/drawingml/2006/main">
              <a:ext uri="{FF2B5EF4-FFF2-40B4-BE49-F238E27FC236}">
                <a16:creationId xmlns:a16="http://schemas.microsoft.com/office/drawing/2014/main" id="{0011BAE9-63A5-4D7D-B229-C45D1621854F}"/>
              </a:ext>
            </a:extLst>
          </p:cNvPr>
          <p:cNvSpPr>
            <a:spLocks xmlns:a="http://schemas.openxmlformats.org/drawingml/2006/main" noGrp="1"/>
          </p:cNvSpPr>
          <p:nvPr/>
        </p:nvSpPr>
        <p:spPr>
          <a:xfrm xmlns:a="http://schemas.openxmlformats.org/drawingml/2006/main" rot="5111133">
            <a:off x="163140" y="6511378"/>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p</a:t>
            </a:r>
          </a:p>
        </p:txBody>
      </p:sp>
      <p:sp>
        <p:nvSpPr>
          <p:cNvPr id="304" name="category-research_paper-12">
            <a:extLst xmlns:a="http://schemas.openxmlformats.org/drawingml/2006/main">
              <a:ext uri="{FF2B5EF4-FFF2-40B4-BE49-F238E27FC236}">
                <a16:creationId xmlns:a16="http://schemas.microsoft.com/office/drawing/2014/main" id="{28787052-B830-4B37-92FF-19401F73C226}"/>
              </a:ext>
            </a:extLst>
          </p:cNvPr>
          <p:cNvSpPr>
            <a:spLocks xmlns:a="http://schemas.openxmlformats.org/drawingml/2006/main" noGrp="1"/>
          </p:cNvSpPr>
          <p:nvPr/>
        </p:nvSpPr>
        <p:spPr>
          <a:xfrm xmlns:a="http://schemas.openxmlformats.org/drawingml/2006/main" rot="5004020">
            <a:off x="180935" y="668944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e</a:t>
            </a:r>
          </a:p>
        </p:txBody>
      </p:sp>
      <p:sp>
        <p:nvSpPr>
          <p:cNvPr id="305" name="category-research_paper-13">
            <a:extLst xmlns:a="http://schemas.openxmlformats.org/drawingml/2006/main">
              <a:ext uri="{FF2B5EF4-FFF2-40B4-BE49-F238E27FC236}">
                <a16:creationId xmlns:a16="http://schemas.microsoft.com/office/drawing/2014/main" id="{DAB76CD9-7792-47AB-B9AF-8128F68820D4}"/>
              </a:ext>
            </a:extLst>
          </p:cNvPr>
          <p:cNvSpPr>
            <a:spLocks xmlns:a="http://schemas.openxmlformats.org/drawingml/2006/main" noGrp="1"/>
          </p:cNvSpPr>
          <p:nvPr/>
        </p:nvSpPr>
        <p:spPr>
          <a:xfrm xmlns:a="http://schemas.openxmlformats.org/drawingml/2006/main" rot="4916495">
            <a:off x="199589" y="68344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r</a:t>
            </a:r>
          </a:p>
        </p:txBody>
      </p:sp>
      <p:sp>
        <p:nvSpPr>
          <p:cNvPr id="306" name="category-research_paper-14">
            <a:extLst xmlns:a="http://schemas.openxmlformats.org/drawingml/2006/main">
              <a:ext uri="{FF2B5EF4-FFF2-40B4-BE49-F238E27FC236}">
                <a16:creationId xmlns:a16="http://schemas.microsoft.com/office/drawing/2014/main" id="{3DF9EBFE-A869-4473-A92D-204649FC4BB3}"/>
              </a:ext>
            </a:extLst>
          </p:cNvPr>
          <p:cNvSpPr>
            <a:spLocks xmlns:a="http://schemas.openxmlformats.org/drawingml/2006/main" noGrp="1"/>
          </p:cNvSpPr>
          <p:nvPr/>
        </p:nvSpPr>
        <p:spPr>
          <a:xfrm xmlns:a="http://schemas.openxmlformats.org/drawingml/2006/main" rot="4828970">
            <a:off x="221929" y="697898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D4799"/>
                </a:solidFill>
                <a:latin typeface="Arial"/>
                <a:ea typeface="Arial"/>
                <a:cs typeface="Arial"/>
              </a:defRPr>
            </a:pPr>
            <a:r>
              <a:rPr sz="2325" b="1">
                <a:solidFill>
                  <a:srgbClr val="3D4799"/>
                </a:solidFill>
                <a:latin typeface="Arial"/>
                <a:ea typeface="Arial"/>
                <a:cs typeface="Arial"/>
              </a:rPr>
              <a:t>s</a:t>
            </a:r>
          </a:p>
        </p:txBody>
      </p:sp>
      <p:sp>
        <p:nvSpPr>
          <p:cNvPr id="307" name="research_paper-bracket-a">
            <a:extLst xmlns:a="http://schemas.openxmlformats.org/drawingml/2006/main">
              <a:ext uri="{FF2B5EF4-FFF2-40B4-BE49-F238E27FC236}">
                <a16:creationId xmlns:a16="http://schemas.microsoft.com/office/drawing/2014/main" id="{7A6D8406-7600-4487-B21F-F3D700B04A10}"/>
              </a:ext>
            </a:extLst>
          </p:cNvPr>
          <p:cNvSpPr>
            <a:spLocks xmlns:a="http://schemas.openxmlformats.org/drawingml/2006/main" noGrp="1"/>
          </p:cNvSpPr>
          <p:nvPr/>
        </p:nvSpPr>
        <p:spPr>
          <a:xfrm xmlns:a="http://schemas.openxmlformats.org/drawingml/2006/main">
            <a:off x="485747" y="7512572"/>
            <a:ext cx="1129720" cy="2316139"/>
          </a:xfrm>
          <a:custGeom xmlns:a="http://schemas.openxmlformats.org/drawingml/2006/main">
            <a:pathLst>
              <a:path w="1129720" h="2316139">
                <a:moveTo>
                  <a:pt x="1113343" y="2316139"/>
                </a:moveTo>
                <a:lnTo>
                  <a:pt x="1067595" y="2258071"/>
                </a:lnTo>
                <a:lnTo>
                  <a:pt x="1022597" y="2199419"/>
                </a:lnTo>
                <a:lnTo>
                  <a:pt x="978356" y="2140194"/>
                </a:lnTo>
                <a:lnTo>
                  <a:pt x="934879" y="2080406"/>
                </a:lnTo>
                <a:lnTo>
                  <a:pt x="892175" y="2020064"/>
                </a:lnTo>
                <a:lnTo>
                  <a:pt x="850249" y="1959178"/>
                </a:lnTo>
                <a:lnTo>
                  <a:pt x="809108" y="1897759"/>
                </a:lnTo>
                <a:lnTo>
                  <a:pt x="768760" y="1835816"/>
                </a:lnTo>
                <a:lnTo>
                  <a:pt x="729211" y="1773360"/>
                </a:lnTo>
                <a:lnTo>
                  <a:pt x="690468" y="1710401"/>
                </a:lnTo>
                <a:lnTo>
                  <a:pt x="652537" y="1646950"/>
                </a:lnTo>
                <a:lnTo>
                  <a:pt x="615424" y="1583017"/>
                </a:lnTo>
                <a:lnTo>
                  <a:pt x="579136" y="1518612"/>
                </a:lnTo>
                <a:lnTo>
                  <a:pt x="543678" y="1453746"/>
                </a:lnTo>
                <a:lnTo>
                  <a:pt x="509056" y="1388430"/>
                </a:lnTo>
                <a:lnTo>
                  <a:pt x="475277" y="1322674"/>
                </a:lnTo>
                <a:lnTo>
                  <a:pt x="442345" y="1256490"/>
                </a:lnTo>
                <a:lnTo>
                  <a:pt x="410265" y="1189889"/>
                </a:lnTo>
                <a:lnTo>
                  <a:pt x="379045" y="1122880"/>
                </a:lnTo>
                <a:lnTo>
                  <a:pt x="348687" y="1055476"/>
                </a:lnTo>
                <a:lnTo>
                  <a:pt x="319198" y="987688"/>
                </a:lnTo>
                <a:lnTo>
                  <a:pt x="290582" y="919527"/>
                </a:lnTo>
                <a:lnTo>
                  <a:pt x="262845" y="851003"/>
                </a:lnTo>
                <a:lnTo>
                  <a:pt x="235990" y="782129"/>
                </a:lnTo>
                <a:lnTo>
                  <a:pt x="210022" y="712915"/>
                </a:lnTo>
                <a:lnTo>
                  <a:pt x="184945" y="643374"/>
                </a:lnTo>
                <a:lnTo>
                  <a:pt x="160764" y="573516"/>
                </a:lnTo>
                <a:lnTo>
                  <a:pt x="137483" y="503353"/>
                </a:lnTo>
                <a:lnTo>
                  <a:pt x="115104" y="432897"/>
                </a:lnTo>
                <a:lnTo>
                  <a:pt x="93633" y="362159"/>
                </a:lnTo>
                <a:lnTo>
                  <a:pt x="73072" y="291152"/>
                </a:lnTo>
                <a:lnTo>
                  <a:pt x="53425" y="219886"/>
                </a:lnTo>
                <a:lnTo>
                  <a:pt x="34696" y="148373"/>
                </a:lnTo>
                <a:lnTo>
                  <a:pt x="16886" y="76626"/>
                </a:lnTo>
                <a:lnTo>
                  <a:pt x="0" y="4655"/>
                </a:lnTo>
                <a:lnTo>
                  <a:pt x="20431" y="0"/>
                </a:lnTo>
                <a:lnTo>
                  <a:pt x="37256" y="71708"/>
                </a:lnTo>
                <a:lnTo>
                  <a:pt x="55001" y="143194"/>
                </a:lnTo>
                <a:lnTo>
                  <a:pt x="73662" y="214446"/>
                </a:lnTo>
                <a:lnTo>
                  <a:pt x="93237" y="285453"/>
                </a:lnTo>
                <a:lnTo>
                  <a:pt x="113723" y="356202"/>
                </a:lnTo>
                <a:lnTo>
                  <a:pt x="135116" y="426682"/>
                </a:lnTo>
                <a:lnTo>
                  <a:pt x="157413" y="496882"/>
                </a:lnTo>
                <a:lnTo>
                  <a:pt x="180610" y="566789"/>
                </a:lnTo>
                <a:lnTo>
                  <a:pt x="204703" y="636392"/>
                </a:lnTo>
                <a:lnTo>
                  <a:pt x="229688" y="705681"/>
                </a:lnTo>
                <a:lnTo>
                  <a:pt x="255562" y="774642"/>
                </a:lnTo>
                <a:lnTo>
                  <a:pt x="282319" y="843265"/>
                </a:lnTo>
                <a:lnTo>
                  <a:pt x="309956" y="911539"/>
                </a:lnTo>
                <a:lnTo>
                  <a:pt x="338467" y="979453"/>
                </a:lnTo>
                <a:lnTo>
                  <a:pt x="367849" y="1046994"/>
                </a:lnTo>
                <a:lnTo>
                  <a:pt x="398095" y="1114152"/>
                </a:lnTo>
                <a:lnTo>
                  <a:pt x="429203" y="1180917"/>
                </a:lnTo>
                <a:lnTo>
                  <a:pt x="461165" y="1247276"/>
                </a:lnTo>
                <a:lnTo>
                  <a:pt x="493977" y="1313219"/>
                </a:lnTo>
                <a:lnTo>
                  <a:pt x="527634" y="1378735"/>
                </a:lnTo>
                <a:lnTo>
                  <a:pt x="562129" y="1443813"/>
                </a:lnTo>
                <a:lnTo>
                  <a:pt x="597458" y="1508443"/>
                </a:lnTo>
                <a:lnTo>
                  <a:pt x="633615" y="1572613"/>
                </a:lnTo>
                <a:lnTo>
                  <a:pt x="670592" y="1636314"/>
                </a:lnTo>
                <a:lnTo>
                  <a:pt x="708385" y="1699534"/>
                </a:lnTo>
                <a:lnTo>
                  <a:pt x="746987" y="1762264"/>
                </a:lnTo>
                <a:lnTo>
                  <a:pt x="786392" y="1824492"/>
                </a:lnTo>
                <a:lnTo>
                  <a:pt x="826593" y="1886209"/>
                </a:lnTo>
                <a:lnTo>
                  <a:pt x="867583" y="1947405"/>
                </a:lnTo>
                <a:lnTo>
                  <a:pt x="909357" y="2008069"/>
                </a:lnTo>
                <a:lnTo>
                  <a:pt x="951906" y="2068191"/>
                </a:lnTo>
                <a:lnTo>
                  <a:pt x="995224" y="2127761"/>
                </a:lnTo>
                <a:lnTo>
                  <a:pt x="1039304" y="2186771"/>
                </a:lnTo>
                <a:lnTo>
                  <a:pt x="1084138" y="2245209"/>
                </a:lnTo>
                <a:lnTo>
                  <a:pt x="1129720" y="2303066"/>
                </a:lnTo>
                <a:close/>
              </a:path>
            </a:pathLst>
          </a:custGeom>
          <a:solidFill xmlns:a="http://schemas.openxmlformats.org/drawingml/2006/main">
            <a:srgbClr val="3D4799"/>
          </a:solidFill>
          <a:ln xmlns:a="http://schemas.openxmlformats.org/drawingml/2006/main" w="0">
            <a:noFill/>
          </a:ln>
        </p:spPr>
      </p:sp>
      <p:sp>
        <p:nvSpPr>
          <p:cNvPr id="308" name="research_paper-bracket-b">
            <a:extLst xmlns:a="http://schemas.openxmlformats.org/drawingml/2006/main">
              <a:ext uri="{FF2B5EF4-FFF2-40B4-BE49-F238E27FC236}">
                <a16:creationId xmlns:a16="http://schemas.microsoft.com/office/drawing/2014/main" id="{7B9CE47B-4639-4FD7-BDCB-2C283F061168}"/>
              </a:ext>
            </a:extLst>
          </p:cNvPr>
          <p:cNvSpPr>
            <a:spLocks xmlns:a="http://schemas.openxmlformats.org/drawingml/2006/main" noGrp="1"/>
          </p:cNvSpPr>
          <p:nvPr/>
        </p:nvSpPr>
        <p:spPr>
          <a:xfrm xmlns:a="http://schemas.openxmlformats.org/drawingml/2006/main">
            <a:off x="588587" y="3816213"/>
            <a:ext cx="307241" cy="762142"/>
          </a:xfrm>
          <a:custGeom xmlns:a="http://schemas.openxmlformats.org/drawingml/2006/main">
            <a:pathLst>
              <a:path w="307241" h="762142">
                <a:moveTo>
                  <a:pt x="0" y="756073"/>
                </a:moveTo>
                <a:lnTo>
                  <a:pt x="21773" y="685747"/>
                </a:lnTo>
                <a:lnTo>
                  <a:pt x="44445" y="615705"/>
                </a:lnTo>
                <a:lnTo>
                  <a:pt x="68010" y="545959"/>
                </a:lnTo>
                <a:lnTo>
                  <a:pt x="92466" y="476521"/>
                </a:lnTo>
                <a:lnTo>
                  <a:pt x="117808" y="407400"/>
                </a:lnTo>
                <a:lnTo>
                  <a:pt x="144033" y="338610"/>
                </a:lnTo>
                <a:lnTo>
                  <a:pt x="171135" y="270161"/>
                </a:lnTo>
                <a:lnTo>
                  <a:pt x="199111" y="202065"/>
                </a:lnTo>
                <a:lnTo>
                  <a:pt x="227956" y="134332"/>
                </a:lnTo>
                <a:lnTo>
                  <a:pt x="257666" y="66973"/>
                </a:lnTo>
                <a:lnTo>
                  <a:pt x="288234" y="0"/>
                </a:lnTo>
                <a:lnTo>
                  <a:pt x="307241" y="8823"/>
                </a:lnTo>
                <a:lnTo>
                  <a:pt x="276784" y="75552"/>
                </a:lnTo>
                <a:lnTo>
                  <a:pt x="247183" y="142665"/>
                </a:lnTo>
                <a:lnTo>
                  <a:pt x="218443" y="210152"/>
                </a:lnTo>
                <a:lnTo>
                  <a:pt x="190569" y="278000"/>
                </a:lnTo>
                <a:lnTo>
                  <a:pt x="163565" y="346200"/>
                </a:lnTo>
                <a:lnTo>
                  <a:pt x="137436" y="414740"/>
                </a:lnTo>
                <a:lnTo>
                  <a:pt x="112186" y="483608"/>
                </a:lnTo>
                <a:lnTo>
                  <a:pt x="87819" y="552794"/>
                </a:lnTo>
                <a:lnTo>
                  <a:pt x="64339" y="622286"/>
                </a:lnTo>
                <a:lnTo>
                  <a:pt x="41751" y="692072"/>
                </a:lnTo>
                <a:lnTo>
                  <a:pt x="20057" y="762142"/>
                </a:lnTo>
                <a:close/>
              </a:path>
            </a:pathLst>
          </a:custGeom>
          <a:solidFill xmlns:a="http://schemas.openxmlformats.org/drawingml/2006/main">
            <a:srgbClr val="3D4799"/>
          </a:solidFill>
          <a:ln xmlns:a="http://schemas.openxmlformats.org/drawingml/2006/main" w="0">
            <a:noFill/>
          </a:ln>
        </p:spPr>
      </p:sp>
      <p:sp>
        <p:nvSpPr>
          <p:cNvPr id="309" name="category-research_notes-0">
            <a:extLst xmlns:a="http://schemas.openxmlformats.org/drawingml/2006/main">
              <a:ext uri="{FF2B5EF4-FFF2-40B4-BE49-F238E27FC236}">
                <a16:creationId xmlns:a16="http://schemas.microsoft.com/office/drawing/2014/main" id="{754837E0-AA30-47BA-B539-62044A29C400}"/>
              </a:ext>
            </a:extLst>
          </p:cNvPr>
          <p:cNvSpPr>
            <a:spLocks xmlns:a="http://schemas.openxmlformats.org/drawingml/2006/main" noGrp="1"/>
          </p:cNvSpPr>
          <p:nvPr/>
        </p:nvSpPr>
        <p:spPr>
          <a:xfrm xmlns:a="http://schemas.openxmlformats.org/drawingml/2006/main" rot="18635151">
            <a:off x="721668" y="1604782"/>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U</a:t>
            </a:r>
          </a:p>
        </p:txBody>
      </p:sp>
      <p:sp>
        <p:nvSpPr>
          <p:cNvPr id="310" name="category-research_notes-1">
            <a:extLst xmlns:a="http://schemas.openxmlformats.org/drawingml/2006/main">
              <a:ext uri="{FF2B5EF4-FFF2-40B4-BE49-F238E27FC236}">
                <a16:creationId xmlns:a16="http://schemas.microsoft.com/office/drawing/2014/main" id="{134FAC03-9125-4026-96E6-20B54A96F4D7}"/>
              </a:ext>
            </a:extLst>
          </p:cNvPr>
          <p:cNvSpPr>
            <a:spLocks xmlns:a="http://schemas.openxmlformats.org/drawingml/2006/main" noGrp="1"/>
          </p:cNvSpPr>
          <p:nvPr/>
        </p:nvSpPr>
        <p:spPr>
          <a:xfrm xmlns:a="http://schemas.openxmlformats.org/drawingml/2006/main" rot="18738003">
            <a:off x="856334" y="145226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n</a:t>
            </a:r>
          </a:p>
        </p:txBody>
      </p:sp>
      <p:sp>
        <p:nvSpPr>
          <p:cNvPr id="311" name="category-research_notes-2">
            <a:extLst xmlns:a="http://schemas.openxmlformats.org/drawingml/2006/main">
              <a:ext uri="{FF2B5EF4-FFF2-40B4-BE49-F238E27FC236}">
                <a16:creationId xmlns:a16="http://schemas.microsoft.com/office/drawing/2014/main" id="{F006B574-6D0A-40F3-8713-A2D542B1FB77}"/>
              </a:ext>
            </a:extLst>
          </p:cNvPr>
          <p:cNvSpPr>
            <a:spLocks xmlns:a="http://schemas.openxmlformats.org/drawingml/2006/main" noGrp="1"/>
          </p:cNvSpPr>
          <p:nvPr/>
        </p:nvSpPr>
        <p:spPr>
          <a:xfrm xmlns:a="http://schemas.openxmlformats.org/drawingml/2006/main" rot="18832546">
            <a:off x="984096" y="1315676"/>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p</a:t>
            </a:r>
          </a:p>
        </p:txBody>
      </p:sp>
      <p:sp>
        <p:nvSpPr>
          <p:cNvPr id="312" name="category-research_notes-3">
            <a:extLst xmlns:a="http://schemas.openxmlformats.org/drawingml/2006/main">
              <a:ext uri="{FF2B5EF4-FFF2-40B4-BE49-F238E27FC236}">
                <a16:creationId xmlns:a16="http://schemas.microsoft.com/office/drawing/2014/main" id="{EB187FC0-94F9-4C44-88B9-498805CEF053}"/>
              </a:ext>
            </a:extLst>
          </p:cNvPr>
          <p:cNvSpPr>
            <a:spLocks xmlns:a="http://schemas.openxmlformats.org/drawingml/2006/main" noGrp="1"/>
          </p:cNvSpPr>
          <p:nvPr/>
        </p:nvSpPr>
        <p:spPr>
          <a:xfrm xmlns:a="http://schemas.openxmlformats.org/drawingml/2006/main" rot="18927089">
            <a:off x="1115565" y="1182654"/>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u</a:t>
            </a:r>
          </a:p>
        </p:txBody>
      </p:sp>
      <p:sp>
        <p:nvSpPr>
          <p:cNvPr id="313" name="category-research_notes-4">
            <a:extLst xmlns:a="http://schemas.openxmlformats.org/drawingml/2006/main">
              <a:ext uri="{FF2B5EF4-FFF2-40B4-BE49-F238E27FC236}">
                <a16:creationId xmlns:a16="http://schemas.microsoft.com/office/drawing/2014/main" id="{6EC2E09F-9AA1-402D-9E69-B5A12D552448}"/>
              </a:ext>
            </a:extLst>
          </p:cNvPr>
          <p:cNvSpPr>
            <a:spLocks xmlns:a="http://schemas.openxmlformats.org/drawingml/2006/main" noGrp="1"/>
          </p:cNvSpPr>
          <p:nvPr/>
        </p:nvSpPr>
        <p:spPr>
          <a:xfrm xmlns:a="http://schemas.openxmlformats.org/drawingml/2006/main" rot="19021632">
            <a:off x="1250643" y="1053297"/>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b</a:t>
            </a:r>
          </a:p>
        </p:txBody>
      </p:sp>
      <p:sp>
        <p:nvSpPr>
          <p:cNvPr id="314" name="category-research_notes-5">
            <a:extLst xmlns:a="http://schemas.openxmlformats.org/drawingml/2006/main">
              <a:ext uri="{FF2B5EF4-FFF2-40B4-BE49-F238E27FC236}">
                <a16:creationId xmlns:a16="http://schemas.microsoft.com/office/drawing/2014/main" id="{214786B4-3D60-4E8D-949F-9BC87C9CF98C}"/>
              </a:ext>
            </a:extLst>
          </p:cNvPr>
          <p:cNvSpPr>
            <a:spLocks xmlns:a="http://schemas.openxmlformats.org/drawingml/2006/main" noGrp="1"/>
          </p:cNvSpPr>
          <p:nvPr/>
        </p:nvSpPr>
        <p:spPr>
          <a:xfrm xmlns:a="http://schemas.openxmlformats.org/drawingml/2006/main" rot="19091323">
            <a:off x="1352464" y="960348"/>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l</a:t>
            </a:r>
          </a:p>
        </p:txBody>
      </p:sp>
      <p:sp>
        <p:nvSpPr>
          <p:cNvPr id="315" name="category-research_notes-6">
            <a:extLst xmlns:a="http://schemas.openxmlformats.org/drawingml/2006/main">
              <a:ext uri="{FF2B5EF4-FFF2-40B4-BE49-F238E27FC236}">
                <a16:creationId xmlns:a16="http://schemas.microsoft.com/office/drawing/2014/main" id="{4CF7892A-6026-4F72-B650-A0DF4B3CE995}"/>
              </a:ext>
            </a:extLst>
          </p:cNvPr>
          <p:cNvSpPr>
            <a:spLocks xmlns:a="http://schemas.openxmlformats.org/drawingml/2006/main" noGrp="1"/>
          </p:cNvSpPr>
          <p:nvPr/>
        </p:nvSpPr>
        <p:spPr>
          <a:xfrm xmlns:a="http://schemas.openxmlformats.org/drawingml/2006/main" rot="19136162">
            <a:off x="1418963" y="90164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i</a:t>
            </a:r>
          </a:p>
        </p:txBody>
      </p:sp>
      <p:sp>
        <p:nvSpPr>
          <p:cNvPr id="316" name="category-research_notes-7">
            <a:extLst xmlns:a="http://schemas.openxmlformats.org/drawingml/2006/main">
              <a:ext uri="{FF2B5EF4-FFF2-40B4-BE49-F238E27FC236}">
                <a16:creationId xmlns:a16="http://schemas.microsoft.com/office/drawing/2014/main" id="{E7959162-C127-4231-8632-8B044615454D}"/>
              </a:ext>
            </a:extLst>
          </p:cNvPr>
          <p:cNvSpPr>
            <a:spLocks xmlns:a="http://schemas.openxmlformats.org/drawingml/2006/main" noGrp="1"/>
          </p:cNvSpPr>
          <p:nvPr/>
        </p:nvSpPr>
        <p:spPr>
          <a:xfrm xmlns:a="http://schemas.openxmlformats.org/drawingml/2006/main" rot="19201772">
            <a:off x="1517633" y="817320"/>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s</a:t>
            </a:r>
          </a:p>
        </p:txBody>
      </p:sp>
      <p:sp>
        <p:nvSpPr>
          <p:cNvPr id="317" name="category-research_notes-8">
            <a:extLst xmlns:a="http://schemas.openxmlformats.org/drawingml/2006/main">
              <a:ext uri="{FF2B5EF4-FFF2-40B4-BE49-F238E27FC236}">
                <a16:creationId xmlns:a16="http://schemas.microsoft.com/office/drawing/2014/main" id="{9962EAA9-19DD-4945-A12C-AA0282219979}"/>
              </a:ext>
            </a:extLst>
          </p:cNvPr>
          <p:cNvSpPr>
            <a:spLocks xmlns:a="http://schemas.openxmlformats.org/drawingml/2006/main" noGrp="1"/>
          </p:cNvSpPr>
          <p:nvPr/>
        </p:nvSpPr>
        <p:spPr>
          <a:xfrm xmlns:a="http://schemas.openxmlformats.org/drawingml/2006/main" rot="19292233">
            <a:off x="1656280" y="7041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h</a:t>
            </a:r>
          </a:p>
        </p:txBody>
      </p:sp>
      <p:sp>
        <p:nvSpPr>
          <p:cNvPr id="318" name="category-research_notes-9">
            <a:extLst xmlns:a="http://schemas.openxmlformats.org/drawingml/2006/main">
              <a:ext uri="{FF2B5EF4-FFF2-40B4-BE49-F238E27FC236}">
                <a16:creationId xmlns:a16="http://schemas.microsoft.com/office/drawing/2014/main" id="{30B30607-C843-43BA-B31E-A735C51A8F00}"/>
              </a:ext>
            </a:extLst>
          </p:cNvPr>
          <p:cNvSpPr>
            <a:spLocks xmlns:a="http://schemas.openxmlformats.org/drawingml/2006/main" noGrp="1"/>
          </p:cNvSpPr>
          <p:nvPr/>
        </p:nvSpPr>
        <p:spPr>
          <a:xfrm xmlns:a="http://schemas.openxmlformats.org/drawingml/2006/main" rot="19382695">
            <a:off x="1797856" y="594718"/>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e</a:t>
            </a:r>
          </a:p>
        </p:txBody>
      </p:sp>
      <p:sp>
        <p:nvSpPr>
          <p:cNvPr id="319" name="category-research_notes-10">
            <a:extLst xmlns:a="http://schemas.openxmlformats.org/drawingml/2006/main">
              <a:ext uri="{FF2B5EF4-FFF2-40B4-BE49-F238E27FC236}">
                <a16:creationId xmlns:a16="http://schemas.microsoft.com/office/drawing/2014/main" id="{25A00E48-CE2D-4E70-B52B-6063928E8E93}"/>
              </a:ext>
            </a:extLst>
          </p:cNvPr>
          <p:cNvSpPr>
            <a:spLocks xmlns:a="http://schemas.openxmlformats.org/drawingml/2006/main" noGrp="1"/>
          </p:cNvSpPr>
          <p:nvPr/>
        </p:nvSpPr>
        <p:spPr>
          <a:xfrm xmlns:a="http://schemas.openxmlformats.org/drawingml/2006/main" rot="19473157">
            <a:off x="1942262" y="489023"/>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AA4829"/>
                </a:solidFill>
                <a:latin typeface="Arial"/>
                <a:ea typeface="Arial"/>
                <a:cs typeface="Arial"/>
              </a:defRPr>
            </a:pPr>
            <a:r>
              <a:rPr sz="2325" b="1">
                <a:solidFill>
                  <a:srgbClr val="AA4829"/>
                </a:solidFill>
                <a:latin typeface="Arial"/>
                <a:ea typeface="Arial"/>
                <a:cs typeface="Arial"/>
              </a:rPr>
              <a:t>d</a:t>
            </a:r>
          </a:p>
        </p:txBody>
      </p:sp>
      <p:sp>
        <p:nvSpPr>
          <p:cNvPr id="320" name="research_notes-bracket-a">
            <a:extLst xmlns:a="http://schemas.openxmlformats.org/drawingml/2006/main">
              <a:ext uri="{FF2B5EF4-FFF2-40B4-BE49-F238E27FC236}">
                <a16:creationId xmlns:a16="http://schemas.microsoft.com/office/drawing/2014/main" id="{1DE23514-6A1D-46A7-8920-59B21528ABE4}"/>
              </a:ext>
            </a:extLst>
          </p:cNvPr>
          <p:cNvSpPr>
            <a:spLocks xmlns:a="http://schemas.openxmlformats.org/drawingml/2006/main" noGrp="1"/>
          </p:cNvSpPr>
          <p:nvPr/>
        </p:nvSpPr>
        <p:spPr>
          <a:xfrm xmlns:a="http://schemas.openxmlformats.org/drawingml/2006/main">
            <a:off x="416131" y="2121925"/>
            <a:ext cx="270247" cy="369092"/>
          </a:xfrm>
          <a:custGeom xmlns:a="http://schemas.openxmlformats.org/drawingml/2006/main">
            <a:pathLst>
              <a:path w="270247" h="369092">
                <a:moveTo>
                  <a:pt x="0" y="357526"/>
                </a:moveTo>
                <a:lnTo>
                  <a:pt x="48861" y="284727"/>
                </a:lnTo>
                <a:lnTo>
                  <a:pt x="98656" y="212563"/>
                </a:lnTo>
                <a:lnTo>
                  <a:pt x="149375" y="141046"/>
                </a:lnTo>
                <a:lnTo>
                  <a:pt x="201010" y="70188"/>
                </a:lnTo>
                <a:lnTo>
                  <a:pt x="253553" y="0"/>
                </a:lnTo>
                <a:lnTo>
                  <a:pt x="270247" y="12666"/>
                </a:lnTo>
                <a:lnTo>
                  <a:pt x="217866" y="82638"/>
                </a:lnTo>
                <a:lnTo>
                  <a:pt x="166389" y="153278"/>
                </a:lnTo>
                <a:lnTo>
                  <a:pt x="115826" y="224575"/>
                </a:lnTo>
                <a:lnTo>
                  <a:pt x="66185" y="296517"/>
                </a:lnTo>
                <a:lnTo>
                  <a:pt x="17474" y="369092"/>
                </a:lnTo>
                <a:close/>
              </a:path>
            </a:pathLst>
          </a:custGeom>
          <a:solidFill xmlns:a="http://schemas.openxmlformats.org/drawingml/2006/main">
            <a:srgbClr val="AA4829"/>
          </a:solidFill>
          <a:ln xmlns:a="http://schemas.openxmlformats.org/drawingml/2006/main" w="0">
            <a:noFill/>
          </a:ln>
        </p:spPr>
      </p:sp>
      <p:sp>
        <p:nvSpPr>
          <p:cNvPr id="321" name="scale-ruler">
            <a:extLst xmlns:a="http://schemas.openxmlformats.org/drawingml/2006/main">
              <a:ext uri="{FF2B5EF4-FFF2-40B4-BE49-F238E27FC236}">
                <a16:creationId xmlns:a16="http://schemas.microsoft.com/office/drawing/2014/main" id="{9FC3741C-3221-44FA-8434-CEF1C6B117F5}"/>
              </a:ext>
            </a:extLst>
          </p:cNvPr>
          <p:cNvSpPr>
            <a:spLocks xmlns:a="http://schemas.openxmlformats.org/drawingml/2006/main" noGrp="1"/>
          </p:cNvSpPr>
          <p:nvPr/>
        </p:nvSpPr>
        <p:spPr>
          <a:xfrm xmlns:a="http://schemas.openxmlformats.org/drawingml/2006/main" flipV="0">
            <a:off x="6048123" y="752684"/>
            <a:ext cx="34835" cy="3991746"/>
          </a:xfrm>
          <a:prstGeom xmlns:a="http://schemas.openxmlformats.org/drawingml/2006/main" prst="line">
            <a:avLst/>
          </a:prstGeom>
          <a:noFill xmlns:a="http://schemas.openxmlformats.org/drawingml/2006/main"/>
          <a:ln xmlns:a="http://schemas.openxmlformats.org/drawingml/2006/main" w="11906">
            <a:solidFill>
              <a:srgbClr val="16383D"/>
            </a:solidFill>
          </a:ln>
        </p:spPr>
      </p:sp>
      <p:sp>
        <p:nvSpPr>
          <p:cNvPr id="322" name="outer-tick-mark-0">
            <a:extLst xmlns:a="http://schemas.openxmlformats.org/drawingml/2006/main">
              <a:ext uri="{FF2B5EF4-FFF2-40B4-BE49-F238E27FC236}">
                <a16:creationId xmlns:a16="http://schemas.microsoft.com/office/drawing/2014/main" id="{A7F5B120-635D-4C3A-AB33-67F7EB034880}"/>
              </a:ext>
            </a:extLst>
          </p:cNvPr>
          <p:cNvSpPr>
            <a:spLocks xmlns:a="http://schemas.openxmlformats.org/drawingml/2006/main" noGrp="1"/>
          </p:cNvSpPr>
          <p:nvPr/>
        </p:nvSpPr>
        <p:spPr>
          <a:xfrm xmlns:a="http://schemas.openxmlformats.org/drawingml/2006/main" flipV="0">
            <a:off x="5996526" y="3571977"/>
            <a:ext cx="152400" cy="10"/>
          </a:xfrm>
          <a:prstGeom xmlns:a="http://schemas.openxmlformats.org/drawingml/2006/main" prst="line">
            <a:avLst/>
          </a:prstGeom>
          <a:noFill xmlns:a="http://schemas.openxmlformats.org/drawingml/2006/main"/>
          <a:ln xmlns:a="http://schemas.openxmlformats.org/drawingml/2006/main" w="17145">
            <a:solidFill>
              <a:srgbClr val="16383D"/>
            </a:solidFill>
          </a:ln>
        </p:spPr>
      </p:sp>
      <p:sp>
        <p:nvSpPr>
          <p:cNvPr id="323" name="outer-tick-0">
            <a:extLst xmlns:a="http://schemas.openxmlformats.org/drawingml/2006/main">
              <a:ext uri="{FF2B5EF4-FFF2-40B4-BE49-F238E27FC236}">
                <a16:creationId xmlns:a16="http://schemas.microsoft.com/office/drawing/2014/main" id="{9649A112-3714-409C-A36F-D4D66665D6BE}"/>
              </a:ext>
            </a:extLst>
          </p:cNvPr>
          <p:cNvSpPr>
            <a:spLocks xmlns:a="http://schemas.openxmlformats.org/drawingml/2006/main" noGrp="1"/>
          </p:cNvSpPr>
          <p:nvPr/>
        </p:nvSpPr>
        <p:spPr>
          <a:xfrm xmlns:a="http://schemas.openxmlformats.org/drawingml/2006/main" rot="0">
            <a:off x="5329776" y="3410052"/>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1">
                <a:solidFill>
                  <a:srgbClr val="16383D"/>
                </a:solidFill>
                <a:latin typeface="Arial"/>
                <a:ea typeface="Arial"/>
                <a:cs typeface="Arial"/>
              </a:defRPr>
            </a:pPr>
            <a:r>
              <a:rPr sz="2025" b="1">
                <a:solidFill>
                  <a:srgbClr val="16383D"/>
                </a:solidFill>
                <a:latin typeface="Arial"/>
                <a:ea typeface="Arial"/>
                <a:cs typeface="Arial"/>
              </a:rPr>
              <a:t>0</a:t>
            </a:r>
          </a:p>
        </p:txBody>
      </p:sp>
      <p:sp>
        <p:nvSpPr>
          <p:cNvPr id="324" name="outer-tick-mark-5000">
            <a:extLst xmlns:a="http://schemas.openxmlformats.org/drawingml/2006/main">
              <a:ext uri="{FF2B5EF4-FFF2-40B4-BE49-F238E27FC236}">
                <a16:creationId xmlns:a16="http://schemas.microsoft.com/office/drawing/2014/main" id="{45864BD1-D3F8-4C9C-B9DC-8FF898568B49}"/>
              </a:ext>
            </a:extLst>
          </p:cNvPr>
          <p:cNvSpPr>
            <a:spLocks xmlns:a="http://schemas.openxmlformats.org/drawingml/2006/main" noGrp="1"/>
          </p:cNvSpPr>
          <p:nvPr/>
        </p:nvSpPr>
        <p:spPr>
          <a:xfrm xmlns:a="http://schemas.openxmlformats.org/drawingml/2006/main" flipV="0">
            <a:off x="6019117" y="2886203"/>
            <a:ext cx="95250" cy="10"/>
          </a:xfrm>
          <a:prstGeom xmlns:a="http://schemas.openxmlformats.org/drawingml/2006/main" prst="line">
            <a:avLst/>
          </a:prstGeom>
          <a:noFill xmlns:a="http://schemas.openxmlformats.org/drawingml/2006/main"/>
          <a:ln xmlns:a="http://schemas.openxmlformats.org/drawingml/2006/main" w="11430">
            <a:solidFill>
              <a:srgbClr val="16383D"/>
            </a:solidFill>
          </a:ln>
        </p:spPr>
      </p:sp>
      <p:sp>
        <p:nvSpPr>
          <p:cNvPr id="325" name="outer-tick-5000">
            <a:extLst xmlns:a="http://schemas.openxmlformats.org/drawingml/2006/main">
              <a:ext uri="{FF2B5EF4-FFF2-40B4-BE49-F238E27FC236}">
                <a16:creationId xmlns:a16="http://schemas.microsoft.com/office/drawing/2014/main" id="{8A52422F-B120-4345-B6B9-9352F4DF00D3}"/>
              </a:ext>
            </a:extLst>
          </p:cNvPr>
          <p:cNvSpPr>
            <a:spLocks xmlns:a="http://schemas.openxmlformats.org/drawingml/2006/main" noGrp="1"/>
          </p:cNvSpPr>
          <p:nvPr/>
        </p:nvSpPr>
        <p:spPr>
          <a:xfrm xmlns:a="http://schemas.openxmlformats.org/drawingml/2006/main" rot="0">
            <a:off x="5323792" y="2724278"/>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0">
                <a:solidFill>
                  <a:srgbClr val="16383D"/>
                </a:solidFill>
                <a:latin typeface="Arial"/>
                <a:ea typeface="Arial"/>
                <a:cs typeface="Arial"/>
              </a:defRPr>
            </a:pPr>
            <a:r>
              <a:rPr sz="2025" b="0">
                <a:solidFill>
                  <a:srgbClr val="16383D"/>
                </a:solidFill>
                <a:latin typeface="Arial"/>
                <a:ea typeface="Arial"/>
                <a:cs typeface="Arial"/>
              </a:rPr>
              <a:t>5k</a:t>
            </a:r>
          </a:p>
        </p:txBody>
      </p:sp>
      <p:sp>
        <p:nvSpPr>
          <p:cNvPr id="326" name="outer-tick-mark-20000">
            <a:extLst xmlns:a="http://schemas.openxmlformats.org/drawingml/2006/main">
              <a:ext uri="{FF2B5EF4-FFF2-40B4-BE49-F238E27FC236}">
                <a16:creationId xmlns:a16="http://schemas.microsoft.com/office/drawing/2014/main" id="{99CC24B4-654D-4EC6-B1D8-A55079E0AD55}"/>
              </a:ext>
            </a:extLst>
          </p:cNvPr>
          <p:cNvSpPr>
            <a:spLocks xmlns:a="http://schemas.openxmlformats.org/drawingml/2006/main" noGrp="1"/>
          </p:cNvSpPr>
          <p:nvPr/>
        </p:nvSpPr>
        <p:spPr>
          <a:xfrm xmlns:a="http://schemas.openxmlformats.org/drawingml/2006/main" flipV="0">
            <a:off x="6013132" y="2200429"/>
            <a:ext cx="95250" cy="10"/>
          </a:xfrm>
          <a:prstGeom xmlns:a="http://schemas.openxmlformats.org/drawingml/2006/main" prst="line">
            <a:avLst/>
          </a:prstGeom>
          <a:noFill xmlns:a="http://schemas.openxmlformats.org/drawingml/2006/main"/>
          <a:ln xmlns:a="http://schemas.openxmlformats.org/drawingml/2006/main" w="11430">
            <a:solidFill>
              <a:srgbClr val="16383D"/>
            </a:solidFill>
          </a:ln>
        </p:spPr>
      </p:sp>
      <p:sp>
        <p:nvSpPr>
          <p:cNvPr id="327" name="outer-tick-20000">
            <a:extLst xmlns:a="http://schemas.openxmlformats.org/drawingml/2006/main">
              <a:ext uri="{FF2B5EF4-FFF2-40B4-BE49-F238E27FC236}">
                <a16:creationId xmlns:a16="http://schemas.microsoft.com/office/drawing/2014/main" id="{CADE4D57-BB1A-41EA-9FDC-E3C810F26703}"/>
              </a:ext>
            </a:extLst>
          </p:cNvPr>
          <p:cNvSpPr>
            <a:spLocks xmlns:a="http://schemas.openxmlformats.org/drawingml/2006/main" noGrp="1"/>
          </p:cNvSpPr>
          <p:nvPr/>
        </p:nvSpPr>
        <p:spPr>
          <a:xfrm xmlns:a="http://schemas.openxmlformats.org/drawingml/2006/main" rot="0">
            <a:off x="5317807" y="2038504"/>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0">
                <a:solidFill>
                  <a:srgbClr val="16383D"/>
                </a:solidFill>
                <a:latin typeface="Arial"/>
                <a:ea typeface="Arial"/>
                <a:cs typeface="Arial"/>
              </a:defRPr>
            </a:pPr>
            <a:r>
              <a:rPr sz="2025" b="0">
                <a:solidFill>
                  <a:srgbClr val="16383D"/>
                </a:solidFill>
                <a:latin typeface="Arial"/>
                <a:ea typeface="Arial"/>
                <a:cs typeface="Arial"/>
              </a:rPr>
              <a:t>20k</a:t>
            </a:r>
          </a:p>
        </p:txBody>
      </p:sp>
      <p:sp>
        <p:nvSpPr>
          <p:cNvPr id="328" name="outer-tick-mark-80000">
            <a:extLst xmlns:a="http://schemas.openxmlformats.org/drawingml/2006/main">
              <a:ext uri="{FF2B5EF4-FFF2-40B4-BE49-F238E27FC236}">
                <a16:creationId xmlns:a16="http://schemas.microsoft.com/office/drawing/2014/main" id="{2D4553DA-6F79-488E-B6F4-CB3058CC6FA8}"/>
              </a:ext>
            </a:extLst>
          </p:cNvPr>
          <p:cNvSpPr>
            <a:spLocks xmlns:a="http://schemas.openxmlformats.org/drawingml/2006/main" noGrp="1"/>
          </p:cNvSpPr>
          <p:nvPr/>
        </p:nvSpPr>
        <p:spPr>
          <a:xfrm xmlns:a="http://schemas.openxmlformats.org/drawingml/2006/main" flipV="0">
            <a:off x="6001163" y="828881"/>
            <a:ext cx="95250" cy="10"/>
          </a:xfrm>
          <a:prstGeom xmlns:a="http://schemas.openxmlformats.org/drawingml/2006/main" prst="line">
            <a:avLst/>
          </a:prstGeom>
          <a:noFill xmlns:a="http://schemas.openxmlformats.org/drawingml/2006/main"/>
          <a:ln xmlns:a="http://schemas.openxmlformats.org/drawingml/2006/main" w="11430">
            <a:solidFill>
              <a:srgbClr val="16383D"/>
            </a:solidFill>
          </a:ln>
        </p:spPr>
      </p:sp>
      <p:sp>
        <p:nvSpPr>
          <p:cNvPr id="329" name="outer-tick-80000">
            <a:extLst xmlns:a="http://schemas.openxmlformats.org/drawingml/2006/main">
              <a:ext uri="{FF2B5EF4-FFF2-40B4-BE49-F238E27FC236}">
                <a16:creationId xmlns:a16="http://schemas.microsoft.com/office/drawing/2014/main" id="{E85F52F7-4502-4493-9FBB-932CDF50AF9E}"/>
              </a:ext>
            </a:extLst>
          </p:cNvPr>
          <p:cNvSpPr>
            <a:spLocks xmlns:a="http://schemas.openxmlformats.org/drawingml/2006/main" noGrp="1"/>
          </p:cNvSpPr>
          <p:nvPr/>
        </p:nvSpPr>
        <p:spPr>
          <a:xfrm xmlns:a="http://schemas.openxmlformats.org/drawingml/2006/main" rot="0">
            <a:off x="5305838" y="666956"/>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0">
                <a:solidFill>
                  <a:srgbClr val="16383D"/>
                </a:solidFill>
                <a:latin typeface="Arial"/>
                <a:ea typeface="Arial"/>
                <a:cs typeface="Arial"/>
              </a:defRPr>
            </a:pPr>
            <a:r>
              <a:rPr sz="2025" b="0">
                <a:solidFill>
                  <a:srgbClr val="16383D"/>
                </a:solidFill>
                <a:latin typeface="Arial"/>
                <a:ea typeface="Arial"/>
                <a:cs typeface="Arial"/>
              </a:rPr>
              <a:t>80k</a:t>
            </a:r>
          </a:p>
        </p:txBody>
      </p:sp>
      <p:sp>
        <p:nvSpPr>
          <p:cNvPr id="330" name="inner-tick-mark-5000">
            <a:extLst xmlns:a="http://schemas.openxmlformats.org/drawingml/2006/main">
              <a:ext uri="{FF2B5EF4-FFF2-40B4-BE49-F238E27FC236}">
                <a16:creationId xmlns:a16="http://schemas.microsoft.com/office/drawing/2014/main" id="{33672E99-DAF4-46D6-9CFD-4E5F74338E9C}"/>
              </a:ext>
            </a:extLst>
          </p:cNvPr>
          <p:cNvSpPr>
            <a:spLocks xmlns:a="http://schemas.openxmlformats.org/drawingml/2006/main" noGrp="1"/>
          </p:cNvSpPr>
          <p:nvPr/>
        </p:nvSpPr>
        <p:spPr>
          <a:xfrm xmlns:a="http://schemas.openxmlformats.org/drawingml/2006/main" flipV="0">
            <a:off x="6031984" y="4360617"/>
            <a:ext cx="95250" cy="10"/>
          </a:xfrm>
          <a:prstGeom xmlns:a="http://schemas.openxmlformats.org/drawingml/2006/main" prst="line">
            <a:avLst/>
          </a:prstGeom>
          <a:noFill xmlns:a="http://schemas.openxmlformats.org/drawingml/2006/main"/>
          <a:ln xmlns:a="http://schemas.openxmlformats.org/drawingml/2006/main" w="11430">
            <a:solidFill>
              <a:srgbClr val="16383D"/>
            </a:solidFill>
          </a:ln>
        </p:spPr>
      </p:sp>
      <p:sp>
        <p:nvSpPr>
          <p:cNvPr id="331" name="inner-tick-5000">
            <a:extLst xmlns:a="http://schemas.openxmlformats.org/drawingml/2006/main">
              <a:ext uri="{FF2B5EF4-FFF2-40B4-BE49-F238E27FC236}">
                <a16:creationId xmlns:a16="http://schemas.microsoft.com/office/drawing/2014/main" id="{56C4D2EE-D9AE-4F0C-A642-CA0A79933D0F}"/>
              </a:ext>
            </a:extLst>
          </p:cNvPr>
          <p:cNvSpPr>
            <a:spLocks xmlns:a="http://schemas.openxmlformats.org/drawingml/2006/main" noGrp="1"/>
          </p:cNvSpPr>
          <p:nvPr/>
        </p:nvSpPr>
        <p:spPr>
          <a:xfrm xmlns:a="http://schemas.openxmlformats.org/drawingml/2006/main" rot="0">
            <a:off x="5336659" y="4198692"/>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0">
                <a:solidFill>
                  <a:srgbClr val="16383D"/>
                </a:solidFill>
                <a:latin typeface="Arial"/>
                <a:ea typeface="Arial"/>
                <a:cs typeface="Arial"/>
              </a:defRPr>
            </a:pPr>
            <a:r>
              <a:rPr sz="2025" b="0">
                <a:solidFill>
                  <a:srgbClr val="16383D"/>
                </a:solidFill>
                <a:latin typeface="Arial"/>
                <a:ea typeface="Arial"/>
                <a:cs typeface="Arial"/>
              </a:rPr>
              <a:t>5k</a:t>
            </a:r>
          </a:p>
        </p:txBody>
      </p:sp>
      <p:sp>
        <p:nvSpPr>
          <p:cNvPr id="332" name="inner-tick-mark-10000">
            <a:extLst xmlns:a="http://schemas.openxmlformats.org/drawingml/2006/main">
              <a:ext uri="{FF2B5EF4-FFF2-40B4-BE49-F238E27FC236}">
                <a16:creationId xmlns:a16="http://schemas.microsoft.com/office/drawing/2014/main" id="{A627FA4E-FDA6-40C4-B428-8CE29F5E8A45}"/>
              </a:ext>
            </a:extLst>
          </p:cNvPr>
          <p:cNvSpPr>
            <a:spLocks xmlns:a="http://schemas.openxmlformats.org/drawingml/2006/main" noGrp="1"/>
          </p:cNvSpPr>
          <p:nvPr/>
        </p:nvSpPr>
        <p:spPr>
          <a:xfrm xmlns:a="http://schemas.openxmlformats.org/drawingml/2006/main" flipV="0">
            <a:off x="6034834" y="4687282"/>
            <a:ext cx="95250" cy="10"/>
          </a:xfrm>
          <a:prstGeom xmlns:a="http://schemas.openxmlformats.org/drawingml/2006/main" prst="line">
            <a:avLst/>
          </a:prstGeom>
          <a:noFill xmlns:a="http://schemas.openxmlformats.org/drawingml/2006/main"/>
          <a:ln xmlns:a="http://schemas.openxmlformats.org/drawingml/2006/main" w="11430">
            <a:solidFill>
              <a:srgbClr val="16383D"/>
            </a:solidFill>
          </a:ln>
        </p:spPr>
      </p:sp>
      <p:sp>
        <p:nvSpPr>
          <p:cNvPr id="333" name="inner-tick-10000">
            <a:extLst xmlns:a="http://schemas.openxmlformats.org/drawingml/2006/main">
              <a:ext uri="{FF2B5EF4-FFF2-40B4-BE49-F238E27FC236}">
                <a16:creationId xmlns:a16="http://schemas.microsoft.com/office/drawing/2014/main" id="{B7E6B937-4987-4DAC-BE38-D7E2C921C1D5}"/>
              </a:ext>
            </a:extLst>
          </p:cNvPr>
          <p:cNvSpPr>
            <a:spLocks xmlns:a="http://schemas.openxmlformats.org/drawingml/2006/main" noGrp="1"/>
          </p:cNvSpPr>
          <p:nvPr/>
        </p:nvSpPr>
        <p:spPr>
          <a:xfrm xmlns:a="http://schemas.openxmlformats.org/drawingml/2006/main" rot="0">
            <a:off x="5339509" y="4525357"/>
            <a:ext cx="590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025" b="0">
                <a:solidFill>
                  <a:srgbClr val="16383D"/>
                </a:solidFill>
                <a:latin typeface="Arial"/>
                <a:ea typeface="Arial"/>
                <a:cs typeface="Arial"/>
              </a:defRPr>
            </a:pPr>
            <a:r>
              <a:rPr sz="2025" b="0">
                <a:solidFill>
                  <a:srgbClr val="16383D"/>
                </a:solidFill>
                <a:latin typeface="Arial"/>
                <a:ea typeface="Arial"/>
                <a:cs typeface="Arial"/>
              </a:rPr>
              <a:t>10k</a:t>
            </a:r>
          </a:p>
        </p:txBody>
      </p:sp>
      <p:sp>
        <p:nvSpPr>
          <p:cNvPr id="334" name="scale-label">
            <a:extLst xmlns:a="http://schemas.openxmlformats.org/drawingml/2006/main">
              <a:ext uri="{FF2B5EF4-FFF2-40B4-BE49-F238E27FC236}">
                <a16:creationId xmlns:a16="http://schemas.microsoft.com/office/drawing/2014/main" id="{EBE3D794-1490-466A-9516-785DE1F997AD}"/>
              </a:ext>
            </a:extLst>
          </p:cNvPr>
          <p:cNvSpPr>
            <a:spLocks xmlns:a="http://schemas.openxmlformats.org/drawingml/2006/main" noGrp="1"/>
          </p:cNvSpPr>
          <p:nvPr/>
        </p:nvSpPr>
        <p:spPr>
          <a:xfrm xmlns:a="http://schemas.openxmlformats.org/drawingml/2006/main" rot="0">
            <a:off x="5591175" y="762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16383D"/>
                </a:solidFill>
                <a:latin typeface="Arial"/>
                <a:ea typeface="Arial"/>
                <a:cs typeface="Arial"/>
              </a:defRPr>
            </a:pPr>
            <a:r>
              <a:rPr sz="2100" b="1">
                <a:solidFill>
                  <a:srgbClr val="16383D"/>
                </a:solidFill>
                <a:latin typeface="Arial"/>
                <a:ea typeface="Arial"/>
                <a:cs typeface="Arial"/>
              </a:rPr>
              <a:t>LOC</a:t>
            </a:r>
          </a:p>
        </p:txBody>
      </p:sp>
      <p:sp>
        <p:nvSpPr>
          <p:cNvPr id="335" name="scale-transform">
            <a:extLst xmlns:a="http://schemas.openxmlformats.org/drawingml/2006/main">
              <a:ext uri="{FF2B5EF4-FFF2-40B4-BE49-F238E27FC236}">
                <a16:creationId xmlns:a16="http://schemas.microsoft.com/office/drawing/2014/main" id="{6201D4CE-6498-48E5-867F-199859DA48E9}"/>
              </a:ext>
            </a:extLst>
          </p:cNvPr>
          <p:cNvSpPr>
            <a:spLocks xmlns:a="http://schemas.openxmlformats.org/drawingml/2006/main" noGrp="1"/>
          </p:cNvSpPr>
          <p:nvPr/>
        </p:nvSpPr>
        <p:spPr>
          <a:xfrm xmlns:a="http://schemas.openxmlformats.org/drawingml/2006/main" rot="0">
            <a:off x="4972050" y="40005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6383D"/>
                </a:solidFill>
                <a:latin typeface="Arial"/>
                <a:ea typeface="Arial"/>
                <a:cs typeface="Arial"/>
              </a:defRPr>
            </a:pPr>
            <a:r>
              <a:rPr sz="1575" b="0">
                <a:solidFill>
                  <a:srgbClr val="16383D"/>
                </a:solidFill>
                <a:latin typeface="Arial"/>
                <a:ea typeface="Arial"/>
                <a:cs typeface="Arial"/>
              </a:rPr>
              <a:t>square-root scale</a:t>
            </a:r>
          </a:p>
        </p:txBody>
      </p:sp>
      <p:sp>
        <p:nvSpPr>
          <p:cNvPr id="336" name="legend-outer">
            <a:extLst xmlns:a="http://schemas.openxmlformats.org/drawingml/2006/main">
              <a:ext uri="{FF2B5EF4-FFF2-40B4-BE49-F238E27FC236}">
                <a16:creationId xmlns:a16="http://schemas.microsoft.com/office/drawing/2014/main" id="{AA8FE612-68C5-41FE-9DFF-9CC780B6B1F4}"/>
              </a:ext>
            </a:extLst>
          </p:cNvPr>
          <p:cNvSpPr>
            <a:spLocks xmlns:a="http://schemas.openxmlformats.org/drawingml/2006/main" noGrp="1"/>
          </p:cNvSpPr>
          <p:nvPr/>
        </p:nvSpPr>
        <p:spPr>
          <a:xfrm xmlns:a="http://schemas.openxmlformats.org/drawingml/2006/main">
            <a:off x="8905875" y="619125"/>
            <a:ext cx="285750" cy="152400"/>
          </a:xfrm>
          <a:prstGeom xmlns:a="http://schemas.openxmlformats.org/drawingml/2006/main" prst="rect">
            <a:avLst/>
          </a:prstGeom>
          <a:gradFill xmlns:a="http://schemas.openxmlformats.org/drawingml/2006/main">
            <a:gsLst>
              <a:gs pos="0">
                <a:srgbClr val="096B6E"/>
              </a:gs>
              <a:gs pos="100000">
                <a:srgbClr val="19999B"/>
              </a:gs>
            </a:gsLst>
            <a:lin ang="0"/>
          </a:gradFill>
          <a:ln xmlns:a="http://schemas.openxmlformats.org/drawingml/2006/main" w="0">
            <a:noFill/>
          </a:ln>
        </p:spPr>
      </p:sp>
      <p:sp>
        <p:nvSpPr>
          <p:cNvPr id="337" name="legend-outer-text">
            <a:extLst xmlns:a="http://schemas.openxmlformats.org/drawingml/2006/main">
              <a:ext uri="{FF2B5EF4-FFF2-40B4-BE49-F238E27FC236}">
                <a16:creationId xmlns:a16="http://schemas.microsoft.com/office/drawing/2014/main" id="{21DBCD5A-D14F-4DD9-BA97-34A96A2152FC}"/>
              </a:ext>
            </a:extLst>
          </p:cNvPr>
          <p:cNvSpPr>
            <a:spLocks xmlns:a="http://schemas.openxmlformats.org/drawingml/2006/main" noGrp="1"/>
          </p:cNvSpPr>
          <p:nvPr/>
        </p:nvSpPr>
        <p:spPr>
          <a:xfrm xmlns:a="http://schemas.openxmlformats.org/drawingml/2006/main" rot="0">
            <a:off x="9305925" y="50482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6383D"/>
                </a:solidFill>
                <a:latin typeface="Arial"/>
                <a:ea typeface="Arial"/>
                <a:cs typeface="Arial"/>
              </a:defRPr>
            </a:pPr>
            <a:r>
              <a:rPr sz="2250" b="0">
                <a:solidFill>
                  <a:srgbClr val="16383D"/>
                </a:solidFill>
                <a:latin typeface="Arial"/>
                <a:ea typeface="Arial"/>
                <a:cs typeface="Arial"/>
              </a:rPr>
              <a:t>Lean code</a:t>
            </a:r>
          </a:p>
        </p:txBody>
      </p:sp>
      <p:sp>
        <p:nvSpPr>
          <p:cNvPr id="338" name="legend-inner">
            <a:extLst xmlns:a="http://schemas.openxmlformats.org/drawingml/2006/main">
              <a:ext uri="{FF2B5EF4-FFF2-40B4-BE49-F238E27FC236}">
                <a16:creationId xmlns:a16="http://schemas.microsoft.com/office/drawing/2014/main" id="{E539A2BD-C09B-47CB-A625-9CDACDA269E9}"/>
              </a:ext>
            </a:extLst>
          </p:cNvPr>
          <p:cNvSpPr>
            <a:spLocks xmlns:a="http://schemas.openxmlformats.org/drawingml/2006/main" noGrp="1"/>
          </p:cNvSpPr>
          <p:nvPr/>
        </p:nvSpPr>
        <p:spPr>
          <a:xfrm xmlns:a="http://schemas.openxmlformats.org/drawingml/2006/main">
            <a:off x="8905875" y="1009650"/>
            <a:ext cx="285750" cy="152400"/>
          </a:xfrm>
          <a:prstGeom xmlns:a="http://schemas.openxmlformats.org/drawingml/2006/main" prst="rect">
            <a:avLst/>
          </a:prstGeom>
          <a:gradFill xmlns:a="http://schemas.openxmlformats.org/drawingml/2006/main">
            <a:gsLst>
              <a:gs pos="0">
                <a:srgbClr val="91C3C3"/>
              </a:gs>
              <a:gs pos="100000">
                <a:srgbClr val="57A2A3"/>
              </a:gs>
            </a:gsLst>
            <a:lin ang="0"/>
          </a:gradFill>
          <a:ln xmlns:a="http://schemas.openxmlformats.org/drawingml/2006/main" w="0">
            <a:noFill/>
          </a:ln>
        </p:spPr>
      </p:sp>
      <p:sp>
        <p:nvSpPr>
          <p:cNvPr id="339" name="legend-inner-text">
            <a:extLst xmlns:a="http://schemas.openxmlformats.org/drawingml/2006/main">
              <a:ext uri="{FF2B5EF4-FFF2-40B4-BE49-F238E27FC236}">
                <a16:creationId xmlns:a16="http://schemas.microsoft.com/office/drawing/2014/main" id="{06FDD25B-CB5B-426A-B7D0-5346A9159883}"/>
              </a:ext>
            </a:extLst>
          </p:cNvPr>
          <p:cNvSpPr>
            <a:spLocks xmlns:a="http://schemas.openxmlformats.org/drawingml/2006/main" noGrp="1"/>
          </p:cNvSpPr>
          <p:nvPr/>
        </p:nvSpPr>
        <p:spPr>
          <a:xfrm xmlns:a="http://schemas.openxmlformats.org/drawingml/2006/main" rot="0">
            <a:off x="9305925" y="8953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6383D"/>
                </a:solidFill>
                <a:latin typeface="Arial"/>
                <a:ea typeface="Arial"/>
                <a:cs typeface="Arial"/>
              </a:defRPr>
            </a:pPr>
            <a:r>
              <a:rPr sz="2250" b="0">
                <a:solidFill>
                  <a:srgbClr val="16383D"/>
                </a:solidFill>
                <a:latin typeface="Arial"/>
                <a:ea typeface="Arial"/>
                <a:cs typeface="Arial"/>
              </a:rPr>
              <a:t>SOptLib reuse</a:t>
            </a:r>
          </a:p>
        </p:txBody>
      </p:sp>
      <p:sp>
        <p:nvSpPr>
          <p:cNvPr id="340" name="SOptLib-wordmark">
            <a:extLst xmlns:a="http://schemas.openxmlformats.org/drawingml/2006/main">
              <a:ext uri="{FF2B5EF4-FFF2-40B4-BE49-F238E27FC236}">
                <a16:creationId xmlns:a16="http://schemas.microsoft.com/office/drawing/2014/main" id="{E5CE49BA-65CA-4745-8914-3BC3E92EED26}"/>
              </a:ext>
            </a:extLst>
          </p:cNvPr>
          <p:cNvSpPr>
            <a:spLocks xmlns:a="http://schemas.openxmlformats.org/drawingml/2006/main" noGrp="1"/>
          </p:cNvSpPr>
          <p:nvPr/>
        </p:nvSpPr>
        <p:spPr>
          <a:xfrm xmlns:a="http://schemas.openxmlformats.org/drawingml/2006/main" rot="0">
            <a:off x="4552950" y="5657850"/>
            <a:ext cx="30861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5100" b="1" i="1">
                <a:solidFill>
                  <a:srgbClr val="136D80"/>
                </a:solidFill>
                <a:latin typeface="Georgia"/>
                <a:ea typeface="Georgia"/>
                <a:cs typeface="Georgia"/>
              </a:defRPr>
            </a:pPr>
            <a:r>
              <a:rPr sz="5100" b="1" i="1">
                <a:solidFill>
                  <a:srgbClr val="087E7B"/>
                </a:solidFill>
                <a:latin typeface="Georgia"/>
                <a:ea typeface="Georgia"/>
                <a:cs typeface="Georgia"/>
              </a:rPr>
              <a:t>S</a:t>
            </a:r>
            <a:r>
              <a:rPr sz="5100" b="1" i="1">
                <a:solidFill>
                  <a:srgbClr val="0C7D83"/>
                </a:solidFill>
                <a:latin typeface="Georgia"/>
                <a:ea typeface="Georgia"/>
                <a:cs typeface="Georgia"/>
              </a:rPr>
              <a:t>O</a:t>
            </a:r>
            <a:r>
              <a:rPr sz="5100" b="1" i="1">
                <a:solidFill>
                  <a:srgbClr val="177B8A"/>
                </a:solidFill>
                <a:latin typeface="Georgia"/>
                <a:ea typeface="Georgia"/>
                <a:cs typeface="Georgia"/>
              </a:rPr>
              <a:t>p</a:t>
            </a:r>
            <a:r>
              <a:rPr sz="5100" b="1" i="1">
                <a:solidFill>
                  <a:srgbClr val="247391"/>
                </a:solidFill>
                <a:latin typeface="Georgia"/>
                <a:ea typeface="Georgia"/>
                <a:cs typeface="Georgia"/>
              </a:rPr>
              <a:t>t</a:t>
            </a:r>
            <a:r>
              <a:rPr sz="5100" b="1" i="1">
                <a:solidFill>
                  <a:srgbClr val="306597"/>
                </a:solidFill>
                <a:latin typeface="Georgia"/>
                <a:ea typeface="Georgia"/>
                <a:cs typeface="Georgia"/>
              </a:rPr>
              <a:t>L</a:t>
            </a:r>
            <a:r>
              <a:rPr sz="5100" b="1" i="1">
                <a:solidFill>
                  <a:srgbClr val="3B539B"/>
                </a:solidFill>
                <a:latin typeface="Georgia"/>
                <a:ea typeface="Georgia"/>
                <a:cs typeface="Georgia"/>
              </a:rPr>
              <a:t>i</a:t>
            </a:r>
            <a:r>
              <a:rPr sz="5100" b="1" i="1">
                <a:solidFill>
                  <a:srgbClr val="424397"/>
                </a:solidFill>
                <a:latin typeface="Georgia"/>
                <a:ea typeface="Georgia"/>
                <a:cs typeface="Georgia"/>
              </a:rPr>
              <a:t>b</a:t>
            </a:r>
          </a:p>
        </p:txBody>
      </p:sp>
    </p:spTree>
    <p:extLst>
      <p:ext uri="{BB962C8B-B14F-4D97-AF65-F5344CB8AC3E}">
        <p14:creationId xmlns:p14="http://schemas.microsoft.com/office/powerpoint/2010/main" val="460598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2026-09-28T09:48:10.2590000Z</dcterms:created>
  <dcterms:modified xsi:type="dcterms:W3CDTF">2026-09-28T09:48:10.2590000Z</dcterms:modified>
</coreProperties>
</file>